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72" r:id="rId13"/>
    <p:sldId id="271" r:id="rId14"/>
    <p:sldId id="267" r:id="rId15"/>
    <p:sldId id="273" r:id="rId16"/>
    <p:sldId id="274" r:id="rId17"/>
    <p:sldId id="275" r:id="rId18"/>
    <p:sldId id="268" r:id="rId19"/>
    <p:sldId id="269" r:id="rId20"/>
    <p:sldId id="270"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1" dt="2026-08-30T04:45:36.367"/>
    <p1510:client id="{137922B7-BB00-8600-6C7C-984F1FD823D2}" v="203" dt="2026-08-30T15:37:11.840"/>
    <p1510:client id="{4A48A671-80D8-C50A-85B7-F92CC29D1956}" v="285" dt="2026-08-30T04:38:26.3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0019B4F7-FF85-4C9A-BD9D-5A99152FAFCB}" type="datetimeFigureOut">
              <a:t>8/30/2026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11546C13-CA7C-4AC5-9949-AE92930A690D}" type="slidenum">
              <a:t>‹#›</a:t>
            </a:fld>
            <a:endParaRPr lang="en-US"/>
          </a:p>
        </p:txBody>
      </p:sp>
    </p:spTree>
    <p:extLst>
      <p:ext uri="{BB962C8B-B14F-4D97-AF65-F5344CB8AC3E}">
        <p14:creationId xmlns:p14="http://schemas.microsoft.com/office/powerpoint/2010/main" val="2767574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project name and the one-line pitch: AdaptED is a multi-agent AI education platform. It has two sides — adaptive learning for students, and an OBE course-outline validator for faculty. Fill in your team names and date.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flow of the talk in ~10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Frame the two real problems. The OBE one is the part we contributed most 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objectives. Note objective 3 is our main contribution.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four pillars. Emphasize 'agentic' = separation of concerns, each agent testable and observable.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top to bottom: UI to API to Supervisor/LangGraph to agents to knowledge+memory to PostgreSQL. A message bus and observability tables record every step.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Nine agents total (Supervisor coordinates). Agents never call each other directly — the Supervisor routes work over a persisted message bus. Highlight the two OBE agents as our contribution.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closed loop is what makes the system adaptive rather than a static content generator. Retries + savepoints keep partial progress safe on failure.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our focus. Two agents: one analyzes/validates, one generates/fixes. Give the concrete defect example — examiners like a real finding. Checks are deterministic so verdicts are reproducible and testable; the LLM is optional.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Everything is observable and controllable. Human-in-the-loop: approval gate + pause/cancel/retry. Token &amp; cost tracking per run.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Group answer: Multi-agent AI + RAG + shared memory + PostgreSQL/pgvector + structured logging. LangGraph for orchestration; mock provider makes it fully offline-testable.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5554A-BB39-02A3-C49A-A4598D336A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7F3C8-958F-CC71-02F4-A0520D02CB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D0BB25-B532-5E92-A217-371E1FDADEF1}"/>
              </a:ext>
            </a:extLst>
          </p:cNvPr>
          <p:cNvSpPr>
            <a:spLocks noGrp="1"/>
          </p:cNvSpPr>
          <p:nvPr>
            <p:ph type="body" idx="1"/>
          </p:nvPr>
        </p:nvSpPr>
        <p:spPr/>
        <p:txBody>
          <a:bodyPr/>
          <a:lstStyle/>
          <a:p>
            <a:r>
              <a:rPr lang="en-US"/>
              <a:t>Replace each framed area with a real screenshot: registration, document upload &amp; analyze, OBE Mapping results, and the Agent Console. During the demo, show the live app for these.</a:t>
            </a:r>
          </a:p>
        </p:txBody>
      </p:sp>
      <p:sp>
        <p:nvSpPr>
          <p:cNvPr id="4" name="Slide Number Placeholder 3">
            <a:extLst>
              <a:ext uri="{FF2B5EF4-FFF2-40B4-BE49-F238E27FC236}">
                <a16:creationId xmlns:a16="http://schemas.microsoft.com/office/drawing/2014/main" id="{879944C4-7FC4-36E2-1995-2676F0680B09}"/>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854380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23D91-135D-923C-C976-89000E7F31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560DB0-0142-4EEE-6AED-4119098EDD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40833A-7FF1-CEDC-E3D2-67AADB9D6C79}"/>
              </a:ext>
            </a:extLst>
          </p:cNvPr>
          <p:cNvSpPr>
            <a:spLocks noGrp="1"/>
          </p:cNvSpPr>
          <p:nvPr>
            <p:ph type="body" idx="1"/>
          </p:nvPr>
        </p:nvSpPr>
        <p:spPr/>
        <p:txBody>
          <a:bodyPr/>
          <a:lstStyle/>
          <a:p>
            <a:r>
              <a:rPr lang="en-US"/>
              <a:t>Replace each framed area with a real screenshot: registration, document upload &amp; analyze, OBE Mapping results, and the Agent Console. During the demo, show the live app for these.</a:t>
            </a:r>
          </a:p>
        </p:txBody>
      </p:sp>
      <p:sp>
        <p:nvSpPr>
          <p:cNvPr id="4" name="Slide Number Placeholder 3">
            <a:extLst>
              <a:ext uri="{FF2B5EF4-FFF2-40B4-BE49-F238E27FC236}">
                <a16:creationId xmlns:a16="http://schemas.microsoft.com/office/drawing/2014/main" id="{7F0FF8AA-FB88-5F52-2B1A-D9550C518944}"/>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833548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Replace each framed area with a real screenshot: registration, document upload &amp; analyze, OBE Mapping results, and the Agent Console. During the demo, show the live app for these.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DA505-8C72-FFEB-0F6F-6911E9C3B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4C10D-8B48-7645-50F5-0A0DC58AB9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434285-5C62-26E2-96A9-7DEA13FFE319}"/>
              </a:ext>
            </a:extLst>
          </p:cNvPr>
          <p:cNvSpPr>
            <a:spLocks noGrp="1"/>
          </p:cNvSpPr>
          <p:nvPr>
            <p:ph type="body" idx="1"/>
          </p:nvPr>
        </p:nvSpPr>
        <p:spPr/>
        <p:txBody>
          <a:bodyPr/>
          <a:lstStyle/>
          <a:p>
            <a:r>
              <a:rPr lang="en-US"/>
              <a:t>Replace each framed area with a real screenshot: registration, document upload &amp; analyze, OBE Mapping results, and the Agent Console. During the demo, show the live app for these.</a:t>
            </a:r>
          </a:p>
        </p:txBody>
      </p:sp>
      <p:sp>
        <p:nvSpPr>
          <p:cNvPr id="4" name="Slide Number Placeholder 3">
            <a:extLst>
              <a:ext uri="{FF2B5EF4-FFF2-40B4-BE49-F238E27FC236}">
                <a16:creationId xmlns:a16="http://schemas.microsoft.com/office/drawing/2014/main" id="{BD14A933-C6AD-B372-80C1-18C915687CF8}"/>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130669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24169-5D44-8C1B-1AC5-5CE8344D7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F269FF-4F9B-F699-A73B-5295BFC22C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1B99AC-0D54-8F55-F4BC-B1CF50F599A5}"/>
              </a:ext>
            </a:extLst>
          </p:cNvPr>
          <p:cNvSpPr>
            <a:spLocks noGrp="1"/>
          </p:cNvSpPr>
          <p:nvPr>
            <p:ph type="body" idx="1"/>
          </p:nvPr>
        </p:nvSpPr>
        <p:spPr/>
        <p:txBody>
          <a:bodyPr/>
          <a:lstStyle/>
          <a:p>
            <a:r>
              <a:rPr lang="en-US"/>
              <a:t>Replace each framed area with a real screenshot: registration, document upload &amp; analyze, OBE Mapping results, and the Agent Console. During the demo, show the live app for these.</a:t>
            </a:r>
          </a:p>
        </p:txBody>
      </p:sp>
      <p:sp>
        <p:nvSpPr>
          <p:cNvPr id="4" name="Slide Number Placeholder 3">
            <a:extLst>
              <a:ext uri="{FF2B5EF4-FFF2-40B4-BE49-F238E27FC236}">
                <a16:creationId xmlns:a16="http://schemas.microsoft.com/office/drawing/2014/main" id="{9580BEC2-2C59-4152-79D8-0E6474450AC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752543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09649-0634-7386-83DA-B03A9F3F00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D1F847-5E9B-9C0C-7800-412B328D9A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EB575-6827-FBE3-5E7A-794DD7A73FB6}"/>
              </a:ext>
            </a:extLst>
          </p:cNvPr>
          <p:cNvSpPr>
            <a:spLocks noGrp="1"/>
          </p:cNvSpPr>
          <p:nvPr>
            <p:ph type="body" idx="1"/>
          </p:nvPr>
        </p:nvSpPr>
        <p:spPr/>
        <p:txBody>
          <a:bodyPr/>
          <a:lstStyle/>
          <a:p>
            <a:r>
              <a:rPr lang="en-US"/>
              <a:t>Replace each framed area with a real screenshot: registration, document upload &amp; analyze, OBE Mapping results, and the Agent Console. During the demo, show the live app for these.</a:t>
            </a:r>
          </a:p>
        </p:txBody>
      </p:sp>
      <p:sp>
        <p:nvSpPr>
          <p:cNvPr id="4" name="Slide Number Placeholder 3">
            <a:extLst>
              <a:ext uri="{FF2B5EF4-FFF2-40B4-BE49-F238E27FC236}">
                <a16:creationId xmlns:a16="http://schemas.microsoft.com/office/drawing/2014/main" id="{131C6FF3-1E19-6991-23BE-4E3ABB94F7EB}"/>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8748200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Lead with the numbers. Then reliability: retries + savepoints, observability, security, offline testing. Good answer to 'how did you test it with an LLM and a DB'.</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 honest about limitations — examiners respect it. Each future item is a concrete next step.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with the one-sentence pitch, then invite questions. Have the Viva Guide's Q&amp;A ready.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A4F"/>
        </a:solidFill>
        <a:effectLst/>
      </p:bgPr>
    </p:bg>
    <p:spTree>
      <p:nvGrpSpPr>
        <p:cNvPr id="1" name=""/>
        <p:cNvGrpSpPr/>
        <p:nvPr/>
      </p:nvGrpSpPr>
      <p:grpSpPr>
        <a:xfrm>
          <a:off x="0" y="0"/>
          <a:ext cx="0" cy="0"/>
          <a:chOff x="0" y="0"/>
          <a:chExt cx="0" cy="0"/>
        </a:xfrm>
      </p:grpSpPr>
      <p:sp>
        <p:nvSpPr>
          <p:cNvPr id="2" name="Shape 0"/>
          <p:cNvSpPr/>
          <p:nvPr/>
        </p:nvSpPr>
        <p:spPr>
          <a:xfrm>
            <a:off x="10698480" y="-914400"/>
            <a:ext cx="2926080" cy="2926080"/>
          </a:xfrm>
          <a:prstGeom prst="ellipse">
            <a:avLst/>
          </a:prstGeom>
          <a:solidFill>
            <a:srgbClr val="1C7293">
              <a:alpha val="22000"/>
            </a:srgbClr>
          </a:solidFill>
          <a:ln/>
        </p:spPr>
      </p:sp>
      <p:sp>
        <p:nvSpPr>
          <p:cNvPr id="3" name="Shape 1"/>
          <p:cNvSpPr/>
          <p:nvPr/>
        </p:nvSpPr>
        <p:spPr>
          <a:xfrm>
            <a:off x="11521440" y="4846320"/>
            <a:ext cx="2377440" cy="2377440"/>
          </a:xfrm>
          <a:prstGeom prst="ellipse">
            <a:avLst/>
          </a:prstGeom>
          <a:solidFill>
            <a:srgbClr val="E9A23B">
              <a:alpha val="18000"/>
            </a:srgbClr>
          </a:solidFill>
          <a:ln/>
        </p:spPr>
      </p:sp>
      <p:sp>
        <p:nvSpPr>
          <p:cNvPr id="4" name="Text 2"/>
          <p:cNvSpPr txBox="1"/>
          <p:nvPr/>
        </p:nvSpPr>
        <p:spPr>
          <a:xfrm>
            <a:off x="548640" y="1234440"/>
            <a:ext cx="7315200" cy="274320"/>
          </a:xfrm>
          <a:prstGeom prst="rect">
            <a:avLst/>
          </a:prstGeom>
          <a:noFill/>
          <a:ln/>
        </p:spPr>
        <p:txBody>
          <a:bodyPr wrap="square" lIns="0" tIns="0" rIns="0" bIns="0" rtlCol="0" anchor="ctr"/>
          <a:lstStyle/>
          <a:p>
            <a:pPr marL="0" indent="0" algn="l">
              <a:buNone/>
            </a:pPr>
            <a:r>
              <a:rPr lang="en-US" sz="1200" b="1" kern="0" spc="300">
                <a:solidFill>
                  <a:srgbClr val="E9A23B"/>
                </a:solidFill>
                <a:latin typeface="Calibri" pitchFamily="34" charset="0"/>
                <a:ea typeface="Calibri" pitchFamily="34" charset="-122"/>
                <a:cs typeface="Calibri" pitchFamily="34" charset="-120"/>
              </a:rPr>
              <a:t>CSE PROJECT  ·  AGENTIC AI</a:t>
            </a:r>
            <a:endParaRPr lang="en-US" sz="1200"/>
          </a:p>
        </p:txBody>
      </p:sp>
      <p:sp>
        <p:nvSpPr>
          <p:cNvPr id="5" name="Text 3"/>
          <p:cNvSpPr txBox="1"/>
          <p:nvPr/>
        </p:nvSpPr>
        <p:spPr>
          <a:xfrm>
            <a:off x="548640" y="1554480"/>
            <a:ext cx="10058400" cy="1188720"/>
          </a:xfrm>
          <a:prstGeom prst="rect">
            <a:avLst/>
          </a:prstGeom>
          <a:noFill/>
          <a:ln/>
        </p:spPr>
        <p:txBody>
          <a:bodyPr wrap="square" lIns="0" tIns="0" rIns="0" bIns="0" rtlCol="0" anchor="ctr"/>
          <a:lstStyle/>
          <a:p>
            <a:pPr marL="0" indent="0">
              <a:buNone/>
            </a:pPr>
            <a:r>
              <a:rPr lang="en-US" sz="6000" b="1">
                <a:solidFill>
                  <a:srgbClr val="FFFFFF"/>
                </a:solidFill>
                <a:latin typeface="Cambria" pitchFamily="34" charset="0"/>
                <a:ea typeface="Cambria" pitchFamily="34" charset="-122"/>
                <a:cs typeface="Cambria" pitchFamily="34" charset="-120"/>
              </a:rPr>
              <a:t>AdaptED</a:t>
            </a:r>
            <a:endParaRPr lang="en-US" sz="6000"/>
          </a:p>
        </p:txBody>
      </p:sp>
      <p:sp>
        <p:nvSpPr>
          <p:cNvPr id="6" name="Text 4"/>
          <p:cNvSpPr txBox="1"/>
          <p:nvPr/>
        </p:nvSpPr>
        <p:spPr>
          <a:xfrm>
            <a:off x="548640" y="2788920"/>
            <a:ext cx="10515600" cy="640080"/>
          </a:xfrm>
          <a:prstGeom prst="rect">
            <a:avLst/>
          </a:prstGeom>
          <a:noFill/>
          <a:ln/>
        </p:spPr>
        <p:txBody>
          <a:bodyPr wrap="square" lIns="0" tIns="0" rIns="0" bIns="0" rtlCol="0" anchor="ctr"/>
          <a:lstStyle/>
          <a:p>
            <a:pPr marL="0" indent="0">
              <a:buNone/>
            </a:pPr>
            <a:r>
              <a:rPr lang="en-US" sz="2400">
                <a:solidFill>
                  <a:srgbClr val="2BB3A3"/>
                </a:solidFill>
                <a:latin typeface="Cambria" pitchFamily="34" charset="0"/>
                <a:ea typeface="Cambria" pitchFamily="34" charset="-122"/>
                <a:cs typeface="Cambria" pitchFamily="34" charset="-120"/>
              </a:rPr>
              <a:t>An Intelligent Multi-Agent Adaptive Education Assistant</a:t>
            </a:r>
            <a:endParaRPr lang="en-US" sz="2400"/>
          </a:p>
        </p:txBody>
      </p:sp>
      <p:sp>
        <p:nvSpPr>
          <p:cNvPr id="7" name="Text 5"/>
          <p:cNvSpPr txBox="1"/>
          <p:nvPr/>
        </p:nvSpPr>
        <p:spPr>
          <a:xfrm>
            <a:off x="548640" y="3520440"/>
            <a:ext cx="9875520" cy="914400"/>
          </a:xfrm>
          <a:prstGeom prst="rect">
            <a:avLst/>
          </a:prstGeom>
          <a:noFill/>
          <a:ln/>
        </p:spPr>
        <p:txBody>
          <a:bodyPr wrap="square" lIns="0" tIns="0" rIns="0" bIns="0" rtlCol="0" anchor="ctr">
            <a:normAutofit/>
          </a:bodyPr>
          <a:lstStyle/>
          <a:p>
            <a:pPr marL="0" indent="0">
              <a:buNone/>
            </a:pPr>
            <a:r>
              <a:rPr lang="en-US" sz="1500">
                <a:solidFill>
                  <a:srgbClr val="CFE0E6"/>
                </a:solidFill>
                <a:latin typeface="Calibri" pitchFamily="34" charset="0"/>
                <a:ea typeface="Calibri" pitchFamily="34" charset="-122"/>
                <a:cs typeface="Calibri" pitchFamily="34" charset="-120"/>
              </a:rPr>
              <a:t>A supervisor-orchestrated system of cooperating AI agents — RAG, a persistent student memory, and an OBE course-outline validator — that personalizes learning and supports outcome-based education.</a:t>
            </a:r>
            <a:endParaRPr lang="en-US" sz="1500"/>
          </a:p>
        </p:txBody>
      </p:sp>
      <p:sp>
        <p:nvSpPr>
          <p:cNvPr id="8" name="Text 6"/>
          <p:cNvSpPr txBox="1"/>
          <p:nvPr/>
        </p:nvSpPr>
        <p:spPr>
          <a:xfrm>
            <a:off x="548640" y="4486311"/>
            <a:ext cx="7315200" cy="365760"/>
          </a:xfrm>
          <a:prstGeom prst="rect">
            <a:avLst/>
          </a:prstGeom>
          <a:noFill/>
          <a:ln/>
        </p:spPr>
        <p:txBody>
          <a:bodyPr wrap="square" lIns="0" tIns="0" rIns="0" bIns="0" rtlCol="0" anchor="ctr"/>
          <a:lstStyle/>
          <a:p>
            <a:r>
              <a:rPr lang="en-US" sz="1300" b="1">
                <a:solidFill>
                  <a:srgbClr val="FFFFFF"/>
                </a:solidFill>
                <a:latin typeface="Calibri"/>
                <a:ea typeface="Calibri"/>
                <a:cs typeface="Calibri"/>
              </a:rPr>
              <a:t>Presented to: </a:t>
            </a:r>
            <a:r>
              <a:rPr lang="en-US" b="1">
                <a:solidFill>
                  <a:schemeClr val="bg1"/>
                </a:solidFill>
              </a:rPr>
              <a:t>Dr. Md. Iftekharul Mobin</a:t>
            </a:r>
            <a:endParaRPr lang="en-US">
              <a:solidFill>
                <a:schemeClr val="bg1"/>
              </a:solidFill>
            </a:endParaRPr>
          </a:p>
          <a:p>
            <a:pPr marL="0" indent="0">
              <a:buNone/>
            </a:pPr>
            <a:endParaRPr lang="en-US" sz="1300" b="1">
              <a:solidFill>
                <a:srgbClr val="FFFFFF"/>
              </a:solidFill>
              <a:ea typeface="Calibri"/>
              <a:cs typeface="Calibri"/>
            </a:endParaRPr>
          </a:p>
        </p:txBody>
      </p:sp>
      <p:sp>
        <p:nvSpPr>
          <p:cNvPr id="9" name="Text 7"/>
          <p:cNvSpPr txBox="1"/>
          <p:nvPr/>
        </p:nvSpPr>
        <p:spPr>
          <a:xfrm>
            <a:off x="548640" y="4938335"/>
            <a:ext cx="9144000" cy="320040"/>
          </a:xfrm>
          <a:prstGeom prst="rect">
            <a:avLst/>
          </a:prstGeom>
          <a:noFill/>
          <a:ln/>
        </p:spPr>
        <p:txBody>
          <a:bodyPr wrap="square" lIns="0" tIns="0" rIns="0" bIns="0" rtlCol="0" anchor="ctr"/>
          <a:lstStyle/>
          <a:p>
            <a:pPr marL="0" indent="0">
              <a:buNone/>
            </a:pPr>
            <a:r>
              <a:rPr lang="en-US" sz="1200">
                <a:solidFill>
                  <a:srgbClr val="9FB6BE"/>
                </a:solidFill>
                <a:latin typeface="Calibri"/>
                <a:ea typeface="Calibri"/>
                <a:cs typeface="Calibri"/>
              </a:rPr>
              <a:t>Team: </a:t>
            </a:r>
            <a:r>
              <a:rPr lang="en-US" sz="1200" b="1">
                <a:solidFill>
                  <a:srgbClr val="9FB6BE"/>
                </a:solidFill>
                <a:latin typeface="Calibri"/>
                <a:ea typeface="Calibri"/>
                <a:cs typeface="Calibri"/>
              </a:rPr>
              <a:t>13</a:t>
            </a:r>
            <a:r>
              <a:rPr lang="en-US" sz="1200">
                <a:solidFill>
                  <a:srgbClr val="9FB6BE"/>
                </a:solidFill>
                <a:latin typeface="Calibri"/>
                <a:ea typeface="Calibri"/>
                <a:cs typeface="Calibri"/>
              </a:rPr>
              <a:t>·    Date: </a:t>
            </a:r>
            <a:r>
              <a:rPr lang="en-US" sz="1200" b="1">
                <a:solidFill>
                  <a:srgbClr val="9FB6BE"/>
                </a:solidFill>
                <a:latin typeface="Calibri"/>
                <a:ea typeface="Calibri"/>
                <a:cs typeface="Calibri"/>
              </a:rPr>
              <a:t>30</a:t>
            </a:r>
            <a:r>
              <a:rPr lang="en-US" sz="1200">
                <a:solidFill>
                  <a:srgbClr val="9FB6BE"/>
                </a:solidFill>
                <a:latin typeface="Calibri"/>
                <a:ea typeface="Calibri"/>
                <a:cs typeface="Calibri"/>
              </a:rPr>
              <a:t>.</a:t>
            </a:r>
            <a:r>
              <a:rPr lang="en-US" sz="1200" b="1">
                <a:solidFill>
                  <a:srgbClr val="9FB6BE"/>
                </a:solidFill>
                <a:latin typeface="Calibri"/>
                <a:ea typeface="Calibri"/>
                <a:cs typeface="Calibri"/>
              </a:rPr>
              <a:t>08</a:t>
            </a:r>
            <a:r>
              <a:rPr lang="en-US" sz="1200">
                <a:solidFill>
                  <a:srgbClr val="9FB6BE"/>
                </a:solidFill>
                <a:latin typeface="Calibri"/>
                <a:ea typeface="Calibri"/>
                <a:cs typeface="Calibri"/>
              </a:rPr>
              <a:t>.</a:t>
            </a:r>
            <a:r>
              <a:rPr lang="en-US" sz="1200" b="1">
                <a:solidFill>
                  <a:srgbClr val="9FB6BE"/>
                </a:solidFill>
                <a:latin typeface="Calibri"/>
                <a:ea typeface="Calibri"/>
                <a:cs typeface="Calibri"/>
              </a:rPr>
              <a:t>2026</a:t>
            </a:r>
            <a:endParaRPr lang="en-US" sz="1200">
              <a:solidFill>
                <a:srgbClr val="9FB6BE"/>
              </a:solidFill>
              <a:latin typeface="Calibri"/>
              <a:ea typeface="Calibri"/>
              <a:cs typeface="Calibri"/>
            </a:endParaRPr>
          </a:p>
        </p:txBody>
      </p:sp>
      <p:sp>
        <p:nvSpPr>
          <p:cNvPr id="10" name="TextBox 9">
            <a:extLst>
              <a:ext uri="{FF2B5EF4-FFF2-40B4-BE49-F238E27FC236}">
                <a16:creationId xmlns:a16="http://schemas.microsoft.com/office/drawing/2014/main" id="{6E4040F7-66E8-1992-4DE4-6A234C6BC306}"/>
              </a:ext>
            </a:extLst>
          </p:cNvPr>
          <p:cNvSpPr txBox="1"/>
          <p:nvPr/>
        </p:nvSpPr>
        <p:spPr>
          <a:xfrm>
            <a:off x="445699" y="5355566"/>
            <a:ext cx="6096000" cy="13696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a:solidFill>
                  <a:srgbClr val="CFE0E6"/>
                </a:solidFill>
                <a:latin typeface="Calibri"/>
              </a:rPr>
              <a:t>Presented by:</a:t>
            </a:r>
            <a:endParaRPr lang="en-US" sz="1300" b="1">
              <a:solidFill>
                <a:srgbClr val="CFE0E6"/>
              </a:solidFill>
              <a:ea typeface="Calibri"/>
              <a:cs typeface="Calibri"/>
            </a:endParaRPr>
          </a:p>
          <a:p>
            <a:r>
              <a:rPr lang="en-US" sz="1300">
                <a:solidFill>
                  <a:srgbClr val="CFE0E6"/>
                </a:solidFill>
                <a:ea typeface="+mn-lt"/>
                <a:cs typeface="+mn-lt"/>
              </a:rPr>
              <a:t>1.Najmus Saquib Aurko (26-94142-2)</a:t>
            </a:r>
            <a:endParaRPr lang="en-US" sz="1300">
              <a:solidFill>
                <a:srgbClr val="CFE0E6"/>
              </a:solidFill>
              <a:ea typeface="Calibri"/>
              <a:cs typeface="Calibri"/>
            </a:endParaRPr>
          </a:p>
          <a:p>
            <a:r>
              <a:rPr lang="en-US" sz="1300">
                <a:solidFill>
                  <a:srgbClr val="CFE0E6"/>
                </a:solidFill>
                <a:ea typeface="Calibri"/>
                <a:cs typeface="Calibri"/>
              </a:rPr>
              <a:t>2.</a:t>
            </a:r>
            <a:r>
              <a:rPr lang="en-US" sz="1300">
                <a:solidFill>
                  <a:srgbClr val="CFE0E6"/>
                </a:solidFill>
              </a:rPr>
              <a:t>Saida Binta Alam (26-94136-2)</a:t>
            </a:r>
            <a:endParaRPr lang="en-US" sz="1300">
              <a:solidFill>
                <a:srgbClr val="CFE0E6"/>
              </a:solidFill>
              <a:ea typeface="Calibri"/>
              <a:cs typeface="Calibri"/>
            </a:endParaRPr>
          </a:p>
          <a:p>
            <a:r>
              <a:rPr lang="en-US" sz="1300">
                <a:solidFill>
                  <a:srgbClr val="CFE0E6"/>
                </a:solidFill>
                <a:ea typeface="Calibri"/>
                <a:cs typeface="Calibri"/>
              </a:rPr>
              <a:t>3.</a:t>
            </a:r>
            <a:r>
              <a:rPr lang="en-US" sz="1300">
                <a:solidFill>
                  <a:srgbClr val="CFE0E6"/>
                </a:solidFill>
                <a:latin typeface="Calibri" panose="020F0502020204030204"/>
                <a:ea typeface="Calibri"/>
                <a:cs typeface="Calibri"/>
              </a:rPr>
              <a:t>Anindita Roy (26-94077-2)</a:t>
            </a:r>
          </a:p>
          <a:p>
            <a:r>
              <a:rPr lang="en-US" sz="1300">
                <a:solidFill>
                  <a:srgbClr val="CFE0E6"/>
                </a:solidFill>
                <a:ea typeface="Calibri"/>
                <a:cs typeface="Calibri"/>
              </a:rPr>
              <a:t>4.Tasnim Sultana Sintheia (26-93981-1)</a:t>
            </a:r>
          </a:p>
          <a:p>
            <a:pPr algn="ctr"/>
            <a:endParaRPr lang="en-US">
              <a:ea typeface="Calibri" panose="020F0502020204030204"/>
              <a:cs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777240"/>
          </a:xfrm>
          <a:prstGeom prst="rect">
            <a:avLst/>
          </a:prstGeom>
          <a:noFill/>
          <a:ln/>
        </p:spPr>
        <p:txBody>
          <a:bodyPr wrap="square" lIns="0" tIns="0" rIns="0" bIns="0" rtlCol="0" anchor="ctr"/>
          <a:lstStyle/>
          <a:p>
            <a:pPr marL="0" indent="0" algn="l">
              <a:buNone/>
            </a:pPr>
            <a:r>
              <a:rPr lang="en-US" sz="3200" b="1">
                <a:solidFill>
                  <a:srgbClr val="1B2A32"/>
                </a:solidFill>
                <a:latin typeface="Cambria" pitchFamily="34" charset="0"/>
                <a:ea typeface="Cambria" pitchFamily="34" charset="-122"/>
                <a:cs typeface="Cambria" pitchFamily="34" charset="-120"/>
              </a:rPr>
              <a:t>Agenda</a:t>
            </a:r>
            <a:endParaRPr lang="en-US" sz="3200"/>
          </a:p>
        </p:txBody>
      </p:sp>
      <p:sp>
        <p:nvSpPr>
          <p:cNvPr id="3" name="Shape 1"/>
          <p:cNvSpPr/>
          <p:nvPr/>
        </p:nvSpPr>
        <p:spPr>
          <a:xfrm>
            <a:off x="548640" y="1554480"/>
            <a:ext cx="566928" cy="566928"/>
          </a:xfrm>
          <a:prstGeom prst="ellipse">
            <a:avLst/>
          </a:prstGeom>
          <a:solidFill>
            <a:srgbClr val="1C7293"/>
          </a:solidFill>
          <a:ln/>
        </p:spPr>
      </p:sp>
      <p:sp>
        <p:nvSpPr>
          <p:cNvPr id="4" name="Text 2"/>
          <p:cNvSpPr txBox="1"/>
          <p:nvPr/>
        </p:nvSpPr>
        <p:spPr>
          <a:xfrm>
            <a:off x="548640" y="1554480"/>
            <a:ext cx="566928" cy="566928"/>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01</a:t>
            </a:r>
            <a:endParaRPr lang="en-US" sz="1600"/>
          </a:p>
        </p:txBody>
      </p:sp>
      <p:sp>
        <p:nvSpPr>
          <p:cNvPr id="5" name="Text 3"/>
          <p:cNvSpPr txBox="1"/>
          <p:nvPr/>
        </p:nvSpPr>
        <p:spPr>
          <a:xfrm>
            <a:off x="1325880" y="1554480"/>
            <a:ext cx="4572000" cy="566928"/>
          </a:xfrm>
          <a:prstGeom prst="rect">
            <a:avLst/>
          </a:prstGeom>
          <a:noFill/>
          <a:ln/>
        </p:spPr>
        <p:txBody>
          <a:bodyPr wrap="square" lIns="0" tIns="0" rIns="0" bIns="0" rtlCol="0" anchor="ctr">
            <a:normAutofit/>
          </a:bodyPr>
          <a:lstStyle/>
          <a:p>
            <a:pPr marL="0" indent="0">
              <a:buNone/>
            </a:pPr>
            <a:r>
              <a:rPr lang="en-US" sz="1700" b="1">
                <a:solidFill>
                  <a:srgbClr val="1B2A32"/>
                </a:solidFill>
                <a:latin typeface="Calibri" pitchFamily="34" charset="0"/>
                <a:ea typeface="Calibri" pitchFamily="34" charset="-122"/>
                <a:cs typeface="Calibri" pitchFamily="34" charset="-120"/>
              </a:rPr>
              <a:t>The problem we solve</a:t>
            </a:r>
            <a:endParaRPr lang="en-US" sz="1700"/>
          </a:p>
        </p:txBody>
      </p:sp>
      <p:sp>
        <p:nvSpPr>
          <p:cNvPr id="6" name="Shape 4"/>
          <p:cNvSpPr/>
          <p:nvPr/>
        </p:nvSpPr>
        <p:spPr>
          <a:xfrm>
            <a:off x="6172200" y="1554480"/>
            <a:ext cx="566928" cy="566928"/>
          </a:xfrm>
          <a:prstGeom prst="ellipse">
            <a:avLst/>
          </a:prstGeom>
          <a:solidFill>
            <a:srgbClr val="1C7293"/>
          </a:solidFill>
          <a:ln/>
        </p:spPr>
      </p:sp>
      <p:sp>
        <p:nvSpPr>
          <p:cNvPr id="7" name="Text 5"/>
          <p:cNvSpPr txBox="1"/>
          <p:nvPr/>
        </p:nvSpPr>
        <p:spPr>
          <a:xfrm>
            <a:off x="6172200" y="1554480"/>
            <a:ext cx="566928" cy="566928"/>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02</a:t>
            </a:r>
            <a:endParaRPr lang="en-US" sz="1600"/>
          </a:p>
        </p:txBody>
      </p:sp>
      <p:sp>
        <p:nvSpPr>
          <p:cNvPr id="8" name="Text 6"/>
          <p:cNvSpPr txBox="1"/>
          <p:nvPr/>
        </p:nvSpPr>
        <p:spPr>
          <a:xfrm>
            <a:off x="6949440" y="1554480"/>
            <a:ext cx="4572000" cy="566928"/>
          </a:xfrm>
          <a:prstGeom prst="rect">
            <a:avLst/>
          </a:prstGeom>
          <a:noFill/>
          <a:ln/>
        </p:spPr>
        <p:txBody>
          <a:bodyPr wrap="square" lIns="0" tIns="0" rIns="0" bIns="0" rtlCol="0" anchor="ctr">
            <a:normAutofit/>
          </a:bodyPr>
          <a:lstStyle/>
          <a:p>
            <a:pPr marL="0" indent="0">
              <a:buNone/>
            </a:pPr>
            <a:r>
              <a:rPr lang="en-US" sz="1700" b="1">
                <a:solidFill>
                  <a:srgbClr val="1B2A32"/>
                </a:solidFill>
                <a:latin typeface="Calibri" pitchFamily="34" charset="0"/>
                <a:ea typeface="Calibri" pitchFamily="34" charset="-122"/>
                <a:cs typeface="Calibri" pitchFamily="34" charset="-120"/>
              </a:rPr>
              <a:t>Objectives</a:t>
            </a:r>
            <a:endParaRPr lang="en-US" sz="1700"/>
          </a:p>
        </p:txBody>
      </p:sp>
      <p:sp>
        <p:nvSpPr>
          <p:cNvPr id="9" name="Shape 7"/>
          <p:cNvSpPr/>
          <p:nvPr/>
        </p:nvSpPr>
        <p:spPr>
          <a:xfrm>
            <a:off x="548640" y="2724912"/>
            <a:ext cx="566928" cy="566928"/>
          </a:xfrm>
          <a:prstGeom prst="ellipse">
            <a:avLst/>
          </a:prstGeom>
          <a:solidFill>
            <a:srgbClr val="1C7293"/>
          </a:solidFill>
          <a:ln/>
        </p:spPr>
      </p:sp>
      <p:sp>
        <p:nvSpPr>
          <p:cNvPr id="10" name="Text 8"/>
          <p:cNvSpPr txBox="1"/>
          <p:nvPr/>
        </p:nvSpPr>
        <p:spPr>
          <a:xfrm>
            <a:off x="548640" y="2724912"/>
            <a:ext cx="566928" cy="566928"/>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03</a:t>
            </a:r>
            <a:endParaRPr lang="en-US" sz="1600"/>
          </a:p>
        </p:txBody>
      </p:sp>
      <p:sp>
        <p:nvSpPr>
          <p:cNvPr id="11" name="Text 9"/>
          <p:cNvSpPr txBox="1"/>
          <p:nvPr/>
        </p:nvSpPr>
        <p:spPr>
          <a:xfrm>
            <a:off x="1325880" y="2724912"/>
            <a:ext cx="4572000" cy="566928"/>
          </a:xfrm>
          <a:prstGeom prst="rect">
            <a:avLst/>
          </a:prstGeom>
          <a:noFill/>
          <a:ln/>
        </p:spPr>
        <p:txBody>
          <a:bodyPr wrap="square" lIns="0" tIns="0" rIns="0" bIns="0" rtlCol="0" anchor="ctr">
            <a:normAutofit/>
          </a:bodyPr>
          <a:lstStyle/>
          <a:p>
            <a:pPr marL="0" indent="0">
              <a:buNone/>
            </a:pPr>
            <a:r>
              <a:rPr lang="en-US" sz="1700" b="1">
                <a:solidFill>
                  <a:srgbClr val="1B2A32"/>
                </a:solidFill>
                <a:latin typeface="Calibri" pitchFamily="34" charset="0"/>
                <a:ea typeface="Calibri" pitchFamily="34" charset="-122"/>
                <a:cs typeface="Calibri" pitchFamily="34" charset="-120"/>
              </a:rPr>
              <a:t>What is AdaptED?</a:t>
            </a:r>
            <a:endParaRPr lang="en-US" sz="1700"/>
          </a:p>
        </p:txBody>
      </p:sp>
      <p:sp>
        <p:nvSpPr>
          <p:cNvPr id="12" name="Shape 10"/>
          <p:cNvSpPr/>
          <p:nvPr/>
        </p:nvSpPr>
        <p:spPr>
          <a:xfrm>
            <a:off x="6172200" y="2724912"/>
            <a:ext cx="566928" cy="566928"/>
          </a:xfrm>
          <a:prstGeom prst="ellipse">
            <a:avLst/>
          </a:prstGeom>
          <a:solidFill>
            <a:srgbClr val="1C7293"/>
          </a:solidFill>
          <a:ln/>
        </p:spPr>
      </p:sp>
      <p:sp>
        <p:nvSpPr>
          <p:cNvPr id="13" name="Text 11"/>
          <p:cNvSpPr txBox="1"/>
          <p:nvPr/>
        </p:nvSpPr>
        <p:spPr>
          <a:xfrm>
            <a:off x="6172200" y="2724912"/>
            <a:ext cx="566928" cy="566928"/>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04</a:t>
            </a:r>
            <a:endParaRPr lang="en-US" sz="1600"/>
          </a:p>
        </p:txBody>
      </p:sp>
      <p:sp>
        <p:nvSpPr>
          <p:cNvPr id="14" name="Text 12"/>
          <p:cNvSpPr txBox="1"/>
          <p:nvPr/>
        </p:nvSpPr>
        <p:spPr>
          <a:xfrm>
            <a:off x="6949440" y="2724912"/>
            <a:ext cx="4572000" cy="566928"/>
          </a:xfrm>
          <a:prstGeom prst="rect">
            <a:avLst/>
          </a:prstGeom>
          <a:noFill/>
          <a:ln/>
        </p:spPr>
        <p:txBody>
          <a:bodyPr wrap="square" lIns="0" tIns="0" rIns="0" bIns="0" rtlCol="0" anchor="ctr">
            <a:normAutofit/>
          </a:bodyPr>
          <a:lstStyle/>
          <a:p>
            <a:pPr marL="0" indent="0">
              <a:buNone/>
            </a:pPr>
            <a:r>
              <a:rPr lang="en-US" sz="1700" b="1">
                <a:solidFill>
                  <a:srgbClr val="1B2A32"/>
                </a:solidFill>
                <a:latin typeface="Calibri" pitchFamily="34" charset="0"/>
                <a:ea typeface="Calibri" pitchFamily="34" charset="-122"/>
                <a:cs typeface="Calibri" pitchFamily="34" charset="-120"/>
              </a:rPr>
              <a:t>System architecture</a:t>
            </a:r>
            <a:endParaRPr lang="en-US" sz="1700"/>
          </a:p>
        </p:txBody>
      </p:sp>
      <p:sp>
        <p:nvSpPr>
          <p:cNvPr id="15" name="Shape 13"/>
          <p:cNvSpPr/>
          <p:nvPr/>
        </p:nvSpPr>
        <p:spPr>
          <a:xfrm>
            <a:off x="548640" y="3895344"/>
            <a:ext cx="566928" cy="566928"/>
          </a:xfrm>
          <a:prstGeom prst="ellipse">
            <a:avLst/>
          </a:prstGeom>
          <a:solidFill>
            <a:srgbClr val="1C7293"/>
          </a:solidFill>
          <a:ln/>
        </p:spPr>
      </p:sp>
      <p:sp>
        <p:nvSpPr>
          <p:cNvPr id="16" name="Text 14"/>
          <p:cNvSpPr txBox="1"/>
          <p:nvPr/>
        </p:nvSpPr>
        <p:spPr>
          <a:xfrm>
            <a:off x="548640" y="3895344"/>
            <a:ext cx="566928" cy="566928"/>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05</a:t>
            </a:r>
            <a:endParaRPr lang="en-US" sz="1600"/>
          </a:p>
        </p:txBody>
      </p:sp>
      <p:sp>
        <p:nvSpPr>
          <p:cNvPr id="17" name="Text 15"/>
          <p:cNvSpPr txBox="1"/>
          <p:nvPr/>
        </p:nvSpPr>
        <p:spPr>
          <a:xfrm>
            <a:off x="1325880" y="3895344"/>
            <a:ext cx="4572000" cy="566928"/>
          </a:xfrm>
          <a:prstGeom prst="rect">
            <a:avLst/>
          </a:prstGeom>
          <a:noFill/>
          <a:ln/>
        </p:spPr>
        <p:txBody>
          <a:bodyPr wrap="square" lIns="0" tIns="0" rIns="0" bIns="0" rtlCol="0" anchor="ctr">
            <a:normAutofit/>
          </a:bodyPr>
          <a:lstStyle/>
          <a:p>
            <a:pPr marL="0" indent="0">
              <a:buNone/>
            </a:pPr>
            <a:r>
              <a:rPr lang="en-US" sz="1700" b="1">
                <a:solidFill>
                  <a:srgbClr val="1B2A32"/>
                </a:solidFill>
                <a:latin typeface="Calibri" pitchFamily="34" charset="0"/>
                <a:ea typeface="Calibri" pitchFamily="34" charset="-122"/>
                <a:cs typeface="Calibri" pitchFamily="34" charset="-120"/>
              </a:rPr>
              <a:t>The agents</a:t>
            </a:r>
            <a:endParaRPr lang="en-US" sz="1700"/>
          </a:p>
        </p:txBody>
      </p:sp>
      <p:sp>
        <p:nvSpPr>
          <p:cNvPr id="18" name="Shape 16"/>
          <p:cNvSpPr/>
          <p:nvPr/>
        </p:nvSpPr>
        <p:spPr>
          <a:xfrm>
            <a:off x="6172200" y="3895344"/>
            <a:ext cx="566928" cy="566928"/>
          </a:xfrm>
          <a:prstGeom prst="ellipse">
            <a:avLst/>
          </a:prstGeom>
          <a:solidFill>
            <a:srgbClr val="1C7293"/>
          </a:solidFill>
          <a:ln/>
        </p:spPr>
      </p:sp>
      <p:sp>
        <p:nvSpPr>
          <p:cNvPr id="19" name="Text 17"/>
          <p:cNvSpPr txBox="1"/>
          <p:nvPr/>
        </p:nvSpPr>
        <p:spPr>
          <a:xfrm>
            <a:off x="6172200" y="3895344"/>
            <a:ext cx="566928" cy="566928"/>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06</a:t>
            </a:r>
            <a:endParaRPr lang="en-US" sz="1600"/>
          </a:p>
        </p:txBody>
      </p:sp>
      <p:sp>
        <p:nvSpPr>
          <p:cNvPr id="20" name="Text 18"/>
          <p:cNvSpPr txBox="1"/>
          <p:nvPr/>
        </p:nvSpPr>
        <p:spPr>
          <a:xfrm>
            <a:off x="6949440" y="3895344"/>
            <a:ext cx="4572000" cy="566928"/>
          </a:xfrm>
          <a:prstGeom prst="rect">
            <a:avLst/>
          </a:prstGeom>
          <a:noFill/>
          <a:ln/>
        </p:spPr>
        <p:txBody>
          <a:bodyPr wrap="square" lIns="0" tIns="0" rIns="0" bIns="0" rtlCol="0" anchor="ctr">
            <a:normAutofit/>
          </a:bodyPr>
          <a:lstStyle/>
          <a:p>
            <a:pPr marL="0" indent="0">
              <a:buNone/>
            </a:pPr>
            <a:r>
              <a:rPr lang="en-US" sz="1700" b="1">
                <a:solidFill>
                  <a:srgbClr val="1B2A32"/>
                </a:solidFill>
                <a:latin typeface="Calibri" pitchFamily="34" charset="0"/>
                <a:ea typeface="Calibri" pitchFamily="34" charset="-122"/>
                <a:cs typeface="Calibri" pitchFamily="34" charset="-120"/>
              </a:rPr>
              <a:t>OBE subsystem (our focus)</a:t>
            </a:r>
            <a:endParaRPr lang="en-US" sz="1700"/>
          </a:p>
        </p:txBody>
      </p:sp>
      <p:sp>
        <p:nvSpPr>
          <p:cNvPr id="21" name="Shape 19"/>
          <p:cNvSpPr/>
          <p:nvPr/>
        </p:nvSpPr>
        <p:spPr>
          <a:xfrm>
            <a:off x="548640" y="5065776"/>
            <a:ext cx="566928" cy="566928"/>
          </a:xfrm>
          <a:prstGeom prst="ellipse">
            <a:avLst/>
          </a:prstGeom>
          <a:solidFill>
            <a:srgbClr val="1C7293"/>
          </a:solidFill>
          <a:ln/>
        </p:spPr>
      </p:sp>
      <p:sp>
        <p:nvSpPr>
          <p:cNvPr id="22" name="Text 20"/>
          <p:cNvSpPr txBox="1"/>
          <p:nvPr/>
        </p:nvSpPr>
        <p:spPr>
          <a:xfrm>
            <a:off x="548640" y="5065776"/>
            <a:ext cx="566928" cy="566928"/>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07</a:t>
            </a:r>
            <a:endParaRPr lang="en-US" sz="1600"/>
          </a:p>
        </p:txBody>
      </p:sp>
      <p:sp>
        <p:nvSpPr>
          <p:cNvPr id="23" name="Text 21"/>
          <p:cNvSpPr txBox="1"/>
          <p:nvPr/>
        </p:nvSpPr>
        <p:spPr>
          <a:xfrm>
            <a:off x="1325880" y="5065776"/>
            <a:ext cx="4572000" cy="566928"/>
          </a:xfrm>
          <a:prstGeom prst="rect">
            <a:avLst/>
          </a:prstGeom>
          <a:noFill/>
          <a:ln/>
        </p:spPr>
        <p:txBody>
          <a:bodyPr wrap="square" lIns="0" tIns="0" rIns="0" bIns="0" rtlCol="0" anchor="ctr">
            <a:normAutofit/>
          </a:bodyPr>
          <a:lstStyle/>
          <a:p>
            <a:pPr marL="0" indent="0">
              <a:buNone/>
            </a:pPr>
            <a:r>
              <a:rPr lang="en-US" sz="1700" b="1">
                <a:solidFill>
                  <a:srgbClr val="1B2A32"/>
                </a:solidFill>
                <a:latin typeface="Calibri" pitchFamily="34" charset="0"/>
                <a:ea typeface="Calibri" pitchFamily="34" charset="-122"/>
                <a:cs typeface="Calibri" pitchFamily="34" charset="-120"/>
              </a:rPr>
              <a:t>Agent Console &amp; tech stack</a:t>
            </a:r>
            <a:endParaRPr lang="en-US" sz="1700"/>
          </a:p>
        </p:txBody>
      </p:sp>
      <p:sp>
        <p:nvSpPr>
          <p:cNvPr id="24" name="Shape 22"/>
          <p:cNvSpPr/>
          <p:nvPr/>
        </p:nvSpPr>
        <p:spPr>
          <a:xfrm>
            <a:off x="6172200" y="5065776"/>
            <a:ext cx="566928" cy="566928"/>
          </a:xfrm>
          <a:prstGeom prst="ellipse">
            <a:avLst/>
          </a:prstGeom>
          <a:solidFill>
            <a:srgbClr val="1C7293"/>
          </a:solidFill>
          <a:ln/>
        </p:spPr>
      </p:sp>
      <p:sp>
        <p:nvSpPr>
          <p:cNvPr id="25" name="Text 23"/>
          <p:cNvSpPr txBox="1"/>
          <p:nvPr/>
        </p:nvSpPr>
        <p:spPr>
          <a:xfrm>
            <a:off x="6172200" y="5065776"/>
            <a:ext cx="566928" cy="566928"/>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08</a:t>
            </a:r>
            <a:endParaRPr lang="en-US" sz="1600"/>
          </a:p>
        </p:txBody>
      </p:sp>
      <p:sp>
        <p:nvSpPr>
          <p:cNvPr id="26" name="Text 24"/>
          <p:cNvSpPr txBox="1"/>
          <p:nvPr/>
        </p:nvSpPr>
        <p:spPr>
          <a:xfrm>
            <a:off x="6949440" y="5065776"/>
            <a:ext cx="4572000" cy="566928"/>
          </a:xfrm>
          <a:prstGeom prst="rect">
            <a:avLst/>
          </a:prstGeom>
          <a:noFill/>
          <a:ln/>
        </p:spPr>
        <p:txBody>
          <a:bodyPr wrap="square" lIns="0" tIns="0" rIns="0" bIns="0" rtlCol="0" anchor="ctr">
            <a:normAutofit/>
          </a:bodyPr>
          <a:lstStyle/>
          <a:p>
            <a:pPr marL="0" indent="0">
              <a:buNone/>
            </a:pPr>
            <a:r>
              <a:rPr lang="en-US" sz="1700" b="1">
                <a:solidFill>
                  <a:srgbClr val="1B2A32"/>
                </a:solidFill>
                <a:latin typeface="Calibri" pitchFamily="34" charset="0"/>
                <a:ea typeface="Calibri" pitchFamily="34" charset="-122"/>
                <a:cs typeface="Calibri" pitchFamily="34" charset="-120"/>
              </a:rPr>
              <a:t>Testing, future work, Q&amp;A</a:t>
            </a:r>
            <a:endParaRPr lang="en-US" sz="1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777240"/>
          </a:xfrm>
          <a:prstGeom prst="rect">
            <a:avLst/>
          </a:prstGeom>
          <a:noFill/>
          <a:ln/>
        </p:spPr>
        <p:txBody>
          <a:bodyPr wrap="square" lIns="0" tIns="0" rIns="0" bIns="0" rtlCol="0" anchor="ctr"/>
          <a:lstStyle/>
          <a:p>
            <a:pPr marL="0" indent="0" algn="l">
              <a:buNone/>
            </a:pPr>
            <a:r>
              <a:rPr lang="en-US" sz="3200" b="1">
                <a:solidFill>
                  <a:srgbClr val="1B2A32"/>
                </a:solidFill>
                <a:latin typeface="Cambria" pitchFamily="34" charset="0"/>
                <a:ea typeface="Cambria" pitchFamily="34" charset="-122"/>
                <a:cs typeface="Cambria" pitchFamily="34" charset="-120"/>
              </a:rPr>
              <a:t>The Problem</a:t>
            </a:r>
            <a:endParaRPr lang="en-US" sz="3200"/>
          </a:p>
        </p:txBody>
      </p:sp>
      <p:sp>
        <p:nvSpPr>
          <p:cNvPr id="3" name="Shape 1"/>
          <p:cNvSpPr/>
          <p:nvPr/>
        </p:nvSpPr>
        <p:spPr>
          <a:xfrm>
            <a:off x="548640" y="1554480"/>
            <a:ext cx="5074920" cy="3566160"/>
          </a:xfrm>
          <a:prstGeom prst="roundRect">
            <a:avLst>
              <a:gd name="adj" fmla="val 2308"/>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4" name="Shape 2"/>
          <p:cNvSpPr/>
          <p:nvPr/>
        </p:nvSpPr>
        <p:spPr>
          <a:xfrm>
            <a:off x="868680" y="1874520"/>
            <a:ext cx="457200" cy="457200"/>
          </a:xfrm>
          <a:prstGeom prst="ellipse">
            <a:avLst/>
          </a:prstGeom>
          <a:solidFill>
            <a:srgbClr val="1C7293"/>
          </a:solidFill>
          <a:ln/>
        </p:spPr>
      </p:sp>
      <p:sp>
        <p:nvSpPr>
          <p:cNvPr id="5" name="Text 3"/>
          <p:cNvSpPr txBox="1"/>
          <p:nvPr/>
        </p:nvSpPr>
        <p:spPr>
          <a:xfrm>
            <a:off x="868680" y="1874520"/>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S</a:t>
            </a:r>
            <a:endParaRPr lang="en-US" sz="1600"/>
          </a:p>
        </p:txBody>
      </p:sp>
      <p:sp>
        <p:nvSpPr>
          <p:cNvPr id="6" name="Text 4"/>
          <p:cNvSpPr txBox="1"/>
          <p:nvPr/>
        </p:nvSpPr>
        <p:spPr>
          <a:xfrm>
            <a:off x="1463040" y="1874520"/>
            <a:ext cx="3931920" cy="457200"/>
          </a:xfrm>
          <a:prstGeom prst="rect">
            <a:avLst/>
          </a:prstGeom>
          <a:noFill/>
          <a:ln/>
        </p:spPr>
        <p:txBody>
          <a:bodyPr wrap="square" lIns="0" tIns="0" rIns="0" bIns="0" rtlCol="0" anchor="ctr"/>
          <a:lstStyle/>
          <a:p>
            <a:pPr marL="0" indent="0">
              <a:buNone/>
            </a:pPr>
            <a:r>
              <a:rPr lang="en-US" sz="2000" b="1">
                <a:solidFill>
                  <a:srgbClr val="1B2A32"/>
                </a:solidFill>
                <a:latin typeface="Cambria" pitchFamily="34" charset="0"/>
                <a:ea typeface="Cambria" pitchFamily="34" charset="-122"/>
                <a:cs typeface="Cambria" pitchFamily="34" charset="-120"/>
              </a:rPr>
              <a:t>For students</a:t>
            </a:r>
            <a:endParaRPr lang="en-US" sz="2000"/>
          </a:p>
        </p:txBody>
      </p:sp>
      <p:sp>
        <p:nvSpPr>
          <p:cNvPr id="7" name="Text 5"/>
          <p:cNvSpPr txBox="1"/>
          <p:nvPr/>
        </p:nvSpPr>
        <p:spPr>
          <a:xfrm>
            <a:off x="868680" y="2560320"/>
            <a:ext cx="4480560" cy="2377440"/>
          </a:xfrm>
          <a:prstGeom prst="rect">
            <a:avLst/>
          </a:prstGeom>
          <a:noFill/>
          <a:ln/>
        </p:spPr>
        <p:txBody>
          <a:bodyPr wrap="square" lIns="0" tIns="0" rIns="0" bIns="0" rtlCol="0" anchor="ctr">
            <a:normAutofit/>
          </a:bodyPr>
          <a:lstStyle/>
          <a:p>
            <a:pPr>
              <a:lnSpc>
                <a:spcPct val="110000"/>
              </a:lnSpc>
            </a:pPr>
            <a:r>
              <a:rPr lang="en-US" sz="1500">
                <a:solidFill>
                  <a:srgbClr val="63757E"/>
                </a:solidFill>
                <a:ea typeface="+mn-lt"/>
                <a:cs typeface="+mn-lt"/>
              </a:rPr>
              <a:t>One-size-fits-all teaching doesn’t work for everyone. Students have different strengths, weaknesses, and learning needs. But traditional learning content is often static, and each session starts from the beginning, without remembering what a student already knows, what they struggle with, or where they need more support.</a:t>
            </a:r>
            <a:endParaRPr lang="en-US"/>
          </a:p>
          <a:p>
            <a:pPr marL="0" indent="0">
              <a:lnSpc>
                <a:spcPct val="110000"/>
              </a:lnSpc>
              <a:buNone/>
            </a:pPr>
            <a:endParaRPr lang="en-US" sz="1500">
              <a:solidFill>
                <a:srgbClr val="63757E"/>
              </a:solidFill>
              <a:ea typeface="Calibri"/>
              <a:cs typeface="Calibri"/>
            </a:endParaRPr>
          </a:p>
        </p:txBody>
      </p:sp>
      <p:sp>
        <p:nvSpPr>
          <p:cNvPr id="8" name="Shape 6"/>
          <p:cNvSpPr/>
          <p:nvPr/>
        </p:nvSpPr>
        <p:spPr>
          <a:xfrm>
            <a:off x="6172200" y="1554480"/>
            <a:ext cx="5074920" cy="3566160"/>
          </a:xfrm>
          <a:prstGeom prst="roundRect">
            <a:avLst>
              <a:gd name="adj" fmla="val 2308"/>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9" name="Shape 7"/>
          <p:cNvSpPr/>
          <p:nvPr/>
        </p:nvSpPr>
        <p:spPr>
          <a:xfrm>
            <a:off x="6492240" y="1874520"/>
            <a:ext cx="457200" cy="457200"/>
          </a:xfrm>
          <a:prstGeom prst="ellipse">
            <a:avLst/>
          </a:prstGeom>
          <a:solidFill>
            <a:srgbClr val="E9A23B"/>
          </a:solidFill>
          <a:ln/>
        </p:spPr>
      </p:sp>
      <p:sp>
        <p:nvSpPr>
          <p:cNvPr id="10" name="Text 8"/>
          <p:cNvSpPr txBox="1"/>
          <p:nvPr/>
        </p:nvSpPr>
        <p:spPr>
          <a:xfrm>
            <a:off x="6492240" y="1874520"/>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mbria" pitchFamily="34" charset="0"/>
                <a:ea typeface="Cambria" pitchFamily="34" charset="-122"/>
                <a:cs typeface="Cambria" pitchFamily="34" charset="-120"/>
              </a:rPr>
              <a:t>F</a:t>
            </a:r>
            <a:endParaRPr lang="en-US" sz="1600"/>
          </a:p>
        </p:txBody>
      </p:sp>
      <p:sp>
        <p:nvSpPr>
          <p:cNvPr id="11" name="Text 9"/>
          <p:cNvSpPr txBox="1"/>
          <p:nvPr/>
        </p:nvSpPr>
        <p:spPr>
          <a:xfrm>
            <a:off x="7086600" y="1874520"/>
            <a:ext cx="3931920" cy="457200"/>
          </a:xfrm>
          <a:prstGeom prst="rect">
            <a:avLst/>
          </a:prstGeom>
          <a:noFill/>
          <a:ln/>
        </p:spPr>
        <p:txBody>
          <a:bodyPr wrap="square" lIns="0" tIns="0" rIns="0" bIns="0" rtlCol="0" anchor="ctr"/>
          <a:lstStyle/>
          <a:p>
            <a:pPr marL="0" indent="0">
              <a:buNone/>
            </a:pPr>
            <a:r>
              <a:rPr lang="en-US" sz="2000" b="1">
                <a:solidFill>
                  <a:srgbClr val="1B2A32"/>
                </a:solidFill>
                <a:latin typeface="Cambria" pitchFamily="34" charset="0"/>
                <a:ea typeface="Cambria" pitchFamily="34" charset="-122"/>
                <a:cs typeface="Cambria" pitchFamily="34" charset="-120"/>
              </a:rPr>
              <a:t>For faculty</a:t>
            </a:r>
            <a:endParaRPr lang="en-US" sz="2000"/>
          </a:p>
        </p:txBody>
      </p:sp>
      <p:sp>
        <p:nvSpPr>
          <p:cNvPr id="12" name="Text 10"/>
          <p:cNvSpPr txBox="1"/>
          <p:nvPr/>
        </p:nvSpPr>
        <p:spPr>
          <a:xfrm>
            <a:off x="6492240" y="2560320"/>
            <a:ext cx="4480560" cy="2377440"/>
          </a:xfrm>
          <a:prstGeom prst="rect">
            <a:avLst/>
          </a:prstGeom>
          <a:noFill/>
          <a:ln/>
        </p:spPr>
        <p:txBody>
          <a:bodyPr wrap="square" lIns="0" tIns="0" rIns="0" bIns="0" rtlCol="0" anchor="t">
            <a:normAutofit/>
          </a:bodyPr>
          <a:lstStyle/>
          <a:p>
            <a:pPr>
              <a:lnSpc>
                <a:spcPct val="110000"/>
              </a:lnSpc>
            </a:pPr>
            <a:r>
              <a:rPr lang="en-US" sz="1500">
                <a:solidFill>
                  <a:srgbClr val="63757E"/>
                </a:solidFill>
                <a:ea typeface="+mn-lt"/>
                <a:cs typeface="+mn-lt"/>
              </a:rPr>
              <a:t>Mapping Outcome-Based Education (OBE), including Course Outcomes (COs), Program Outcomes (POs), Bloom’s Taxonomy levels, and Knowledge, Practice, and Attitude (K-P-A), is often done manually using lengthy templates. This process takes a lot of time, involves repetitive tasks, and can easily lead to mistakes.</a:t>
            </a:r>
            <a:endParaRPr lang="en-US"/>
          </a:p>
          <a:p>
            <a:pPr marL="0" indent="0">
              <a:lnSpc>
                <a:spcPct val="110000"/>
              </a:lnSpc>
              <a:buNone/>
            </a:pPr>
            <a:endParaRPr lang="en-US" sz="1500">
              <a:solidFill>
                <a:srgbClr val="63757E"/>
              </a:solidFill>
              <a:ea typeface="Calibri"/>
              <a:cs typeface="Calibri"/>
            </a:endParaRPr>
          </a:p>
        </p:txBody>
      </p:sp>
      <p:sp>
        <p:nvSpPr>
          <p:cNvPr id="13" name="Text 11"/>
          <p:cNvSpPr txBox="1"/>
          <p:nvPr/>
        </p:nvSpPr>
        <p:spPr>
          <a:xfrm>
            <a:off x="548640" y="5440680"/>
            <a:ext cx="11091672" cy="640080"/>
          </a:xfrm>
          <a:prstGeom prst="rect">
            <a:avLst/>
          </a:prstGeom>
          <a:noFill/>
          <a:ln/>
        </p:spPr>
        <p:txBody>
          <a:bodyPr wrap="square" lIns="0" tIns="0" rIns="0" bIns="0" rtlCol="0" anchor="ctr">
            <a:normAutofit/>
          </a:bodyPr>
          <a:lstStyle/>
          <a:p>
            <a:pPr marL="0" indent="0" algn="ctr">
              <a:buNone/>
            </a:pPr>
            <a:r>
              <a:rPr lang="en-US" sz="1500" i="1">
                <a:solidFill>
                  <a:srgbClr val="0F3A4F"/>
                </a:solidFill>
                <a:latin typeface="Calibri" pitchFamily="34" charset="0"/>
                <a:ea typeface="Calibri" pitchFamily="34" charset="-122"/>
                <a:cs typeface="Calibri" pitchFamily="34" charset="-120"/>
              </a:rPr>
              <a:t>AdaptED tackles both — with AI agents that adapt to the learner, and a deterministic validator that checks OBE mappings.</a:t>
            </a:r>
            <a:endParaRPr lang="en-US" sz="15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777240"/>
          </a:xfrm>
          <a:prstGeom prst="rect">
            <a:avLst/>
          </a:prstGeom>
          <a:noFill/>
          <a:ln/>
        </p:spPr>
        <p:txBody>
          <a:bodyPr wrap="square" lIns="0" tIns="0" rIns="0" bIns="0" rtlCol="0" anchor="ctr"/>
          <a:lstStyle/>
          <a:p>
            <a:pPr marL="0" indent="0" algn="l">
              <a:buNone/>
            </a:pPr>
            <a:r>
              <a:rPr lang="en-US" sz="3200" b="1">
                <a:solidFill>
                  <a:srgbClr val="1B2A32"/>
                </a:solidFill>
                <a:latin typeface="Cambria" pitchFamily="34" charset="0"/>
                <a:ea typeface="Cambria" pitchFamily="34" charset="-122"/>
                <a:cs typeface="Cambria" pitchFamily="34" charset="-120"/>
              </a:rPr>
              <a:t>Objectives</a:t>
            </a:r>
            <a:endParaRPr lang="en-US" sz="3200"/>
          </a:p>
        </p:txBody>
      </p:sp>
      <p:sp>
        <p:nvSpPr>
          <p:cNvPr id="3" name="Shape 1"/>
          <p:cNvSpPr/>
          <p:nvPr/>
        </p:nvSpPr>
        <p:spPr>
          <a:xfrm>
            <a:off x="548640" y="1554480"/>
            <a:ext cx="5074920" cy="1645920"/>
          </a:xfrm>
          <a:prstGeom prst="roundRect">
            <a:avLst>
              <a:gd name="adj" fmla="val 5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4" name="Shape 2"/>
          <p:cNvSpPr/>
          <p:nvPr/>
        </p:nvSpPr>
        <p:spPr>
          <a:xfrm>
            <a:off x="868680" y="2011680"/>
            <a:ext cx="731520" cy="731520"/>
          </a:xfrm>
          <a:prstGeom prst="ellipse">
            <a:avLst/>
          </a:prstGeom>
          <a:solidFill>
            <a:srgbClr val="1C7293"/>
          </a:solidFill>
          <a:ln/>
        </p:spPr>
      </p:sp>
      <p:sp>
        <p:nvSpPr>
          <p:cNvPr id="5" name="Text 3"/>
          <p:cNvSpPr txBox="1"/>
          <p:nvPr/>
        </p:nvSpPr>
        <p:spPr>
          <a:xfrm>
            <a:off x="868680" y="2011680"/>
            <a:ext cx="731520" cy="731520"/>
          </a:xfrm>
          <a:prstGeom prst="rect">
            <a:avLst/>
          </a:prstGeom>
          <a:noFill/>
          <a:ln/>
        </p:spPr>
        <p:txBody>
          <a:bodyPr wrap="square" lIns="0" tIns="0" rIns="0" bIns="0" rtlCol="0" anchor="ctr"/>
          <a:lstStyle/>
          <a:p>
            <a:pPr marL="0" indent="0" algn="ctr">
              <a:buNone/>
            </a:pPr>
            <a:r>
              <a:rPr lang="en-US" sz="2200" b="1">
                <a:solidFill>
                  <a:srgbClr val="FFFFFF"/>
                </a:solidFill>
                <a:latin typeface="Cambria" pitchFamily="34" charset="0"/>
                <a:ea typeface="Cambria" pitchFamily="34" charset="-122"/>
                <a:cs typeface="Cambria" pitchFamily="34" charset="-120"/>
              </a:rPr>
              <a:t>1</a:t>
            </a:r>
            <a:endParaRPr lang="en-US" sz="2200"/>
          </a:p>
        </p:txBody>
      </p:sp>
      <p:sp>
        <p:nvSpPr>
          <p:cNvPr id="6" name="Text 4"/>
          <p:cNvSpPr txBox="1"/>
          <p:nvPr/>
        </p:nvSpPr>
        <p:spPr>
          <a:xfrm>
            <a:off x="1828800" y="1810512"/>
            <a:ext cx="3566160" cy="457200"/>
          </a:xfrm>
          <a:prstGeom prst="rect">
            <a:avLst/>
          </a:prstGeom>
          <a:noFill/>
          <a:ln/>
        </p:spPr>
        <p:txBody>
          <a:bodyPr wrap="square" lIns="0" tIns="0" rIns="0" bIns="0" rtlCol="0" anchor="ctr"/>
          <a:lstStyle/>
          <a:p>
            <a:pPr marL="0" indent="0">
              <a:buNone/>
            </a:pPr>
            <a:r>
              <a:rPr lang="en-US" sz="1800" b="1">
                <a:solidFill>
                  <a:srgbClr val="1B2A32"/>
                </a:solidFill>
                <a:latin typeface="Cambria" pitchFamily="34" charset="0"/>
                <a:ea typeface="Cambria" pitchFamily="34" charset="-122"/>
                <a:cs typeface="Cambria" pitchFamily="34" charset="-120"/>
              </a:rPr>
              <a:t>Personalize learning</a:t>
            </a:r>
            <a:endParaRPr lang="en-US" sz="1800"/>
          </a:p>
        </p:txBody>
      </p:sp>
      <p:sp>
        <p:nvSpPr>
          <p:cNvPr id="7" name="Text 5"/>
          <p:cNvSpPr txBox="1"/>
          <p:nvPr/>
        </p:nvSpPr>
        <p:spPr>
          <a:xfrm>
            <a:off x="1828800" y="2267712"/>
            <a:ext cx="3611880" cy="822960"/>
          </a:xfrm>
          <a:prstGeom prst="rect">
            <a:avLst/>
          </a:prstGeom>
          <a:noFill/>
          <a:ln/>
        </p:spPr>
        <p:txBody>
          <a:bodyPr wrap="square" lIns="0" tIns="0" rIns="0" bIns="0" rtlCol="0" anchor="ctr">
            <a:normAutofit/>
          </a:bodyPr>
          <a:lstStyle/>
          <a:p>
            <a:pPr marL="0" indent="0">
              <a:lnSpc>
                <a:spcPct val="105000"/>
              </a:lnSpc>
              <a:buNone/>
            </a:pPr>
            <a:r>
              <a:rPr lang="en-US" sz="1300">
                <a:solidFill>
                  <a:srgbClr val="63757E"/>
                </a:solidFill>
                <a:latin typeface="Calibri" pitchFamily="34" charset="0"/>
                <a:ea typeface="Calibri" pitchFamily="34" charset="-122"/>
                <a:cs typeface="Calibri" pitchFamily="34" charset="-120"/>
              </a:rPr>
              <a:t>Adapt lessons, quizzes and study plans to each student's measured strengths and weaknesses.</a:t>
            </a:r>
            <a:endParaRPr lang="en-US" sz="1300"/>
          </a:p>
        </p:txBody>
      </p:sp>
      <p:sp>
        <p:nvSpPr>
          <p:cNvPr id="8" name="Shape 6"/>
          <p:cNvSpPr/>
          <p:nvPr/>
        </p:nvSpPr>
        <p:spPr>
          <a:xfrm>
            <a:off x="6172200" y="1554480"/>
            <a:ext cx="5074920" cy="1645920"/>
          </a:xfrm>
          <a:prstGeom prst="roundRect">
            <a:avLst>
              <a:gd name="adj" fmla="val 5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9" name="Shape 7"/>
          <p:cNvSpPr/>
          <p:nvPr/>
        </p:nvSpPr>
        <p:spPr>
          <a:xfrm>
            <a:off x="6492240" y="2011680"/>
            <a:ext cx="731520" cy="731520"/>
          </a:xfrm>
          <a:prstGeom prst="ellipse">
            <a:avLst/>
          </a:prstGeom>
          <a:solidFill>
            <a:srgbClr val="E9A23B"/>
          </a:solidFill>
          <a:ln/>
        </p:spPr>
      </p:sp>
      <p:sp>
        <p:nvSpPr>
          <p:cNvPr id="10" name="Text 8"/>
          <p:cNvSpPr txBox="1"/>
          <p:nvPr/>
        </p:nvSpPr>
        <p:spPr>
          <a:xfrm>
            <a:off x="6492240" y="2011680"/>
            <a:ext cx="731520" cy="731520"/>
          </a:xfrm>
          <a:prstGeom prst="rect">
            <a:avLst/>
          </a:prstGeom>
          <a:noFill/>
          <a:ln/>
        </p:spPr>
        <p:txBody>
          <a:bodyPr wrap="square" lIns="0" tIns="0" rIns="0" bIns="0" rtlCol="0" anchor="ctr"/>
          <a:lstStyle/>
          <a:p>
            <a:pPr marL="0" indent="0" algn="ctr">
              <a:buNone/>
            </a:pPr>
            <a:r>
              <a:rPr lang="en-US" sz="2200" b="1">
                <a:solidFill>
                  <a:srgbClr val="FFFFFF"/>
                </a:solidFill>
                <a:latin typeface="Cambria" pitchFamily="34" charset="0"/>
                <a:ea typeface="Cambria" pitchFamily="34" charset="-122"/>
                <a:cs typeface="Cambria" pitchFamily="34" charset="-120"/>
              </a:rPr>
              <a:t>2</a:t>
            </a:r>
            <a:endParaRPr lang="en-US" sz="2200"/>
          </a:p>
        </p:txBody>
      </p:sp>
      <p:sp>
        <p:nvSpPr>
          <p:cNvPr id="11" name="Text 9"/>
          <p:cNvSpPr txBox="1"/>
          <p:nvPr/>
        </p:nvSpPr>
        <p:spPr>
          <a:xfrm>
            <a:off x="7452360" y="1810512"/>
            <a:ext cx="3566160" cy="457200"/>
          </a:xfrm>
          <a:prstGeom prst="rect">
            <a:avLst/>
          </a:prstGeom>
          <a:noFill/>
          <a:ln/>
        </p:spPr>
        <p:txBody>
          <a:bodyPr wrap="square" lIns="0" tIns="0" rIns="0" bIns="0" rtlCol="0" anchor="ctr"/>
          <a:lstStyle/>
          <a:p>
            <a:pPr marL="0" indent="0">
              <a:buNone/>
            </a:pPr>
            <a:r>
              <a:rPr lang="en-US" sz="1800" b="1">
                <a:solidFill>
                  <a:srgbClr val="1B2A32"/>
                </a:solidFill>
                <a:latin typeface="Cambria" pitchFamily="34" charset="0"/>
                <a:ea typeface="Cambria" pitchFamily="34" charset="-122"/>
                <a:cs typeface="Cambria" pitchFamily="34" charset="-120"/>
              </a:rPr>
              <a:t>Automate teaching work</a:t>
            </a:r>
            <a:endParaRPr lang="en-US" sz="1800"/>
          </a:p>
        </p:txBody>
      </p:sp>
      <p:sp>
        <p:nvSpPr>
          <p:cNvPr id="12" name="Text 10"/>
          <p:cNvSpPr txBox="1"/>
          <p:nvPr/>
        </p:nvSpPr>
        <p:spPr>
          <a:xfrm>
            <a:off x="7452360" y="2267712"/>
            <a:ext cx="3611880" cy="822960"/>
          </a:xfrm>
          <a:prstGeom prst="rect">
            <a:avLst/>
          </a:prstGeom>
          <a:noFill/>
          <a:ln/>
        </p:spPr>
        <p:txBody>
          <a:bodyPr wrap="square" lIns="0" tIns="0" rIns="0" bIns="0" rtlCol="0" anchor="ctr">
            <a:normAutofit/>
          </a:bodyPr>
          <a:lstStyle/>
          <a:p>
            <a:pPr marL="0" indent="0">
              <a:lnSpc>
                <a:spcPct val="105000"/>
              </a:lnSpc>
              <a:buNone/>
            </a:pPr>
            <a:r>
              <a:rPr lang="en-US" sz="1300">
                <a:solidFill>
                  <a:srgbClr val="63757E"/>
                </a:solidFill>
                <a:latin typeface="Calibri" pitchFamily="34" charset="0"/>
                <a:ea typeface="Calibri" pitchFamily="34" charset="-122"/>
                <a:cs typeface="Calibri" pitchFamily="34" charset="-120"/>
              </a:rPr>
              <a:t>Generate curriculum structure, lessons, quizzes, grading and recommendations for teachers.</a:t>
            </a:r>
            <a:endParaRPr lang="en-US" sz="1300"/>
          </a:p>
        </p:txBody>
      </p:sp>
      <p:sp>
        <p:nvSpPr>
          <p:cNvPr id="13" name="Shape 11"/>
          <p:cNvSpPr/>
          <p:nvPr/>
        </p:nvSpPr>
        <p:spPr>
          <a:xfrm>
            <a:off x="548640" y="3429000"/>
            <a:ext cx="5074920" cy="1645920"/>
          </a:xfrm>
          <a:prstGeom prst="roundRect">
            <a:avLst>
              <a:gd name="adj" fmla="val 5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14" name="Shape 12"/>
          <p:cNvSpPr/>
          <p:nvPr/>
        </p:nvSpPr>
        <p:spPr>
          <a:xfrm>
            <a:off x="868680" y="3886200"/>
            <a:ext cx="731520" cy="731520"/>
          </a:xfrm>
          <a:prstGeom prst="ellipse">
            <a:avLst/>
          </a:prstGeom>
          <a:solidFill>
            <a:srgbClr val="1C7293"/>
          </a:solidFill>
          <a:ln/>
        </p:spPr>
      </p:sp>
      <p:sp>
        <p:nvSpPr>
          <p:cNvPr id="15" name="Text 13"/>
          <p:cNvSpPr txBox="1"/>
          <p:nvPr/>
        </p:nvSpPr>
        <p:spPr>
          <a:xfrm>
            <a:off x="868680" y="3886200"/>
            <a:ext cx="731520" cy="731520"/>
          </a:xfrm>
          <a:prstGeom prst="rect">
            <a:avLst/>
          </a:prstGeom>
          <a:noFill/>
          <a:ln/>
        </p:spPr>
        <p:txBody>
          <a:bodyPr wrap="square" lIns="0" tIns="0" rIns="0" bIns="0" rtlCol="0" anchor="ctr"/>
          <a:lstStyle/>
          <a:p>
            <a:pPr marL="0" indent="0" algn="ctr">
              <a:buNone/>
            </a:pPr>
            <a:r>
              <a:rPr lang="en-US" sz="2200" b="1">
                <a:solidFill>
                  <a:srgbClr val="FFFFFF"/>
                </a:solidFill>
                <a:latin typeface="Cambria" pitchFamily="34" charset="0"/>
                <a:ea typeface="Cambria" pitchFamily="34" charset="-122"/>
                <a:cs typeface="Cambria" pitchFamily="34" charset="-120"/>
              </a:rPr>
              <a:t>3</a:t>
            </a:r>
            <a:endParaRPr lang="en-US" sz="2200"/>
          </a:p>
        </p:txBody>
      </p:sp>
      <p:sp>
        <p:nvSpPr>
          <p:cNvPr id="16" name="Text 14"/>
          <p:cNvSpPr txBox="1"/>
          <p:nvPr/>
        </p:nvSpPr>
        <p:spPr>
          <a:xfrm>
            <a:off x="1828800" y="3685032"/>
            <a:ext cx="3566160" cy="457200"/>
          </a:xfrm>
          <a:prstGeom prst="rect">
            <a:avLst/>
          </a:prstGeom>
          <a:noFill/>
          <a:ln/>
        </p:spPr>
        <p:txBody>
          <a:bodyPr wrap="square" lIns="0" tIns="0" rIns="0" bIns="0" rtlCol="0" anchor="ctr"/>
          <a:lstStyle/>
          <a:p>
            <a:pPr marL="0" indent="0">
              <a:buNone/>
            </a:pPr>
            <a:r>
              <a:rPr lang="en-US" sz="1800" b="1">
                <a:solidFill>
                  <a:srgbClr val="1B2A32"/>
                </a:solidFill>
                <a:latin typeface="Cambria" pitchFamily="34" charset="0"/>
                <a:ea typeface="Cambria" pitchFamily="34" charset="-122"/>
                <a:cs typeface="Cambria" pitchFamily="34" charset="-120"/>
              </a:rPr>
              <a:t>Validate OBE mappings</a:t>
            </a:r>
            <a:endParaRPr lang="en-US" sz="1800"/>
          </a:p>
        </p:txBody>
      </p:sp>
      <p:sp>
        <p:nvSpPr>
          <p:cNvPr id="17" name="Text 15"/>
          <p:cNvSpPr txBox="1"/>
          <p:nvPr/>
        </p:nvSpPr>
        <p:spPr>
          <a:xfrm>
            <a:off x="1828800" y="4142232"/>
            <a:ext cx="3611880" cy="822960"/>
          </a:xfrm>
          <a:prstGeom prst="rect">
            <a:avLst/>
          </a:prstGeom>
          <a:noFill/>
          <a:ln/>
        </p:spPr>
        <p:txBody>
          <a:bodyPr wrap="square" lIns="0" tIns="0" rIns="0" bIns="0" rtlCol="0" anchor="ctr">
            <a:normAutofit/>
          </a:bodyPr>
          <a:lstStyle/>
          <a:p>
            <a:pPr>
              <a:lnSpc>
                <a:spcPct val="105000"/>
              </a:lnSpc>
            </a:pPr>
            <a:r>
              <a:rPr lang="en-US" sz="1300">
                <a:solidFill>
                  <a:srgbClr val="63757E"/>
                </a:solidFill>
                <a:latin typeface="Calibri"/>
                <a:ea typeface="Calibri"/>
                <a:cs typeface="Calibri"/>
              </a:rPr>
              <a:t>Check CO to PO, Bloom levels and K-P-A against the AIUB CS OBE Manual  and author compliant outcomes.</a:t>
            </a:r>
            <a:endParaRPr lang="en-US" sz="1300">
              <a:latin typeface="Calibri"/>
              <a:ea typeface="Calibri"/>
              <a:cs typeface="Calibri"/>
            </a:endParaRPr>
          </a:p>
        </p:txBody>
      </p:sp>
      <p:sp>
        <p:nvSpPr>
          <p:cNvPr id="18" name="Shape 16"/>
          <p:cNvSpPr/>
          <p:nvPr/>
        </p:nvSpPr>
        <p:spPr>
          <a:xfrm>
            <a:off x="6172200" y="3429000"/>
            <a:ext cx="5074920" cy="1645920"/>
          </a:xfrm>
          <a:prstGeom prst="roundRect">
            <a:avLst>
              <a:gd name="adj" fmla="val 5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19" name="Shape 17"/>
          <p:cNvSpPr/>
          <p:nvPr/>
        </p:nvSpPr>
        <p:spPr>
          <a:xfrm>
            <a:off x="6492240" y="3886200"/>
            <a:ext cx="731520" cy="731520"/>
          </a:xfrm>
          <a:prstGeom prst="ellipse">
            <a:avLst/>
          </a:prstGeom>
          <a:solidFill>
            <a:srgbClr val="E9A23B"/>
          </a:solidFill>
          <a:ln/>
        </p:spPr>
      </p:sp>
      <p:sp>
        <p:nvSpPr>
          <p:cNvPr id="20" name="Text 18"/>
          <p:cNvSpPr txBox="1"/>
          <p:nvPr/>
        </p:nvSpPr>
        <p:spPr>
          <a:xfrm>
            <a:off x="6492240" y="3886200"/>
            <a:ext cx="731520" cy="731520"/>
          </a:xfrm>
          <a:prstGeom prst="rect">
            <a:avLst/>
          </a:prstGeom>
          <a:noFill/>
          <a:ln/>
        </p:spPr>
        <p:txBody>
          <a:bodyPr wrap="square" lIns="0" tIns="0" rIns="0" bIns="0" rtlCol="0" anchor="ctr"/>
          <a:lstStyle/>
          <a:p>
            <a:pPr marL="0" indent="0" algn="ctr">
              <a:buNone/>
            </a:pPr>
            <a:r>
              <a:rPr lang="en-US" sz="2200" b="1">
                <a:solidFill>
                  <a:srgbClr val="FFFFFF"/>
                </a:solidFill>
                <a:latin typeface="Cambria" pitchFamily="34" charset="0"/>
                <a:ea typeface="Cambria" pitchFamily="34" charset="-122"/>
                <a:cs typeface="Cambria" pitchFamily="34" charset="-120"/>
              </a:rPr>
              <a:t>4</a:t>
            </a:r>
            <a:endParaRPr lang="en-US" sz="2200"/>
          </a:p>
        </p:txBody>
      </p:sp>
      <p:sp>
        <p:nvSpPr>
          <p:cNvPr id="21" name="Text 19"/>
          <p:cNvSpPr txBox="1"/>
          <p:nvPr/>
        </p:nvSpPr>
        <p:spPr>
          <a:xfrm>
            <a:off x="7452360" y="3685032"/>
            <a:ext cx="3566160" cy="457200"/>
          </a:xfrm>
          <a:prstGeom prst="rect">
            <a:avLst/>
          </a:prstGeom>
          <a:noFill/>
          <a:ln/>
        </p:spPr>
        <p:txBody>
          <a:bodyPr wrap="square" lIns="0" tIns="0" rIns="0" bIns="0" rtlCol="0" anchor="ctr"/>
          <a:lstStyle/>
          <a:p>
            <a:pPr marL="0" indent="0">
              <a:buNone/>
            </a:pPr>
            <a:r>
              <a:rPr lang="en-US" sz="1800" b="1">
                <a:solidFill>
                  <a:srgbClr val="1B2A32"/>
                </a:solidFill>
                <a:latin typeface="Cambria" pitchFamily="34" charset="0"/>
                <a:ea typeface="Cambria" pitchFamily="34" charset="-122"/>
                <a:cs typeface="Cambria" pitchFamily="34" charset="-120"/>
              </a:rPr>
              <a:t>Observe &amp; control agents</a:t>
            </a:r>
            <a:endParaRPr lang="en-US" sz="1800"/>
          </a:p>
        </p:txBody>
      </p:sp>
      <p:sp>
        <p:nvSpPr>
          <p:cNvPr id="22" name="Text 20"/>
          <p:cNvSpPr txBox="1"/>
          <p:nvPr/>
        </p:nvSpPr>
        <p:spPr>
          <a:xfrm>
            <a:off x="7452360" y="4142232"/>
            <a:ext cx="3611880" cy="822960"/>
          </a:xfrm>
          <a:prstGeom prst="rect">
            <a:avLst/>
          </a:prstGeom>
          <a:noFill/>
          <a:ln/>
        </p:spPr>
        <p:txBody>
          <a:bodyPr wrap="square" lIns="0" tIns="0" rIns="0" bIns="0" rtlCol="0" anchor="ctr">
            <a:normAutofit/>
          </a:bodyPr>
          <a:lstStyle/>
          <a:p>
            <a:pPr marL="0" indent="0">
              <a:lnSpc>
                <a:spcPct val="105000"/>
              </a:lnSpc>
              <a:buNone/>
            </a:pPr>
            <a:r>
              <a:rPr lang="en-US" sz="1300">
                <a:solidFill>
                  <a:srgbClr val="63757E"/>
                </a:solidFill>
                <a:latin typeface="Calibri" pitchFamily="34" charset="0"/>
                <a:ea typeface="Calibri" pitchFamily="34" charset="-122"/>
                <a:cs typeface="Calibri" pitchFamily="34" charset="-120"/>
              </a:rPr>
              <a:t>Full visibility into the pipeline with human-in-the-loop approval, pause, cancel and retry.</a:t>
            </a:r>
            <a:endParaRPr lang="en-US" sz="13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777240"/>
          </a:xfrm>
          <a:prstGeom prst="rect">
            <a:avLst/>
          </a:prstGeom>
          <a:noFill/>
          <a:ln/>
        </p:spPr>
        <p:txBody>
          <a:bodyPr wrap="square" lIns="0" tIns="0" rIns="0" bIns="0" rtlCol="0" anchor="ctr"/>
          <a:lstStyle/>
          <a:p>
            <a:pPr marL="0" indent="0" algn="l">
              <a:buNone/>
            </a:pPr>
            <a:r>
              <a:rPr lang="en-US" sz="3200" b="1">
                <a:solidFill>
                  <a:srgbClr val="1B2A32"/>
                </a:solidFill>
                <a:latin typeface="Cambria" pitchFamily="34" charset="0"/>
                <a:ea typeface="Cambria" pitchFamily="34" charset="-122"/>
                <a:cs typeface="Cambria" pitchFamily="34" charset="-120"/>
              </a:rPr>
              <a:t>What is AdaptED?</a:t>
            </a:r>
            <a:endParaRPr lang="en-US" sz="3200"/>
          </a:p>
        </p:txBody>
      </p:sp>
      <p:sp>
        <p:nvSpPr>
          <p:cNvPr id="3" name="Text 1"/>
          <p:cNvSpPr txBox="1"/>
          <p:nvPr/>
        </p:nvSpPr>
        <p:spPr>
          <a:xfrm>
            <a:off x="548640" y="1234440"/>
            <a:ext cx="11091672" cy="822960"/>
          </a:xfrm>
          <a:prstGeom prst="rect">
            <a:avLst/>
          </a:prstGeom>
          <a:noFill/>
          <a:ln/>
        </p:spPr>
        <p:txBody>
          <a:bodyPr wrap="square" lIns="0" tIns="0" rIns="0" bIns="0" rtlCol="0" anchor="ctr">
            <a:normAutofit/>
          </a:bodyPr>
          <a:lstStyle/>
          <a:p>
            <a:pPr marL="0" indent="0">
              <a:buNone/>
            </a:pPr>
            <a:r>
              <a:rPr lang="en-US" sz="1500">
                <a:solidFill>
                  <a:srgbClr val="63757E"/>
                </a:solidFill>
                <a:latin typeface="Calibri" pitchFamily="34" charset="0"/>
                <a:ea typeface="Calibri" pitchFamily="34" charset="-122"/>
                <a:cs typeface="Calibri" pitchFamily="34" charset="-120"/>
              </a:rPr>
              <a:t>Instead of one large prompt doing everything, the work is split across many cooperating AI agents, each with one job, coordinated by a central Supervisor — with shared memory, RAG grounding, and full logging.</a:t>
            </a:r>
            <a:endParaRPr lang="en-US" sz="1500"/>
          </a:p>
        </p:txBody>
      </p:sp>
      <p:sp>
        <p:nvSpPr>
          <p:cNvPr id="4" name="Shape 2"/>
          <p:cNvSpPr/>
          <p:nvPr/>
        </p:nvSpPr>
        <p:spPr>
          <a:xfrm>
            <a:off x="548640" y="2286000"/>
            <a:ext cx="2606040" cy="2834640"/>
          </a:xfrm>
          <a:prstGeom prst="roundRect">
            <a:avLst>
              <a:gd name="adj" fmla="val 3158"/>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5" name="Shape 3"/>
          <p:cNvSpPr/>
          <p:nvPr/>
        </p:nvSpPr>
        <p:spPr>
          <a:xfrm>
            <a:off x="868680" y="2606040"/>
            <a:ext cx="822960" cy="822960"/>
          </a:xfrm>
          <a:prstGeom prst="ellipse">
            <a:avLst/>
          </a:prstGeom>
          <a:solidFill>
            <a:srgbClr val="1C7293"/>
          </a:solidFill>
          <a:ln/>
        </p:spPr>
      </p:sp>
      <p:sp>
        <p:nvSpPr>
          <p:cNvPr id="6" name="Text 4"/>
          <p:cNvSpPr txBox="1"/>
          <p:nvPr/>
        </p:nvSpPr>
        <p:spPr>
          <a:xfrm>
            <a:off x="868680" y="2606040"/>
            <a:ext cx="822960" cy="822960"/>
          </a:xfrm>
          <a:prstGeom prst="rect">
            <a:avLst/>
          </a:prstGeom>
          <a:noFill/>
          <a:ln/>
        </p:spPr>
        <p:txBody>
          <a:bodyPr wrap="square" lIns="0" tIns="0" rIns="0" bIns="0" rtlCol="0" anchor="ctr"/>
          <a:lstStyle/>
          <a:p>
            <a:pPr marL="0" indent="0" algn="ctr">
              <a:buNone/>
            </a:pPr>
            <a:r>
              <a:rPr lang="en-US" sz="2400" b="1">
                <a:solidFill>
                  <a:srgbClr val="FFFFFF"/>
                </a:solidFill>
                <a:latin typeface="Cambria" pitchFamily="34" charset="0"/>
                <a:ea typeface="Cambria" pitchFamily="34" charset="-122"/>
                <a:cs typeface="Cambria" pitchFamily="34" charset="-120"/>
              </a:rPr>
              <a:t>1</a:t>
            </a:r>
            <a:endParaRPr lang="en-US" sz="2400"/>
          </a:p>
        </p:txBody>
      </p:sp>
      <p:sp>
        <p:nvSpPr>
          <p:cNvPr id="7" name="Text 5"/>
          <p:cNvSpPr txBox="1"/>
          <p:nvPr/>
        </p:nvSpPr>
        <p:spPr>
          <a:xfrm>
            <a:off x="822960" y="3611880"/>
            <a:ext cx="2103120" cy="457200"/>
          </a:xfrm>
          <a:prstGeom prst="rect">
            <a:avLst/>
          </a:prstGeom>
          <a:noFill/>
          <a:ln/>
        </p:spPr>
        <p:txBody>
          <a:bodyPr wrap="square" lIns="0" tIns="0" rIns="0" bIns="0" rtlCol="0" anchor="ctr"/>
          <a:lstStyle/>
          <a:p>
            <a:pPr marL="0" indent="0">
              <a:buNone/>
            </a:pPr>
            <a:r>
              <a:rPr lang="en-US" sz="1800" b="1">
                <a:solidFill>
                  <a:srgbClr val="1B2A32"/>
                </a:solidFill>
                <a:latin typeface="Cambria" pitchFamily="34" charset="0"/>
                <a:ea typeface="Cambria" pitchFamily="34" charset="-122"/>
                <a:cs typeface="Cambria" pitchFamily="34" charset="-120"/>
              </a:rPr>
              <a:t>Multi-Agent</a:t>
            </a:r>
            <a:endParaRPr lang="en-US" sz="1800"/>
          </a:p>
        </p:txBody>
      </p:sp>
      <p:sp>
        <p:nvSpPr>
          <p:cNvPr id="8" name="Text 6"/>
          <p:cNvSpPr txBox="1"/>
          <p:nvPr/>
        </p:nvSpPr>
        <p:spPr>
          <a:xfrm>
            <a:off x="822960" y="4114800"/>
            <a:ext cx="2148840" cy="914400"/>
          </a:xfrm>
          <a:prstGeom prst="rect">
            <a:avLst/>
          </a:prstGeom>
          <a:noFill/>
          <a:ln/>
        </p:spPr>
        <p:txBody>
          <a:bodyPr wrap="square" lIns="0" tIns="0" rIns="0" bIns="0" rtlCol="0" anchor="ctr">
            <a:normAutofit/>
          </a:bodyPr>
          <a:lstStyle/>
          <a:p>
            <a:pPr marL="0" indent="0">
              <a:lnSpc>
                <a:spcPct val="105000"/>
              </a:lnSpc>
              <a:buNone/>
            </a:pPr>
            <a:r>
              <a:rPr lang="en-US" sz="1300">
                <a:solidFill>
                  <a:srgbClr val="63757E"/>
                </a:solidFill>
                <a:latin typeface="Calibri" pitchFamily="34" charset="0"/>
                <a:ea typeface="Calibri" pitchFamily="34" charset="-122"/>
                <a:cs typeface="Calibri" pitchFamily="34" charset="-120"/>
              </a:rPr>
              <a:t>Supervisor + 8 specialists over a LangGraph pipeline</a:t>
            </a:r>
            <a:endParaRPr lang="en-US" sz="1300"/>
          </a:p>
        </p:txBody>
      </p:sp>
      <p:sp>
        <p:nvSpPr>
          <p:cNvPr id="9" name="Shape 7"/>
          <p:cNvSpPr/>
          <p:nvPr/>
        </p:nvSpPr>
        <p:spPr>
          <a:xfrm>
            <a:off x="3346704" y="2286000"/>
            <a:ext cx="2606040" cy="2834640"/>
          </a:xfrm>
          <a:prstGeom prst="roundRect">
            <a:avLst>
              <a:gd name="adj" fmla="val 3158"/>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10" name="Shape 8"/>
          <p:cNvSpPr/>
          <p:nvPr/>
        </p:nvSpPr>
        <p:spPr>
          <a:xfrm>
            <a:off x="3666744" y="2606040"/>
            <a:ext cx="822960" cy="822960"/>
          </a:xfrm>
          <a:prstGeom prst="ellipse">
            <a:avLst/>
          </a:prstGeom>
          <a:solidFill>
            <a:srgbClr val="2BB3A3"/>
          </a:solidFill>
          <a:ln/>
        </p:spPr>
      </p:sp>
      <p:sp>
        <p:nvSpPr>
          <p:cNvPr id="11" name="Text 9"/>
          <p:cNvSpPr txBox="1"/>
          <p:nvPr/>
        </p:nvSpPr>
        <p:spPr>
          <a:xfrm>
            <a:off x="3666744" y="2606040"/>
            <a:ext cx="822960" cy="822960"/>
          </a:xfrm>
          <a:prstGeom prst="rect">
            <a:avLst/>
          </a:prstGeom>
          <a:noFill/>
          <a:ln/>
        </p:spPr>
        <p:txBody>
          <a:bodyPr wrap="square" lIns="0" tIns="0" rIns="0" bIns="0" rtlCol="0" anchor="ctr"/>
          <a:lstStyle/>
          <a:p>
            <a:pPr marL="0" indent="0" algn="ctr">
              <a:buNone/>
            </a:pPr>
            <a:r>
              <a:rPr lang="en-US" sz="2400" b="1">
                <a:solidFill>
                  <a:srgbClr val="FFFFFF"/>
                </a:solidFill>
                <a:latin typeface="Cambria" pitchFamily="34" charset="0"/>
                <a:ea typeface="Cambria" pitchFamily="34" charset="-122"/>
                <a:cs typeface="Cambria" pitchFamily="34" charset="-120"/>
              </a:rPr>
              <a:t>2</a:t>
            </a:r>
            <a:endParaRPr lang="en-US" sz="2400"/>
          </a:p>
        </p:txBody>
      </p:sp>
      <p:sp>
        <p:nvSpPr>
          <p:cNvPr id="12" name="Text 10"/>
          <p:cNvSpPr txBox="1"/>
          <p:nvPr/>
        </p:nvSpPr>
        <p:spPr>
          <a:xfrm>
            <a:off x="3621024" y="3611880"/>
            <a:ext cx="2103120" cy="457200"/>
          </a:xfrm>
          <a:prstGeom prst="rect">
            <a:avLst/>
          </a:prstGeom>
          <a:noFill/>
          <a:ln/>
        </p:spPr>
        <p:txBody>
          <a:bodyPr wrap="square" lIns="0" tIns="0" rIns="0" bIns="0" rtlCol="0" anchor="ctr"/>
          <a:lstStyle/>
          <a:p>
            <a:pPr marL="0" indent="0">
              <a:buNone/>
            </a:pPr>
            <a:r>
              <a:rPr lang="en-US" sz="1800" b="1">
                <a:solidFill>
                  <a:srgbClr val="1B2A32"/>
                </a:solidFill>
                <a:latin typeface="Cambria" pitchFamily="34" charset="0"/>
                <a:ea typeface="Cambria" pitchFamily="34" charset="-122"/>
                <a:cs typeface="Cambria" pitchFamily="34" charset="-120"/>
              </a:rPr>
              <a:t>RAG</a:t>
            </a:r>
            <a:endParaRPr lang="en-US" sz="1800"/>
          </a:p>
        </p:txBody>
      </p:sp>
      <p:sp>
        <p:nvSpPr>
          <p:cNvPr id="13" name="Text 11"/>
          <p:cNvSpPr txBox="1"/>
          <p:nvPr/>
        </p:nvSpPr>
        <p:spPr>
          <a:xfrm>
            <a:off x="3621024" y="4114800"/>
            <a:ext cx="2148840" cy="914400"/>
          </a:xfrm>
          <a:prstGeom prst="rect">
            <a:avLst/>
          </a:prstGeom>
          <a:noFill/>
          <a:ln/>
        </p:spPr>
        <p:txBody>
          <a:bodyPr wrap="square" lIns="0" tIns="0" rIns="0" bIns="0" rtlCol="0" anchor="ctr">
            <a:normAutofit/>
          </a:bodyPr>
          <a:lstStyle/>
          <a:p>
            <a:pPr marL="0" indent="0">
              <a:lnSpc>
                <a:spcPct val="105000"/>
              </a:lnSpc>
              <a:buNone/>
            </a:pPr>
            <a:r>
              <a:rPr lang="en-US" sz="1300">
                <a:solidFill>
                  <a:srgbClr val="63757E"/>
                </a:solidFill>
                <a:latin typeface="Calibri" pitchFamily="34" charset="0"/>
                <a:ea typeface="Calibri" pitchFamily="34" charset="-122"/>
                <a:cs typeface="Calibri" pitchFamily="34" charset="-120"/>
              </a:rPr>
              <a:t>Answers grounded in the teacher's own uploaded material</a:t>
            </a:r>
            <a:endParaRPr lang="en-US" sz="1300"/>
          </a:p>
        </p:txBody>
      </p:sp>
      <p:sp>
        <p:nvSpPr>
          <p:cNvPr id="14" name="Shape 12"/>
          <p:cNvSpPr/>
          <p:nvPr/>
        </p:nvSpPr>
        <p:spPr>
          <a:xfrm>
            <a:off x="6144768" y="2286000"/>
            <a:ext cx="2606040" cy="2834640"/>
          </a:xfrm>
          <a:prstGeom prst="roundRect">
            <a:avLst>
              <a:gd name="adj" fmla="val 3158"/>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15" name="Shape 13"/>
          <p:cNvSpPr/>
          <p:nvPr/>
        </p:nvSpPr>
        <p:spPr>
          <a:xfrm>
            <a:off x="6464808" y="2606040"/>
            <a:ext cx="822960" cy="822960"/>
          </a:xfrm>
          <a:prstGeom prst="ellipse">
            <a:avLst/>
          </a:prstGeom>
          <a:solidFill>
            <a:srgbClr val="E9A23B"/>
          </a:solidFill>
          <a:ln/>
        </p:spPr>
      </p:sp>
      <p:sp>
        <p:nvSpPr>
          <p:cNvPr id="16" name="Text 14"/>
          <p:cNvSpPr txBox="1"/>
          <p:nvPr/>
        </p:nvSpPr>
        <p:spPr>
          <a:xfrm>
            <a:off x="6464808" y="2606040"/>
            <a:ext cx="822960" cy="822960"/>
          </a:xfrm>
          <a:prstGeom prst="rect">
            <a:avLst/>
          </a:prstGeom>
          <a:noFill/>
          <a:ln/>
        </p:spPr>
        <p:txBody>
          <a:bodyPr wrap="square" lIns="0" tIns="0" rIns="0" bIns="0" rtlCol="0" anchor="ctr"/>
          <a:lstStyle/>
          <a:p>
            <a:pPr marL="0" indent="0" algn="ctr">
              <a:buNone/>
            </a:pPr>
            <a:r>
              <a:rPr lang="en-US" sz="2400" b="1">
                <a:solidFill>
                  <a:srgbClr val="FFFFFF"/>
                </a:solidFill>
                <a:latin typeface="Cambria" pitchFamily="34" charset="0"/>
                <a:ea typeface="Cambria" pitchFamily="34" charset="-122"/>
                <a:cs typeface="Cambria" pitchFamily="34" charset="-120"/>
              </a:rPr>
              <a:t>3</a:t>
            </a:r>
            <a:endParaRPr lang="en-US" sz="2400"/>
          </a:p>
        </p:txBody>
      </p:sp>
      <p:sp>
        <p:nvSpPr>
          <p:cNvPr id="17" name="Text 15"/>
          <p:cNvSpPr txBox="1"/>
          <p:nvPr/>
        </p:nvSpPr>
        <p:spPr>
          <a:xfrm>
            <a:off x="6419088" y="3611880"/>
            <a:ext cx="2103120" cy="457200"/>
          </a:xfrm>
          <a:prstGeom prst="rect">
            <a:avLst/>
          </a:prstGeom>
          <a:noFill/>
          <a:ln/>
        </p:spPr>
        <p:txBody>
          <a:bodyPr wrap="square" lIns="0" tIns="0" rIns="0" bIns="0" rtlCol="0" anchor="ctr"/>
          <a:lstStyle/>
          <a:p>
            <a:pPr marL="0" indent="0">
              <a:buNone/>
            </a:pPr>
            <a:r>
              <a:rPr lang="en-US" sz="1800" b="1">
                <a:solidFill>
                  <a:srgbClr val="1B2A32"/>
                </a:solidFill>
                <a:latin typeface="Cambria" pitchFamily="34" charset="0"/>
                <a:ea typeface="Cambria" pitchFamily="34" charset="-122"/>
                <a:cs typeface="Cambria" pitchFamily="34" charset="-120"/>
              </a:rPr>
              <a:t>Student Memory</a:t>
            </a:r>
            <a:endParaRPr lang="en-US" sz="1800"/>
          </a:p>
        </p:txBody>
      </p:sp>
      <p:sp>
        <p:nvSpPr>
          <p:cNvPr id="18" name="Text 16"/>
          <p:cNvSpPr txBox="1"/>
          <p:nvPr/>
        </p:nvSpPr>
        <p:spPr>
          <a:xfrm>
            <a:off x="6419088" y="4114800"/>
            <a:ext cx="2148840" cy="914400"/>
          </a:xfrm>
          <a:prstGeom prst="rect">
            <a:avLst/>
          </a:prstGeom>
          <a:noFill/>
          <a:ln/>
        </p:spPr>
        <p:txBody>
          <a:bodyPr wrap="square" lIns="0" tIns="0" rIns="0" bIns="0" rtlCol="0" anchor="ctr">
            <a:normAutofit/>
          </a:bodyPr>
          <a:lstStyle/>
          <a:p>
            <a:pPr marL="0" indent="0">
              <a:lnSpc>
                <a:spcPct val="105000"/>
              </a:lnSpc>
              <a:buNone/>
            </a:pPr>
            <a:r>
              <a:rPr lang="en-US" sz="1300">
                <a:solidFill>
                  <a:srgbClr val="63757E"/>
                </a:solidFill>
                <a:latin typeface="Calibri" pitchFamily="34" charset="0"/>
                <a:ea typeface="Calibri" pitchFamily="34" charset="-122"/>
                <a:cs typeface="Calibri" pitchFamily="34" charset="-120"/>
              </a:rPr>
              <a:t>Persistent mastery, history, misconceptions, preferences</a:t>
            </a:r>
            <a:endParaRPr lang="en-US" sz="1300"/>
          </a:p>
        </p:txBody>
      </p:sp>
      <p:sp>
        <p:nvSpPr>
          <p:cNvPr id="19" name="Shape 17"/>
          <p:cNvSpPr/>
          <p:nvPr/>
        </p:nvSpPr>
        <p:spPr>
          <a:xfrm>
            <a:off x="8942832" y="2286000"/>
            <a:ext cx="2606040" cy="2834640"/>
          </a:xfrm>
          <a:prstGeom prst="roundRect">
            <a:avLst>
              <a:gd name="adj" fmla="val 3158"/>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20" name="Shape 18"/>
          <p:cNvSpPr/>
          <p:nvPr/>
        </p:nvSpPr>
        <p:spPr>
          <a:xfrm>
            <a:off x="9262872" y="2606040"/>
            <a:ext cx="822960" cy="822960"/>
          </a:xfrm>
          <a:prstGeom prst="ellipse">
            <a:avLst/>
          </a:prstGeom>
          <a:solidFill>
            <a:srgbClr val="0F3A4F"/>
          </a:solidFill>
          <a:ln/>
        </p:spPr>
      </p:sp>
      <p:sp>
        <p:nvSpPr>
          <p:cNvPr id="21" name="Text 19"/>
          <p:cNvSpPr txBox="1"/>
          <p:nvPr/>
        </p:nvSpPr>
        <p:spPr>
          <a:xfrm>
            <a:off x="9262872" y="2606040"/>
            <a:ext cx="822960" cy="822960"/>
          </a:xfrm>
          <a:prstGeom prst="rect">
            <a:avLst/>
          </a:prstGeom>
          <a:noFill/>
          <a:ln/>
        </p:spPr>
        <p:txBody>
          <a:bodyPr wrap="square" lIns="0" tIns="0" rIns="0" bIns="0" rtlCol="0" anchor="ctr"/>
          <a:lstStyle/>
          <a:p>
            <a:pPr marL="0" indent="0" algn="ctr">
              <a:buNone/>
            </a:pPr>
            <a:r>
              <a:rPr lang="en-US" sz="2400" b="1">
                <a:solidFill>
                  <a:srgbClr val="FFFFFF"/>
                </a:solidFill>
                <a:latin typeface="Cambria" pitchFamily="34" charset="0"/>
                <a:ea typeface="Cambria" pitchFamily="34" charset="-122"/>
                <a:cs typeface="Cambria" pitchFamily="34" charset="-120"/>
              </a:rPr>
              <a:t>4</a:t>
            </a:r>
            <a:endParaRPr lang="en-US" sz="2400"/>
          </a:p>
        </p:txBody>
      </p:sp>
      <p:sp>
        <p:nvSpPr>
          <p:cNvPr id="22" name="Text 20"/>
          <p:cNvSpPr txBox="1"/>
          <p:nvPr/>
        </p:nvSpPr>
        <p:spPr>
          <a:xfrm>
            <a:off x="9217152" y="3611880"/>
            <a:ext cx="2103120" cy="457200"/>
          </a:xfrm>
          <a:prstGeom prst="rect">
            <a:avLst/>
          </a:prstGeom>
          <a:noFill/>
          <a:ln/>
        </p:spPr>
        <p:txBody>
          <a:bodyPr wrap="square" lIns="0" tIns="0" rIns="0" bIns="0" rtlCol="0" anchor="ctr"/>
          <a:lstStyle/>
          <a:p>
            <a:pPr marL="0" indent="0">
              <a:buNone/>
            </a:pPr>
            <a:r>
              <a:rPr lang="en-US" sz="1800" b="1">
                <a:solidFill>
                  <a:srgbClr val="1B2A32"/>
                </a:solidFill>
                <a:latin typeface="Cambria" pitchFamily="34" charset="0"/>
                <a:ea typeface="Cambria" pitchFamily="34" charset="-122"/>
                <a:cs typeface="Cambria" pitchFamily="34" charset="-120"/>
              </a:rPr>
              <a:t>OBE Tools</a:t>
            </a:r>
            <a:endParaRPr lang="en-US" sz="1800"/>
          </a:p>
        </p:txBody>
      </p:sp>
      <p:sp>
        <p:nvSpPr>
          <p:cNvPr id="23" name="Text 21"/>
          <p:cNvSpPr txBox="1"/>
          <p:nvPr/>
        </p:nvSpPr>
        <p:spPr>
          <a:xfrm>
            <a:off x="9217152" y="4114800"/>
            <a:ext cx="2148840" cy="914400"/>
          </a:xfrm>
          <a:prstGeom prst="rect">
            <a:avLst/>
          </a:prstGeom>
          <a:noFill/>
          <a:ln/>
        </p:spPr>
        <p:txBody>
          <a:bodyPr wrap="square" lIns="0" tIns="0" rIns="0" bIns="0" rtlCol="0" anchor="ctr">
            <a:normAutofit/>
          </a:bodyPr>
          <a:lstStyle/>
          <a:p>
            <a:pPr marL="0" indent="0">
              <a:lnSpc>
                <a:spcPct val="105000"/>
              </a:lnSpc>
              <a:buNone/>
            </a:pPr>
            <a:r>
              <a:rPr lang="en-US" sz="1300">
                <a:solidFill>
                  <a:srgbClr val="63757E"/>
                </a:solidFill>
                <a:latin typeface="Calibri" pitchFamily="34" charset="0"/>
                <a:ea typeface="Calibri" pitchFamily="34" charset="-122"/>
                <a:cs typeface="Calibri" pitchFamily="34" charset="-120"/>
              </a:rPr>
              <a:t>Validate and author outcome-based course outlines</a:t>
            </a:r>
            <a:endParaRPr lang="en-US" sz="13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777240"/>
          </a:xfrm>
          <a:prstGeom prst="rect">
            <a:avLst/>
          </a:prstGeom>
          <a:noFill/>
          <a:ln/>
        </p:spPr>
        <p:txBody>
          <a:bodyPr wrap="square" lIns="0" tIns="0" rIns="0" bIns="0" rtlCol="0" anchor="ctr"/>
          <a:lstStyle/>
          <a:p>
            <a:pPr marL="0" indent="0" algn="l">
              <a:buNone/>
            </a:pPr>
            <a:r>
              <a:rPr lang="en-US" sz="3200" b="1">
                <a:solidFill>
                  <a:srgbClr val="1B2A32"/>
                </a:solidFill>
                <a:latin typeface="Cambria" pitchFamily="34" charset="0"/>
                <a:ea typeface="Cambria" pitchFamily="34" charset="-122"/>
                <a:cs typeface="Cambria" pitchFamily="34" charset="-120"/>
              </a:rPr>
              <a:t>System Architecture</a:t>
            </a:r>
            <a:endParaRPr lang="en-US" sz="3200"/>
          </a:p>
        </p:txBody>
      </p:sp>
      <p:sp>
        <p:nvSpPr>
          <p:cNvPr id="3" name="Shape 1"/>
          <p:cNvSpPr/>
          <p:nvPr/>
        </p:nvSpPr>
        <p:spPr>
          <a:xfrm>
            <a:off x="1828800" y="1417320"/>
            <a:ext cx="8503920" cy="658368"/>
          </a:xfrm>
          <a:prstGeom prst="roundRect">
            <a:avLst>
              <a:gd name="adj" fmla="val 125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4" name="Shape 2"/>
          <p:cNvSpPr/>
          <p:nvPr/>
        </p:nvSpPr>
        <p:spPr>
          <a:xfrm>
            <a:off x="1828800" y="1417320"/>
            <a:ext cx="146304" cy="658368"/>
          </a:xfrm>
          <a:prstGeom prst="roundRect">
            <a:avLst>
              <a:gd name="adj" fmla="val 31250"/>
            </a:avLst>
          </a:prstGeom>
          <a:solidFill>
            <a:srgbClr val="1C7293"/>
          </a:solidFill>
          <a:ln/>
        </p:spPr>
      </p:sp>
      <p:sp>
        <p:nvSpPr>
          <p:cNvPr id="5" name="Text 3"/>
          <p:cNvSpPr txBox="1"/>
          <p:nvPr/>
        </p:nvSpPr>
        <p:spPr>
          <a:xfrm>
            <a:off x="2148840" y="1417320"/>
            <a:ext cx="2743200" cy="658368"/>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Client</a:t>
            </a:r>
            <a:endParaRPr lang="en-US" sz="1450"/>
          </a:p>
        </p:txBody>
      </p:sp>
      <p:sp>
        <p:nvSpPr>
          <p:cNvPr id="6" name="Text 4"/>
          <p:cNvSpPr txBox="1"/>
          <p:nvPr/>
        </p:nvSpPr>
        <p:spPr>
          <a:xfrm>
            <a:off x="4937760" y="1417320"/>
            <a:ext cx="5257800" cy="658368"/>
          </a:xfrm>
          <a:prstGeom prst="rect">
            <a:avLst/>
          </a:prstGeom>
          <a:noFill/>
          <a:ln/>
        </p:spPr>
        <p:txBody>
          <a:bodyPr wrap="square" lIns="0" tIns="0" rIns="0" bIns="0" rtlCol="0" anchor="ctr">
            <a:normAutofit/>
          </a:bodyPr>
          <a:lstStyle/>
          <a:p>
            <a:pPr marL="0" indent="0">
              <a:buNone/>
            </a:pPr>
            <a:r>
              <a:rPr lang="en-US" sz="1150">
                <a:solidFill>
                  <a:srgbClr val="63757E"/>
                </a:solidFill>
                <a:latin typeface="Calibri" pitchFamily="34" charset="0"/>
                <a:ea typeface="Calibri" pitchFamily="34" charset="-122"/>
                <a:cs typeface="Calibri" pitchFamily="34" charset="-120"/>
              </a:rPr>
              <a:t>Streamlit web UI  ·  API client</a:t>
            </a:r>
            <a:endParaRPr lang="en-US" sz="1150"/>
          </a:p>
        </p:txBody>
      </p:sp>
      <p:sp>
        <p:nvSpPr>
          <p:cNvPr id="7" name="Shape 5"/>
          <p:cNvSpPr/>
          <p:nvPr/>
        </p:nvSpPr>
        <p:spPr>
          <a:xfrm>
            <a:off x="6080760" y="2084832"/>
            <a:ext cx="0" cy="256032"/>
          </a:xfrm>
          <a:prstGeom prst="line">
            <a:avLst/>
          </a:prstGeom>
          <a:noFill/>
          <a:ln w="22225">
            <a:solidFill>
              <a:srgbClr val="63757E"/>
            </a:solidFill>
            <a:prstDash val="solid"/>
            <a:tailEnd type="triangle"/>
          </a:ln>
        </p:spPr>
      </p:sp>
      <p:sp>
        <p:nvSpPr>
          <p:cNvPr id="8" name="Shape 6"/>
          <p:cNvSpPr/>
          <p:nvPr/>
        </p:nvSpPr>
        <p:spPr>
          <a:xfrm>
            <a:off x="1828800" y="2359152"/>
            <a:ext cx="8503920" cy="658368"/>
          </a:xfrm>
          <a:prstGeom prst="roundRect">
            <a:avLst>
              <a:gd name="adj" fmla="val 125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9" name="Shape 7"/>
          <p:cNvSpPr/>
          <p:nvPr/>
        </p:nvSpPr>
        <p:spPr>
          <a:xfrm>
            <a:off x="1828800" y="2359152"/>
            <a:ext cx="146304" cy="658368"/>
          </a:xfrm>
          <a:prstGeom prst="roundRect">
            <a:avLst>
              <a:gd name="adj" fmla="val 31250"/>
            </a:avLst>
          </a:prstGeom>
          <a:solidFill>
            <a:srgbClr val="0F3A4F"/>
          </a:solidFill>
          <a:ln/>
        </p:spPr>
      </p:sp>
      <p:sp>
        <p:nvSpPr>
          <p:cNvPr id="10" name="Text 8"/>
          <p:cNvSpPr txBox="1"/>
          <p:nvPr/>
        </p:nvSpPr>
        <p:spPr>
          <a:xfrm>
            <a:off x="2148840" y="2359152"/>
            <a:ext cx="2743200" cy="658368"/>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API — FastAPI</a:t>
            </a:r>
            <a:endParaRPr lang="en-US" sz="1450"/>
          </a:p>
        </p:txBody>
      </p:sp>
      <p:sp>
        <p:nvSpPr>
          <p:cNvPr id="11" name="Text 9"/>
          <p:cNvSpPr txBox="1"/>
          <p:nvPr/>
        </p:nvSpPr>
        <p:spPr>
          <a:xfrm>
            <a:off x="4937760" y="2359152"/>
            <a:ext cx="5257800" cy="658368"/>
          </a:xfrm>
          <a:prstGeom prst="rect">
            <a:avLst/>
          </a:prstGeom>
          <a:noFill/>
          <a:ln/>
        </p:spPr>
        <p:txBody>
          <a:bodyPr wrap="square" lIns="0" tIns="0" rIns="0" bIns="0" rtlCol="0" anchor="ctr">
            <a:normAutofit/>
          </a:bodyPr>
          <a:lstStyle/>
          <a:p>
            <a:pPr marL="0" indent="0">
              <a:buNone/>
            </a:pPr>
            <a:r>
              <a:rPr lang="en-US" sz="1150">
                <a:solidFill>
                  <a:srgbClr val="63757E"/>
                </a:solidFill>
                <a:latin typeface="Calibri" pitchFamily="34" charset="0"/>
                <a:ea typeface="Calibri" pitchFamily="34" charset="-122"/>
                <a:cs typeface="Calibri" pitchFamily="34" charset="-120"/>
              </a:rPr>
              <a:t>auth · courses · curriculum · lessons · quizzes · students · agent · obe · logs  (JWT + roles)</a:t>
            </a:r>
            <a:endParaRPr lang="en-US" sz="1150"/>
          </a:p>
        </p:txBody>
      </p:sp>
      <p:sp>
        <p:nvSpPr>
          <p:cNvPr id="12" name="Shape 10"/>
          <p:cNvSpPr/>
          <p:nvPr/>
        </p:nvSpPr>
        <p:spPr>
          <a:xfrm>
            <a:off x="6080760" y="3026664"/>
            <a:ext cx="0" cy="256032"/>
          </a:xfrm>
          <a:prstGeom prst="line">
            <a:avLst/>
          </a:prstGeom>
          <a:noFill/>
          <a:ln w="22225">
            <a:solidFill>
              <a:srgbClr val="63757E"/>
            </a:solidFill>
            <a:prstDash val="solid"/>
            <a:tailEnd type="triangle"/>
          </a:ln>
        </p:spPr>
      </p:sp>
      <p:sp>
        <p:nvSpPr>
          <p:cNvPr id="13" name="Shape 11"/>
          <p:cNvSpPr/>
          <p:nvPr/>
        </p:nvSpPr>
        <p:spPr>
          <a:xfrm>
            <a:off x="1828800" y="3300984"/>
            <a:ext cx="8503920" cy="658368"/>
          </a:xfrm>
          <a:prstGeom prst="roundRect">
            <a:avLst>
              <a:gd name="adj" fmla="val 125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14" name="Shape 12"/>
          <p:cNvSpPr/>
          <p:nvPr/>
        </p:nvSpPr>
        <p:spPr>
          <a:xfrm>
            <a:off x="1828800" y="3300984"/>
            <a:ext cx="146304" cy="658368"/>
          </a:xfrm>
          <a:prstGeom prst="roundRect">
            <a:avLst>
              <a:gd name="adj" fmla="val 31250"/>
            </a:avLst>
          </a:prstGeom>
          <a:solidFill>
            <a:srgbClr val="E9A23B"/>
          </a:solidFill>
          <a:ln/>
        </p:spPr>
      </p:sp>
      <p:sp>
        <p:nvSpPr>
          <p:cNvPr id="15" name="Text 13"/>
          <p:cNvSpPr txBox="1"/>
          <p:nvPr/>
        </p:nvSpPr>
        <p:spPr>
          <a:xfrm>
            <a:off x="2148840" y="3300984"/>
            <a:ext cx="2743200" cy="658368"/>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Orchestration</a:t>
            </a:r>
            <a:endParaRPr lang="en-US" sz="1450"/>
          </a:p>
        </p:txBody>
      </p:sp>
      <p:sp>
        <p:nvSpPr>
          <p:cNvPr id="16" name="Text 14"/>
          <p:cNvSpPr txBox="1"/>
          <p:nvPr/>
        </p:nvSpPr>
        <p:spPr>
          <a:xfrm>
            <a:off x="4937760" y="3300984"/>
            <a:ext cx="5257800" cy="658368"/>
          </a:xfrm>
          <a:prstGeom prst="rect">
            <a:avLst/>
          </a:prstGeom>
          <a:noFill/>
          <a:ln/>
        </p:spPr>
        <p:txBody>
          <a:bodyPr wrap="square" lIns="0" tIns="0" rIns="0" bIns="0" rtlCol="0" anchor="ctr">
            <a:normAutofit/>
          </a:bodyPr>
          <a:lstStyle/>
          <a:p>
            <a:pPr marL="0" indent="0">
              <a:buNone/>
            </a:pPr>
            <a:r>
              <a:rPr lang="en-US" sz="1150">
                <a:solidFill>
                  <a:srgbClr val="63757E"/>
                </a:solidFill>
                <a:latin typeface="Calibri" pitchFamily="34" charset="0"/>
                <a:ea typeface="Calibri" pitchFamily="34" charset="-122"/>
                <a:cs typeface="Calibri" pitchFamily="34" charset="-120"/>
              </a:rPr>
              <a:t>Supervisor  ·  LangGraph runtime  ·  Message bus  ·  retries + savepoints</a:t>
            </a:r>
            <a:endParaRPr lang="en-US" sz="1150"/>
          </a:p>
        </p:txBody>
      </p:sp>
      <p:sp>
        <p:nvSpPr>
          <p:cNvPr id="17" name="Shape 15"/>
          <p:cNvSpPr/>
          <p:nvPr/>
        </p:nvSpPr>
        <p:spPr>
          <a:xfrm>
            <a:off x="6080760" y="3968496"/>
            <a:ext cx="0" cy="256032"/>
          </a:xfrm>
          <a:prstGeom prst="line">
            <a:avLst/>
          </a:prstGeom>
          <a:noFill/>
          <a:ln w="22225">
            <a:solidFill>
              <a:srgbClr val="63757E"/>
            </a:solidFill>
            <a:prstDash val="solid"/>
            <a:tailEnd type="triangle"/>
          </a:ln>
        </p:spPr>
      </p:sp>
      <p:sp>
        <p:nvSpPr>
          <p:cNvPr id="18" name="Shape 16"/>
          <p:cNvSpPr/>
          <p:nvPr/>
        </p:nvSpPr>
        <p:spPr>
          <a:xfrm>
            <a:off x="1828800" y="4242816"/>
            <a:ext cx="8503920" cy="658368"/>
          </a:xfrm>
          <a:prstGeom prst="roundRect">
            <a:avLst>
              <a:gd name="adj" fmla="val 125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19" name="Shape 17"/>
          <p:cNvSpPr/>
          <p:nvPr/>
        </p:nvSpPr>
        <p:spPr>
          <a:xfrm>
            <a:off x="1828800" y="4242816"/>
            <a:ext cx="146304" cy="658368"/>
          </a:xfrm>
          <a:prstGeom prst="roundRect">
            <a:avLst>
              <a:gd name="adj" fmla="val 31250"/>
            </a:avLst>
          </a:prstGeom>
          <a:solidFill>
            <a:srgbClr val="1C7293"/>
          </a:solidFill>
          <a:ln/>
        </p:spPr>
      </p:sp>
      <p:sp>
        <p:nvSpPr>
          <p:cNvPr id="20" name="Text 18"/>
          <p:cNvSpPr txBox="1"/>
          <p:nvPr/>
        </p:nvSpPr>
        <p:spPr>
          <a:xfrm>
            <a:off x="2148840" y="4242816"/>
            <a:ext cx="2743200" cy="658368"/>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Agents</a:t>
            </a:r>
            <a:endParaRPr lang="en-US" sz="1450"/>
          </a:p>
        </p:txBody>
      </p:sp>
      <p:sp>
        <p:nvSpPr>
          <p:cNvPr id="21" name="Text 19"/>
          <p:cNvSpPr txBox="1"/>
          <p:nvPr/>
        </p:nvSpPr>
        <p:spPr>
          <a:xfrm>
            <a:off x="4937760" y="4242816"/>
            <a:ext cx="5257800" cy="658368"/>
          </a:xfrm>
          <a:prstGeom prst="rect">
            <a:avLst/>
          </a:prstGeom>
          <a:noFill/>
          <a:ln/>
        </p:spPr>
        <p:txBody>
          <a:bodyPr wrap="square" lIns="0" tIns="0" rIns="0" bIns="0" rtlCol="0" anchor="ctr">
            <a:normAutofit/>
          </a:bodyPr>
          <a:lstStyle/>
          <a:p>
            <a:pPr marL="0" indent="0">
              <a:buNone/>
            </a:pPr>
            <a:r>
              <a:rPr lang="en-US" sz="1150">
                <a:solidFill>
                  <a:srgbClr val="63757E"/>
                </a:solidFill>
                <a:latin typeface="Calibri" pitchFamily="34" charset="0"/>
                <a:ea typeface="Calibri" pitchFamily="34" charset="-122"/>
                <a:cs typeface="Calibri" pitchFamily="34" charset="-120"/>
              </a:rPr>
              <a:t>Supervisor + 8 specialized agents</a:t>
            </a:r>
            <a:endParaRPr lang="en-US" sz="1150"/>
          </a:p>
        </p:txBody>
      </p:sp>
      <p:sp>
        <p:nvSpPr>
          <p:cNvPr id="22" name="Shape 20"/>
          <p:cNvSpPr/>
          <p:nvPr/>
        </p:nvSpPr>
        <p:spPr>
          <a:xfrm>
            <a:off x="6080760" y="4910328"/>
            <a:ext cx="0" cy="256032"/>
          </a:xfrm>
          <a:prstGeom prst="line">
            <a:avLst/>
          </a:prstGeom>
          <a:noFill/>
          <a:ln w="22225">
            <a:solidFill>
              <a:srgbClr val="63757E"/>
            </a:solidFill>
            <a:prstDash val="solid"/>
            <a:tailEnd type="triangle"/>
          </a:ln>
        </p:spPr>
      </p:sp>
      <p:sp>
        <p:nvSpPr>
          <p:cNvPr id="23" name="Shape 21"/>
          <p:cNvSpPr/>
          <p:nvPr/>
        </p:nvSpPr>
        <p:spPr>
          <a:xfrm>
            <a:off x="1828800" y="5184648"/>
            <a:ext cx="8503920" cy="658368"/>
          </a:xfrm>
          <a:prstGeom prst="roundRect">
            <a:avLst>
              <a:gd name="adj" fmla="val 125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24" name="Shape 22"/>
          <p:cNvSpPr/>
          <p:nvPr/>
        </p:nvSpPr>
        <p:spPr>
          <a:xfrm>
            <a:off x="1828800" y="5184648"/>
            <a:ext cx="146304" cy="658368"/>
          </a:xfrm>
          <a:prstGeom prst="roundRect">
            <a:avLst>
              <a:gd name="adj" fmla="val 31250"/>
            </a:avLst>
          </a:prstGeom>
          <a:solidFill>
            <a:srgbClr val="2BB3A3"/>
          </a:solidFill>
          <a:ln/>
        </p:spPr>
      </p:sp>
      <p:sp>
        <p:nvSpPr>
          <p:cNvPr id="25" name="Text 23"/>
          <p:cNvSpPr txBox="1"/>
          <p:nvPr/>
        </p:nvSpPr>
        <p:spPr>
          <a:xfrm>
            <a:off x="2148840" y="5184648"/>
            <a:ext cx="2743200" cy="658368"/>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Knowledge · Memory · Services · LLM</a:t>
            </a:r>
            <a:endParaRPr lang="en-US" sz="1450"/>
          </a:p>
        </p:txBody>
      </p:sp>
      <p:sp>
        <p:nvSpPr>
          <p:cNvPr id="26" name="Text 24"/>
          <p:cNvSpPr txBox="1"/>
          <p:nvPr/>
        </p:nvSpPr>
        <p:spPr>
          <a:xfrm>
            <a:off x="4937760" y="5184648"/>
            <a:ext cx="5257800" cy="658368"/>
          </a:xfrm>
          <a:prstGeom prst="rect">
            <a:avLst/>
          </a:prstGeom>
          <a:noFill/>
          <a:ln/>
        </p:spPr>
        <p:txBody>
          <a:bodyPr wrap="square" lIns="0" tIns="0" rIns="0" bIns="0" rtlCol="0" anchor="ctr">
            <a:normAutofit/>
          </a:bodyPr>
          <a:lstStyle/>
          <a:p>
            <a:pPr marL="0" indent="0">
              <a:buNone/>
            </a:pPr>
            <a:r>
              <a:rPr lang="en-US" sz="1150">
                <a:solidFill>
                  <a:srgbClr val="63757E"/>
                </a:solidFill>
                <a:latin typeface="Calibri" pitchFamily="34" charset="0"/>
                <a:ea typeface="Calibri" pitchFamily="34" charset="-122"/>
                <a:cs typeface="Calibri" pitchFamily="34" charset="-120"/>
              </a:rPr>
              <a:t>RAG (parse·chunk·embed·retrieve) · student memory · services · LLM provider (mock / OpenRouter)</a:t>
            </a:r>
            <a:endParaRPr lang="en-US" sz="1150"/>
          </a:p>
        </p:txBody>
      </p:sp>
      <p:sp>
        <p:nvSpPr>
          <p:cNvPr id="27" name="Shape 25"/>
          <p:cNvSpPr/>
          <p:nvPr/>
        </p:nvSpPr>
        <p:spPr>
          <a:xfrm>
            <a:off x="6080760" y="5852160"/>
            <a:ext cx="0" cy="256032"/>
          </a:xfrm>
          <a:prstGeom prst="line">
            <a:avLst/>
          </a:prstGeom>
          <a:noFill/>
          <a:ln w="22225">
            <a:solidFill>
              <a:srgbClr val="63757E"/>
            </a:solidFill>
            <a:prstDash val="solid"/>
            <a:tailEnd type="triangle"/>
          </a:ln>
        </p:spPr>
      </p:sp>
      <p:sp>
        <p:nvSpPr>
          <p:cNvPr id="28" name="Shape 26"/>
          <p:cNvSpPr/>
          <p:nvPr/>
        </p:nvSpPr>
        <p:spPr>
          <a:xfrm>
            <a:off x="1828800" y="6126480"/>
            <a:ext cx="8503920" cy="658368"/>
          </a:xfrm>
          <a:prstGeom prst="roundRect">
            <a:avLst>
              <a:gd name="adj" fmla="val 125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29" name="Shape 27"/>
          <p:cNvSpPr/>
          <p:nvPr/>
        </p:nvSpPr>
        <p:spPr>
          <a:xfrm>
            <a:off x="1828800" y="6126480"/>
            <a:ext cx="146304" cy="658368"/>
          </a:xfrm>
          <a:prstGeom prst="roundRect">
            <a:avLst>
              <a:gd name="adj" fmla="val 31250"/>
            </a:avLst>
          </a:prstGeom>
          <a:solidFill>
            <a:srgbClr val="0F3A4F"/>
          </a:solidFill>
          <a:ln/>
        </p:spPr>
      </p:sp>
      <p:sp>
        <p:nvSpPr>
          <p:cNvPr id="30" name="Text 28"/>
          <p:cNvSpPr txBox="1"/>
          <p:nvPr/>
        </p:nvSpPr>
        <p:spPr>
          <a:xfrm>
            <a:off x="2148840" y="6126480"/>
            <a:ext cx="2743200" cy="658368"/>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Persistence</a:t>
            </a:r>
            <a:endParaRPr lang="en-US" sz="1450"/>
          </a:p>
        </p:txBody>
      </p:sp>
      <p:sp>
        <p:nvSpPr>
          <p:cNvPr id="31" name="Text 29"/>
          <p:cNvSpPr txBox="1"/>
          <p:nvPr/>
        </p:nvSpPr>
        <p:spPr>
          <a:xfrm>
            <a:off x="4937760" y="6126480"/>
            <a:ext cx="5257800" cy="658368"/>
          </a:xfrm>
          <a:prstGeom prst="rect">
            <a:avLst/>
          </a:prstGeom>
          <a:noFill/>
          <a:ln/>
        </p:spPr>
        <p:txBody>
          <a:bodyPr wrap="square" lIns="0" tIns="0" rIns="0" bIns="0" rtlCol="0" anchor="ctr">
            <a:normAutofit/>
          </a:bodyPr>
          <a:lstStyle/>
          <a:p>
            <a:pPr marL="0" indent="0">
              <a:buNone/>
            </a:pPr>
            <a:r>
              <a:rPr lang="en-US" sz="1150">
                <a:solidFill>
                  <a:srgbClr val="63757E"/>
                </a:solidFill>
                <a:latin typeface="Calibri" pitchFamily="34" charset="0"/>
                <a:ea typeface="Calibri" pitchFamily="34" charset="-122"/>
                <a:cs typeface="Calibri" pitchFamily="34" charset="-120"/>
              </a:rPr>
              <a:t>PostgreSQL  +  pgvector  ·  observability tables</a:t>
            </a:r>
            <a:endParaRPr lang="en-US" sz="11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777240"/>
          </a:xfrm>
          <a:prstGeom prst="rect">
            <a:avLst/>
          </a:prstGeom>
          <a:noFill/>
          <a:ln/>
        </p:spPr>
        <p:txBody>
          <a:bodyPr wrap="square" lIns="0" tIns="0" rIns="0" bIns="0" rtlCol="0" anchor="ctr"/>
          <a:lstStyle/>
          <a:p>
            <a:r>
              <a:rPr lang="en-US" sz="3200" b="1">
                <a:solidFill>
                  <a:srgbClr val="1B2A32"/>
                </a:solidFill>
                <a:latin typeface="Cambria"/>
                <a:ea typeface="Cambria"/>
                <a:cs typeface="Cambria" pitchFamily="34" charset="-120"/>
              </a:rPr>
              <a:t>The Agents — Supervisor + 9 Specialists</a:t>
            </a:r>
            <a:endParaRPr lang="en-US" sz="3200">
              <a:latin typeface="Cambria"/>
              <a:ea typeface="Cambria"/>
            </a:endParaRPr>
          </a:p>
        </p:txBody>
      </p:sp>
      <p:sp>
        <p:nvSpPr>
          <p:cNvPr id="3" name="Shape 1"/>
          <p:cNvSpPr/>
          <p:nvPr/>
        </p:nvSpPr>
        <p:spPr>
          <a:xfrm>
            <a:off x="548640" y="1508760"/>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4" name="Text 2"/>
          <p:cNvSpPr txBox="1"/>
          <p:nvPr/>
        </p:nvSpPr>
        <p:spPr>
          <a:xfrm>
            <a:off x="804672" y="1691640"/>
            <a:ext cx="3017520" cy="365760"/>
          </a:xfrm>
          <a:prstGeom prst="rect">
            <a:avLst/>
          </a:prstGeom>
          <a:noFill/>
          <a:ln/>
        </p:spPr>
        <p:txBody>
          <a:bodyPr wrap="square" lIns="0" tIns="0" rIns="0" bIns="0" rtlCol="0" anchor="ctr">
            <a:normAutofit/>
          </a:bodyPr>
          <a:lstStyle/>
          <a:p>
            <a:pPr marL="0" indent="0">
              <a:buNone/>
            </a:pPr>
            <a:r>
              <a:rPr lang="en-US" sz="1550" b="1">
                <a:solidFill>
                  <a:srgbClr val="1B2A32"/>
                </a:solidFill>
                <a:latin typeface="Cambria" pitchFamily="34" charset="0"/>
                <a:ea typeface="Cambria" pitchFamily="34" charset="-122"/>
                <a:cs typeface="Cambria" pitchFamily="34" charset="-120"/>
              </a:rPr>
              <a:t>Curriculum</a:t>
            </a:r>
            <a:endParaRPr lang="en-US" sz="1550"/>
          </a:p>
        </p:txBody>
      </p:sp>
      <p:sp>
        <p:nvSpPr>
          <p:cNvPr id="5" name="Text 3"/>
          <p:cNvSpPr txBox="1"/>
          <p:nvPr/>
        </p:nvSpPr>
        <p:spPr>
          <a:xfrm>
            <a:off x="804672" y="2075688"/>
            <a:ext cx="3017520" cy="713232"/>
          </a:xfrm>
          <a:prstGeom prst="rect">
            <a:avLst/>
          </a:prstGeom>
          <a:noFill/>
          <a:ln/>
        </p:spPr>
        <p:txBody>
          <a:bodyPr wrap="square" lIns="0" tIns="0" rIns="0" bIns="0" rtlCol="0" anchor="ctr">
            <a:normAutofit/>
          </a:bodyPr>
          <a:lstStyle/>
          <a:p>
            <a:pPr marL="0" indent="0">
              <a:lnSpc>
                <a:spcPct val="103000"/>
              </a:lnSpc>
              <a:buNone/>
            </a:pPr>
            <a:r>
              <a:rPr lang="en-US" sz="1200">
                <a:solidFill>
                  <a:srgbClr val="63757E"/>
                </a:solidFill>
                <a:latin typeface="Calibri" pitchFamily="34" charset="0"/>
                <a:ea typeface="Calibri" pitchFamily="34" charset="-122"/>
                <a:cs typeface="Calibri" pitchFamily="34" charset="-120"/>
              </a:rPr>
              <a:t>Parses docs; builds chapters/topics; indexes RAG</a:t>
            </a:r>
            <a:endParaRPr lang="en-US" sz="1200"/>
          </a:p>
        </p:txBody>
      </p:sp>
      <p:sp>
        <p:nvSpPr>
          <p:cNvPr id="6" name="Shape 4"/>
          <p:cNvSpPr/>
          <p:nvPr/>
        </p:nvSpPr>
        <p:spPr>
          <a:xfrm>
            <a:off x="4288536" y="1508760"/>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7" name="Text 5"/>
          <p:cNvSpPr txBox="1"/>
          <p:nvPr/>
        </p:nvSpPr>
        <p:spPr>
          <a:xfrm>
            <a:off x="4544568" y="1691640"/>
            <a:ext cx="3017520" cy="365760"/>
          </a:xfrm>
          <a:prstGeom prst="rect">
            <a:avLst/>
          </a:prstGeom>
          <a:noFill/>
          <a:ln/>
        </p:spPr>
        <p:txBody>
          <a:bodyPr wrap="square" lIns="0" tIns="0" rIns="0" bIns="0" rtlCol="0" anchor="ctr">
            <a:normAutofit/>
          </a:bodyPr>
          <a:lstStyle/>
          <a:p>
            <a:pPr marL="0" indent="0">
              <a:buNone/>
            </a:pPr>
            <a:r>
              <a:rPr lang="en-US" sz="1550" b="1">
                <a:solidFill>
                  <a:srgbClr val="1B2A32"/>
                </a:solidFill>
                <a:latin typeface="Cambria" pitchFamily="34" charset="0"/>
                <a:ea typeface="Cambria" pitchFamily="34" charset="-122"/>
                <a:cs typeface="Cambria" pitchFamily="34" charset="-120"/>
              </a:rPr>
              <a:t>Study Planner</a:t>
            </a:r>
            <a:endParaRPr lang="en-US" sz="1550"/>
          </a:p>
        </p:txBody>
      </p:sp>
      <p:sp>
        <p:nvSpPr>
          <p:cNvPr id="8" name="Text 6"/>
          <p:cNvSpPr txBox="1"/>
          <p:nvPr/>
        </p:nvSpPr>
        <p:spPr>
          <a:xfrm>
            <a:off x="4544568" y="2075688"/>
            <a:ext cx="3017520" cy="713232"/>
          </a:xfrm>
          <a:prstGeom prst="rect">
            <a:avLst/>
          </a:prstGeom>
          <a:noFill/>
          <a:ln/>
        </p:spPr>
        <p:txBody>
          <a:bodyPr wrap="square" lIns="0" tIns="0" rIns="0" bIns="0" rtlCol="0" anchor="ctr">
            <a:normAutofit/>
          </a:bodyPr>
          <a:lstStyle/>
          <a:p>
            <a:pPr marL="0" indent="0">
              <a:lnSpc>
                <a:spcPct val="103000"/>
              </a:lnSpc>
              <a:buNone/>
            </a:pPr>
            <a:r>
              <a:rPr lang="en-US" sz="1200">
                <a:solidFill>
                  <a:srgbClr val="63757E"/>
                </a:solidFill>
                <a:latin typeface="Calibri" pitchFamily="34" charset="0"/>
                <a:ea typeface="Calibri" pitchFamily="34" charset="-122"/>
                <a:cs typeface="Calibri" pitchFamily="34" charset="-120"/>
              </a:rPr>
              <a:t>Personalized, prerequisite-aware schedules</a:t>
            </a:r>
            <a:endParaRPr lang="en-US" sz="1200"/>
          </a:p>
        </p:txBody>
      </p:sp>
      <p:sp>
        <p:nvSpPr>
          <p:cNvPr id="9" name="Shape 7"/>
          <p:cNvSpPr/>
          <p:nvPr/>
        </p:nvSpPr>
        <p:spPr>
          <a:xfrm>
            <a:off x="8028432" y="1508760"/>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10" name="Text 8"/>
          <p:cNvSpPr txBox="1"/>
          <p:nvPr/>
        </p:nvSpPr>
        <p:spPr>
          <a:xfrm>
            <a:off x="8284464" y="1691640"/>
            <a:ext cx="3017520" cy="365760"/>
          </a:xfrm>
          <a:prstGeom prst="rect">
            <a:avLst/>
          </a:prstGeom>
          <a:noFill/>
          <a:ln/>
        </p:spPr>
        <p:txBody>
          <a:bodyPr wrap="square" lIns="0" tIns="0" rIns="0" bIns="0" rtlCol="0" anchor="ctr">
            <a:normAutofit/>
          </a:bodyPr>
          <a:lstStyle/>
          <a:p>
            <a:pPr marL="0" indent="0">
              <a:buNone/>
            </a:pPr>
            <a:r>
              <a:rPr lang="en-US" sz="1550" b="1">
                <a:solidFill>
                  <a:srgbClr val="1B2A32"/>
                </a:solidFill>
                <a:latin typeface="Cambria" pitchFamily="34" charset="0"/>
                <a:ea typeface="Cambria" pitchFamily="34" charset="-122"/>
                <a:cs typeface="Cambria" pitchFamily="34" charset="-120"/>
              </a:rPr>
              <a:t>Lesson</a:t>
            </a:r>
            <a:endParaRPr lang="en-US" sz="1550"/>
          </a:p>
        </p:txBody>
      </p:sp>
      <p:sp>
        <p:nvSpPr>
          <p:cNvPr id="11" name="Text 9"/>
          <p:cNvSpPr txBox="1"/>
          <p:nvPr/>
        </p:nvSpPr>
        <p:spPr>
          <a:xfrm>
            <a:off x="8284464" y="2075688"/>
            <a:ext cx="3017520" cy="713232"/>
          </a:xfrm>
          <a:prstGeom prst="rect">
            <a:avLst/>
          </a:prstGeom>
          <a:noFill/>
          <a:ln/>
        </p:spPr>
        <p:txBody>
          <a:bodyPr wrap="square" lIns="0" tIns="0" rIns="0" bIns="0" rtlCol="0" anchor="ctr">
            <a:normAutofit/>
          </a:bodyPr>
          <a:lstStyle/>
          <a:p>
            <a:pPr marL="0" indent="0">
              <a:lnSpc>
                <a:spcPct val="103000"/>
              </a:lnSpc>
              <a:buNone/>
            </a:pPr>
            <a:r>
              <a:rPr lang="en-US" sz="1200">
                <a:solidFill>
                  <a:srgbClr val="63757E"/>
                </a:solidFill>
                <a:latin typeface="Calibri" pitchFamily="34" charset="0"/>
                <a:ea typeface="Calibri" pitchFamily="34" charset="-122"/>
                <a:cs typeface="Calibri" pitchFamily="34" charset="-120"/>
              </a:rPr>
              <a:t>Curriculum-grounded lessons &amp; explanations</a:t>
            </a:r>
            <a:endParaRPr lang="en-US" sz="1200"/>
          </a:p>
        </p:txBody>
      </p:sp>
      <p:sp>
        <p:nvSpPr>
          <p:cNvPr id="12" name="Shape 10"/>
          <p:cNvSpPr/>
          <p:nvPr/>
        </p:nvSpPr>
        <p:spPr>
          <a:xfrm>
            <a:off x="548640" y="3081528"/>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13" name="Text 11"/>
          <p:cNvSpPr txBox="1"/>
          <p:nvPr/>
        </p:nvSpPr>
        <p:spPr>
          <a:xfrm>
            <a:off x="804672" y="3264408"/>
            <a:ext cx="3017520" cy="365760"/>
          </a:xfrm>
          <a:prstGeom prst="rect">
            <a:avLst/>
          </a:prstGeom>
          <a:noFill/>
          <a:ln/>
        </p:spPr>
        <p:txBody>
          <a:bodyPr wrap="square" lIns="0" tIns="0" rIns="0" bIns="0" rtlCol="0" anchor="ctr">
            <a:normAutofit/>
          </a:bodyPr>
          <a:lstStyle/>
          <a:p>
            <a:pPr marL="0" indent="0">
              <a:buNone/>
            </a:pPr>
            <a:r>
              <a:rPr lang="en-US" sz="1550" b="1">
                <a:solidFill>
                  <a:srgbClr val="1B2A32"/>
                </a:solidFill>
                <a:latin typeface="Cambria" pitchFamily="34" charset="0"/>
                <a:ea typeface="Cambria" pitchFamily="34" charset="-122"/>
                <a:cs typeface="Cambria" pitchFamily="34" charset="-120"/>
              </a:rPr>
              <a:t>Quiz</a:t>
            </a:r>
            <a:endParaRPr lang="en-US" sz="1550"/>
          </a:p>
        </p:txBody>
      </p:sp>
      <p:sp>
        <p:nvSpPr>
          <p:cNvPr id="14" name="Text 12"/>
          <p:cNvSpPr txBox="1"/>
          <p:nvPr/>
        </p:nvSpPr>
        <p:spPr>
          <a:xfrm>
            <a:off x="804672" y="3648456"/>
            <a:ext cx="3017520" cy="713232"/>
          </a:xfrm>
          <a:prstGeom prst="rect">
            <a:avLst/>
          </a:prstGeom>
          <a:noFill/>
          <a:ln/>
        </p:spPr>
        <p:txBody>
          <a:bodyPr wrap="square" lIns="0" tIns="0" rIns="0" bIns="0" rtlCol="0" anchor="ctr">
            <a:normAutofit/>
          </a:bodyPr>
          <a:lstStyle/>
          <a:p>
            <a:pPr marL="0" indent="0">
              <a:lnSpc>
                <a:spcPct val="103000"/>
              </a:lnSpc>
              <a:buNone/>
            </a:pPr>
            <a:r>
              <a:rPr lang="en-US" sz="1200">
                <a:solidFill>
                  <a:srgbClr val="63757E"/>
                </a:solidFill>
                <a:latin typeface="Calibri" pitchFamily="34" charset="0"/>
                <a:ea typeface="Calibri" pitchFamily="34" charset="-122"/>
                <a:cs typeface="Calibri" pitchFamily="34" charset="-120"/>
              </a:rPr>
              <a:t>Assessments and adaptive reassessments</a:t>
            </a:r>
            <a:endParaRPr lang="en-US" sz="1200"/>
          </a:p>
        </p:txBody>
      </p:sp>
      <p:sp>
        <p:nvSpPr>
          <p:cNvPr id="15" name="Shape 13"/>
          <p:cNvSpPr/>
          <p:nvPr/>
        </p:nvSpPr>
        <p:spPr>
          <a:xfrm>
            <a:off x="4288536" y="3081528"/>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16" name="Text 14"/>
          <p:cNvSpPr txBox="1"/>
          <p:nvPr/>
        </p:nvSpPr>
        <p:spPr>
          <a:xfrm>
            <a:off x="4544568" y="3264408"/>
            <a:ext cx="3017520" cy="365760"/>
          </a:xfrm>
          <a:prstGeom prst="rect">
            <a:avLst/>
          </a:prstGeom>
          <a:noFill/>
          <a:ln/>
        </p:spPr>
        <p:txBody>
          <a:bodyPr wrap="square" lIns="0" tIns="0" rIns="0" bIns="0" rtlCol="0" anchor="ctr">
            <a:normAutofit/>
          </a:bodyPr>
          <a:lstStyle/>
          <a:p>
            <a:pPr marL="0" indent="0">
              <a:buNone/>
            </a:pPr>
            <a:r>
              <a:rPr lang="en-US" sz="1550" b="1">
                <a:solidFill>
                  <a:srgbClr val="1B2A32"/>
                </a:solidFill>
                <a:latin typeface="Cambria" pitchFamily="34" charset="0"/>
                <a:ea typeface="Cambria" pitchFamily="34" charset="-122"/>
                <a:cs typeface="Cambria" pitchFamily="34" charset="-120"/>
              </a:rPr>
              <a:t>Grading</a:t>
            </a:r>
            <a:endParaRPr lang="en-US" sz="1550"/>
          </a:p>
        </p:txBody>
      </p:sp>
      <p:sp>
        <p:nvSpPr>
          <p:cNvPr id="17" name="Text 15"/>
          <p:cNvSpPr txBox="1"/>
          <p:nvPr/>
        </p:nvSpPr>
        <p:spPr>
          <a:xfrm>
            <a:off x="4544568" y="3648456"/>
            <a:ext cx="3017520" cy="713232"/>
          </a:xfrm>
          <a:prstGeom prst="rect">
            <a:avLst/>
          </a:prstGeom>
          <a:noFill/>
          <a:ln/>
        </p:spPr>
        <p:txBody>
          <a:bodyPr wrap="square" lIns="0" tIns="0" rIns="0" bIns="0" rtlCol="0" anchor="ctr">
            <a:normAutofit/>
          </a:bodyPr>
          <a:lstStyle/>
          <a:p>
            <a:pPr marL="0" indent="0">
              <a:lnSpc>
                <a:spcPct val="103000"/>
              </a:lnSpc>
              <a:buNone/>
            </a:pPr>
            <a:r>
              <a:rPr lang="en-US" sz="1200">
                <a:solidFill>
                  <a:srgbClr val="63757E"/>
                </a:solidFill>
                <a:latin typeface="Calibri" pitchFamily="34" charset="0"/>
                <a:ea typeface="Calibri" pitchFamily="34" charset="-122"/>
                <a:cs typeface="Calibri" pitchFamily="34" charset="-120"/>
              </a:rPr>
              <a:t>Scores answers and gives feedback</a:t>
            </a:r>
            <a:endParaRPr lang="en-US" sz="1200"/>
          </a:p>
        </p:txBody>
      </p:sp>
      <p:sp>
        <p:nvSpPr>
          <p:cNvPr id="18" name="Shape 16"/>
          <p:cNvSpPr/>
          <p:nvPr/>
        </p:nvSpPr>
        <p:spPr>
          <a:xfrm>
            <a:off x="8028432" y="3081528"/>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19" name="Text 17"/>
          <p:cNvSpPr txBox="1"/>
          <p:nvPr/>
        </p:nvSpPr>
        <p:spPr>
          <a:xfrm>
            <a:off x="8284464" y="3264408"/>
            <a:ext cx="3017520" cy="365760"/>
          </a:xfrm>
          <a:prstGeom prst="rect">
            <a:avLst/>
          </a:prstGeom>
          <a:noFill/>
          <a:ln/>
        </p:spPr>
        <p:txBody>
          <a:bodyPr wrap="square" lIns="0" tIns="0" rIns="0" bIns="0" rtlCol="0" anchor="ctr">
            <a:normAutofit/>
          </a:bodyPr>
          <a:lstStyle/>
          <a:p>
            <a:pPr marL="0" indent="0">
              <a:buNone/>
            </a:pPr>
            <a:r>
              <a:rPr lang="en-US" sz="1550" b="1">
                <a:solidFill>
                  <a:srgbClr val="1B2A32"/>
                </a:solidFill>
                <a:latin typeface="Cambria" pitchFamily="34" charset="0"/>
                <a:ea typeface="Cambria" pitchFamily="34" charset="-122"/>
                <a:cs typeface="Cambria" pitchFamily="34" charset="-120"/>
              </a:rPr>
              <a:t>Performance</a:t>
            </a:r>
            <a:endParaRPr lang="en-US" sz="1550"/>
          </a:p>
        </p:txBody>
      </p:sp>
      <p:sp>
        <p:nvSpPr>
          <p:cNvPr id="20" name="Text 18"/>
          <p:cNvSpPr txBox="1"/>
          <p:nvPr/>
        </p:nvSpPr>
        <p:spPr>
          <a:xfrm>
            <a:off x="8284464" y="3648456"/>
            <a:ext cx="3017520" cy="713232"/>
          </a:xfrm>
          <a:prstGeom prst="rect">
            <a:avLst/>
          </a:prstGeom>
          <a:noFill/>
          <a:ln/>
        </p:spPr>
        <p:txBody>
          <a:bodyPr wrap="square" lIns="0" tIns="0" rIns="0" bIns="0" rtlCol="0" anchor="ctr">
            <a:normAutofit/>
          </a:bodyPr>
          <a:lstStyle/>
          <a:p>
            <a:pPr marL="0" indent="0">
              <a:lnSpc>
                <a:spcPct val="103000"/>
              </a:lnSpc>
              <a:buNone/>
            </a:pPr>
            <a:r>
              <a:rPr lang="en-US" sz="1200">
                <a:solidFill>
                  <a:srgbClr val="63757E"/>
                </a:solidFill>
                <a:latin typeface="Calibri" pitchFamily="34" charset="0"/>
                <a:ea typeface="Calibri" pitchFamily="34" charset="-122"/>
                <a:cs typeface="Calibri" pitchFamily="34" charset="-120"/>
              </a:rPr>
              <a:t>Weak/strong topics, mastery, misconceptions</a:t>
            </a:r>
            <a:endParaRPr lang="en-US" sz="1200"/>
          </a:p>
        </p:txBody>
      </p:sp>
      <p:sp>
        <p:nvSpPr>
          <p:cNvPr id="21" name="Shape 19"/>
          <p:cNvSpPr/>
          <p:nvPr/>
        </p:nvSpPr>
        <p:spPr>
          <a:xfrm>
            <a:off x="548640" y="4654296"/>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22" name="Text 20"/>
          <p:cNvSpPr txBox="1"/>
          <p:nvPr/>
        </p:nvSpPr>
        <p:spPr>
          <a:xfrm>
            <a:off x="804672" y="4837176"/>
            <a:ext cx="3017520" cy="365760"/>
          </a:xfrm>
          <a:prstGeom prst="rect">
            <a:avLst/>
          </a:prstGeom>
          <a:noFill/>
          <a:ln/>
        </p:spPr>
        <p:txBody>
          <a:bodyPr wrap="square" lIns="0" tIns="0" rIns="0" bIns="0" rtlCol="0" anchor="ctr">
            <a:normAutofit/>
          </a:bodyPr>
          <a:lstStyle/>
          <a:p>
            <a:pPr marL="0" indent="0">
              <a:buNone/>
            </a:pPr>
            <a:r>
              <a:rPr lang="en-US" sz="1550" b="1">
                <a:solidFill>
                  <a:srgbClr val="1B2A32"/>
                </a:solidFill>
                <a:latin typeface="Cambria" pitchFamily="34" charset="0"/>
                <a:ea typeface="Cambria" pitchFamily="34" charset="-122"/>
                <a:cs typeface="Cambria" pitchFamily="34" charset="-120"/>
              </a:rPr>
              <a:t>Recommendation</a:t>
            </a:r>
            <a:endParaRPr lang="en-US" sz="1550"/>
          </a:p>
        </p:txBody>
      </p:sp>
      <p:sp>
        <p:nvSpPr>
          <p:cNvPr id="23" name="Text 21"/>
          <p:cNvSpPr txBox="1"/>
          <p:nvPr/>
        </p:nvSpPr>
        <p:spPr>
          <a:xfrm>
            <a:off x="804672" y="5221224"/>
            <a:ext cx="3017520" cy="713232"/>
          </a:xfrm>
          <a:prstGeom prst="rect">
            <a:avLst/>
          </a:prstGeom>
          <a:noFill/>
          <a:ln/>
        </p:spPr>
        <p:txBody>
          <a:bodyPr wrap="square" lIns="0" tIns="0" rIns="0" bIns="0" rtlCol="0" anchor="ctr">
            <a:normAutofit/>
          </a:bodyPr>
          <a:lstStyle/>
          <a:p>
            <a:pPr marL="0" indent="0">
              <a:lnSpc>
                <a:spcPct val="103000"/>
              </a:lnSpc>
              <a:buNone/>
            </a:pPr>
            <a:r>
              <a:rPr lang="en-US" sz="1200">
                <a:solidFill>
                  <a:srgbClr val="63757E"/>
                </a:solidFill>
                <a:latin typeface="Calibri" pitchFamily="34" charset="0"/>
                <a:ea typeface="Calibri" pitchFamily="34" charset="-122"/>
                <a:cs typeface="Calibri" pitchFamily="34" charset="-120"/>
              </a:rPr>
              <a:t>Decides the next action for the student</a:t>
            </a:r>
            <a:endParaRPr lang="en-US" sz="1200"/>
          </a:p>
        </p:txBody>
      </p:sp>
      <p:sp>
        <p:nvSpPr>
          <p:cNvPr id="24" name="Shape 22"/>
          <p:cNvSpPr/>
          <p:nvPr/>
        </p:nvSpPr>
        <p:spPr>
          <a:xfrm>
            <a:off x="4288536" y="4654296"/>
            <a:ext cx="3474720" cy="1371600"/>
          </a:xfrm>
          <a:prstGeom prst="roundRect">
            <a:avLst>
              <a:gd name="adj" fmla="val 6000"/>
            </a:avLst>
          </a:prstGeom>
          <a:solidFill>
            <a:srgbClr val="FBF1DD"/>
          </a:solidFill>
          <a:ln w="12700">
            <a:solidFill>
              <a:srgbClr val="E9A23B"/>
            </a:solidFill>
            <a:prstDash val="solid"/>
          </a:ln>
          <a:effectLst>
            <a:outerShdw blurRad="88900" dist="25400" dir="5400000" algn="bl" rotWithShape="0">
              <a:srgbClr val="9AA9B0">
                <a:alpha val="28000"/>
              </a:srgbClr>
            </a:outerShdw>
          </a:effectLst>
        </p:spPr>
      </p:sp>
      <p:sp>
        <p:nvSpPr>
          <p:cNvPr id="25" name="Text 23"/>
          <p:cNvSpPr txBox="1"/>
          <p:nvPr/>
        </p:nvSpPr>
        <p:spPr>
          <a:xfrm>
            <a:off x="4544568" y="4837176"/>
            <a:ext cx="3017520" cy="365760"/>
          </a:xfrm>
          <a:prstGeom prst="rect">
            <a:avLst/>
          </a:prstGeom>
          <a:noFill/>
          <a:ln/>
        </p:spPr>
        <p:txBody>
          <a:bodyPr wrap="square" lIns="0" tIns="0" rIns="0" bIns="0" rtlCol="0" anchor="ctr">
            <a:normAutofit/>
          </a:bodyPr>
          <a:lstStyle/>
          <a:p>
            <a:r>
              <a:rPr lang="en-US" sz="1550" b="1">
                <a:solidFill>
                  <a:srgbClr val="9A6B12"/>
                </a:solidFill>
                <a:latin typeface="Cambria"/>
                <a:ea typeface="Cambria"/>
                <a:cs typeface="Cambria" pitchFamily="34" charset="-120"/>
              </a:rPr>
              <a:t>OBE Mapping  *</a:t>
            </a:r>
            <a:endParaRPr lang="en-US" sz="1550">
              <a:latin typeface="Calibri"/>
              <a:ea typeface="Calibri"/>
              <a:cs typeface="Calibri"/>
            </a:endParaRPr>
          </a:p>
        </p:txBody>
      </p:sp>
      <p:sp>
        <p:nvSpPr>
          <p:cNvPr id="26" name="Text 24"/>
          <p:cNvSpPr txBox="1"/>
          <p:nvPr/>
        </p:nvSpPr>
        <p:spPr>
          <a:xfrm>
            <a:off x="4544568" y="5221224"/>
            <a:ext cx="3017520" cy="713232"/>
          </a:xfrm>
          <a:prstGeom prst="rect">
            <a:avLst/>
          </a:prstGeom>
          <a:noFill/>
          <a:ln/>
        </p:spPr>
        <p:txBody>
          <a:bodyPr wrap="square" lIns="0" tIns="0" rIns="0" bIns="0" rtlCol="0" anchor="ctr">
            <a:normAutofit/>
          </a:bodyPr>
          <a:lstStyle/>
          <a:p>
            <a:pPr marL="0" indent="0">
              <a:lnSpc>
                <a:spcPct val="103000"/>
              </a:lnSpc>
              <a:buNone/>
            </a:pPr>
            <a:r>
              <a:rPr lang="en-US" sz="1200">
                <a:solidFill>
                  <a:srgbClr val="63757E"/>
                </a:solidFill>
                <a:latin typeface="Calibri" pitchFamily="34" charset="0"/>
                <a:ea typeface="Calibri" pitchFamily="34" charset="-122"/>
                <a:cs typeface="Calibri" pitchFamily="34" charset="-120"/>
              </a:rPr>
              <a:t>Validates CO-PO-Bloom-K/P/A vs the manual</a:t>
            </a:r>
            <a:endParaRPr lang="en-US" sz="1200"/>
          </a:p>
        </p:txBody>
      </p:sp>
      <p:sp>
        <p:nvSpPr>
          <p:cNvPr id="27" name="Shape 25"/>
          <p:cNvSpPr/>
          <p:nvPr/>
        </p:nvSpPr>
        <p:spPr>
          <a:xfrm>
            <a:off x="8028432" y="4654296"/>
            <a:ext cx="3474720" cy="1371600"/>
          </a:xfrm>
          <a:prstGeom prst="roundRect">
            <a:avLst>
              <a:gd name="adj" fmla="val 6000"/>
            </a:avLst>
          </a:prstGeom>
          <a:solidFill>
            <a:srgbClr val="FBF1DD"/>
          </a:solidFill>
          <a:ln w="12700">
            <a:solidFill>
              <a:srgbClr val="E9A23B"/>
            </a:solidFill>
            <a:prstDash val="solid"/>
          </a:ln>
          <a:effectLst>
            <a:outerShdw blurRad="88900" dist="25400" dir="5400000" algn="bl" rotWithShape="0">
              <a:srgbClr val="9AA9B0">
                <a:alpha val="28000"/>
              </a:srgbClr>
            </a:outerShdw>
          </a:effectLst>
        </p:spPr>
      </p:sp>
      <p:sp>
        <p:nvSpPr>
          <p:cNvPr id="28" name="Text 26"/>
          <p:cNvSpPr txBox="1"/>
          <p:nvPr/>
        </p:nvSpPr>
        <p:spPr>
          <a:xfrm>
            <a:off x="8284464" y="4837176"/>
            <a:ext cx="3017520" cy="365760"/>
          </a:xfrm>
          <a:prstGeom prst="rect">
            <a:avLst/>
          </a:prstGeom>
          <a:noFill/>
          <a:ln/>
        </p:spPr>
        <p:txBody>
          <a:bodyPr wrap="square" lIns="0" tIns="0" rIns="0" bIns="0" rtlCol="0" anchor="ctr">
            <a:normAutofit/>
          </a:bodyPr>
          <a:lstStyle/>
          <a:p>
            <a:r>
              <a:rPr lang="en-US" sz="1550" b="1">
                <a:solidFill>
                  <a:srgbClr val="9A6B12"/>
                </a:solidFill>
                <a:latin typeface="Cambria"/>
                <a:ea typeface="Cambria"/>
                <a:cs typeface="Cambria" pitchFamily="34" charset="-120"/>
              </a:rPr>
              <a:t>OBE Authoring  *</a:t>
            </a:r>
            <a:endParaRPr lang="en-US" sz="1550">
              <a:latin typeface="Calibri"/>
              <a:ea typeface="Calibri"/>
              <a:cs typeface="Calibri"/>
            </a:endParaRPr>
          </a:p>
        </p:txBody>
      </p:sp>
      <p:sp>
        <p:nvSpPr>
          <p:cNvPr id="29" name="Text 27"/>
          <p:cNvSpPr txBox="1"/>
          <p:nvPr/>
        </p:nvSpPr>
        <p:spPr>
          <a:xfrm>
            <a:off x="8284464" y="5221224"/>
            <a:ext cx="3017520" cy="713232"/>
          </a:xfrm>
          <a:prstGeom prst="rect">
            <a:avLst/>
          </a:prstGeom>
          <a:noFill/>
          <a:ln/>
        </p:spPr>
        <p:txBody>
          <a:bodyPr wrap="square" lIns="0" tIns="0" rIns="0" bIns="0" rtlCol="0" anchor="ctr">
            <a:normAutofit/>
          </a:bodyPr>
          <a:lstStyle/>
          <a:p>
            <a:pPr marL="0" indent="0">
              <a:lnSpc>
                <a:spcPct val="103000"/>
              </a:lnSpc>
              <a:buNone/>
            </a:pPr>
            <a:r>
              <a:rPr lang="en-US" sz="1200">
                <a:solidFill>
                  <a:srgbClr val="63757E"/>
                </a:solidFill>
                <a:latin typeface="Calibri" pitchFamily="34" charset="0"/>
                <a:ea typeface="Calibri" pitchFamily="34" charset="-122"/>
                <a:cs typeface="Calibri" pitchFamily="34" charset="-120"/>
              </a:rPr>
              <a:t>Generates &amp; rewrites Course Outcomes</a:t>
            </a:r>
            <a:endParaRPr lang="en-US" sz="1200"/>
          </a:p>
        </p:txBody>
      </p:sp>
      <p:sp>
        <p:nvSpPr>
          <p:cNvPr id="30" name="Text 28"/>
          <p:cNvSpPr txBox="1"/>
          <p:nvPr/>
        </p:nvSpPr>
        <p:spPr>
          <a:xfrm>
            <a:off x="548640" y="6355080"/>
            <a:ext cx="9144000" cy="320040"/>
          </a:xfrm>
          <a:prstGeom prst="rect">
            <a:avLst/>
          </a:prstGeom>
          <a:noFill/>
          <a:ln/>
        </p:spPr>
        <p:txBody>
          <a:bodyPr wrap="square" lIns="0" tIns="0" rIns="0" bIns="0" rtlCol="0" anchor="ctr"/>
          <a:lstStyle/>
          <a:p>
            <a:pPr marL="0" indent="0">
              <a:buNone/>
            </a:pPr>
            <a:r>
              <a:rPr lang="en-US" sz="1200" i="1">
                <a:solidFill>
                  <a:srgbClr val="9A6B12"/>
                </a:solidFill>
                <a:latin typeface="Calibri" pitchFamily="34" charset="0"/>
                <a:ea typeface="Calibri" pitchFamily="34" charset="-122"/>
                <a:cs typeface="Calibri" pitchFamily="34" charset="-120"/>
              </a:rPr>
              <a:t>* Our two OBE-domain agents — an analyze-and-author pair.</a:t>
            </a:r>
            <a:endParaRPr lang="en-US"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777240"/>
          </a:xfrm>
          <a:prstGeom prst="rect">
            <a:avLst/>
          </a:prstGeom>
          <a:noFill/>
          <a:ln/>
        </p:spPr>
        <p:txBody>
          <a:bodyPr wrap="square" lIns="0" tIns="0" rIns="0" bIns="0" rtlCol="0" anchor="ctr"/>
          <a:lstStyle/>
          <a:p>
            <a:pPr marL="0" indent="0" algn="l">
              <a:buNone/>
            </a:pPr>
            <a:r>
              <a:rPr lang="en-US" sz="3200" b="1">
                <a:solidFill>
                  <a:srgbClr val="1B2A32"/>
                </a:solidFill>
                <a:latin typeface="Cambria" pitchFamily="34" charset="0"/>
                <a:ea typeface="Cambria" pitchFamily="34" charset="-122"/>
                <a:cs typeface="Cambria" pitchFamily="34" charset="-120"/>
              </a:rPr>
              <a:t>How It Adapts — the Quiz-Submit Loop</a:t>
            </a:r>
            <a:endParaRPr lang="en-US" sz="3200"/>
          </a:p>
        </p:txBody>
      </p:sp>
      <p:sp>
        <p:nvSpPr>
          <p:cNvPr id="3" name="Text 1"/>
          <p:cNvSpPr txBox="1"/>
          <p:nvPr/>
        </p:nvSpPr>
        <p:spPr>
          <a:xfrm>
            <a:off x="548640" y="1234440"/>
            <a:ext cx="11091672" cy="457200"/>
          </a:xfrm>
          <a:prstGeom prst="rect">
            <a:avLst/>
          </a:prstGeom>
          <a:noFill/>
          <a:ln/>
        </p:spPr>
        <p:txBody>
          <a:bodyPr wrap="square" lIns="0" tIns="0" rIns="0" bIns="0" rtlCol="0" anchor="ctr"/>
          <a:lstStyle/>
          <a:p>
            <a:pPr marL="0" indent="0">
              <a:buNone/>
            </a:pPr>
            <a:r>
              <a:rPr lang="en-US" sz="1500">
                <a:solidFill>
                  <a:srgbClr val="63757E"/>
                </a:solidFill>
                <a:latin typeface="Calibri" pitchFamily="34" charset="0"/>
                <a:ea typeface="Calibri" pitchFamily="34" charset="-122"/>
                <a:cs typeface="Calibri" pitchFamily="34" charset="-120"/>
              </a:rPr>
              <a:t>One student action fans out into a linear multi-agent pipeline that grades, diagnoses and adapts:</a:t>
            </a:r>
            <a:endParaRPr lang="en-US" sz="1500"/>
          </a:p>
        </p:txBody>
      </p:sp>
      <p:sp>
        <p:nvSpPr>
          <p:cNvPr id="4" name="Shape 2"/>
          <p:cNvSpPr/>
          <p:nvPr/>
        </p:nvSpPr>
        <p:spPr>
          <a:xfrm>
            <a:off x="502920" y="2331720"/>
            <a:ext cx="1481328" cy="1234440"/>
          </a:xfrm>
          <a:prstGeom prst="roundRect">
            <a:avLst>
              <a:gd name="adj" fmla="val 6667"/>
            </a:avLst>
          </a:prstGeom>
          <a:solidFill>
            <a:srgbClr val="0F3A4F"/>
          </a:solidFill>
          <a:ln w="12700">
            <a:solidFill>
              <a:srgbClr val="0F3A4F"/>
            </a:solidFill>
            <a:prstDash val="solid"/>
          </a:ln>
          <a:effectLst>
            <a:outerShdw blurRad="88900" dist="25400" dir="5400000" algn="bl" rotWithShape="0">
              <a:srgbClr val="9AA9B0">
                <a:alpha val="28000"/>
              </a:srgbClr>
            </a:outerShdw>
          </a:effectLst>
        </p:spPr>
      </p:sp>
      <p:sp>
        <p:nvSpPr>
          <p:cNvPr id="5" name="Text 3"/>
          <p:cNvSpPr txBox="1"/>
          <p:nvPr/>
        </p:nvSpPr>
        <p:spPr>
          <a:xfrm>
            <a:off x="548640" y="2514600"/>
            <a:ext cx="1389888" cy="566928"/>
          </a:xfrm>
          <a:prstGeom prst="rect">
            <a:avLst/>
          </a:prstGeom>
          <a:noFill/>
          <a:ln/>
        </p:spPr>
        <p:txBody>
          <a:bodyPr wrap="square" lIns="0" tIns="0" rIns="0" bIns="0" rtlCol="0" anchor="ctr">
            <a:normAutofit/>
          </a:bodyPr>
          <a:lstStyle/>
          <a:p>
            <a:pPr marL="0" indent="0" algn="ctr">
              <a:buNone/>
            </a:pPr>
            <a:r>
              <a:rPr lang="en-US" sz="1400" b="1">
                <a:solidFill>
                  <a:srgbClr val="FFFFFF"/>
                </a:solidFill>
                <a:latin typeface="Cambria" pitchFamily="34" charset="0"/>
                <a:ea typeface="Cambria" pitchFamily="34" charset="-122"/>
                <a:cs typeface="Cambria" pitchFamily="34" charset="-120"/>
              </a:rPr>
              <a:t>Submit</a:t>
            </a:r>
            <a:endParaRPr lang="en-US" sz="1400"/>
          </a:p>
          <a:p>
            <a:pPr marL="0" indent="0" algn="ctr">
              <a:buNone/>
            </a:pPr>
            <a:r>
              <a:rPr lang="en-US" sz="1400" b="1">
                <a:solidFill>
                  <a:srgbClr val="FFFFFF"/>
                </a:solidFill>
                <a:latin typeface="Cambria" pitchFamily="34" charset="0"/>
                <a:ea typeface="Cambria" pitchFamily="34" charset="-122"/>
                <a:cs typeface="Cambria" pitchFamily="34" charset="-120"/>
              </a:rPr>
              <a:t>quiz</a:t>
            </a:r>
            <a:endParaRPr lang="en-US" sz="1400"/>
          </a:p>
        </p:txBody>
      </p:sp>
      <p:sp>
        <p:nvSpPr>
          <p:cNvPr id="6" name="Text 4"/>
          <p:cNvSpPr txBox="1"/>
          <p:nvPr/>
        </p:nvSpPr>
        <p:spPr>
          <a:xfrm>
            <a:off x="548640" y="3108960"/>
            <a:ext cx="1389888" cy="320040"/>
          </a:xfrm>
          <a:prstGeom prst="rect">
            <a:avLst/>
          </a:prstGeom>
          <a:noFill/>
          <a:ln/>
        </p:spPr>
        <p:txBody>
          <a:bodyPr wrap="square" lIns="0" tIns="0" rIns="0" bIns="0" rtlCol="0" anchor="ctr">
            <a:normAutofit/>
          </a:bodyPr>
          <a:lstStyle/>
          <a:p>
            <a:pPr marL="0" indent="0" algn="ctr">
              <a:buNone/>
            </a:pPr>
            <a:r>
              <a:rPr lang="en-US" sz="1050">
                <a:solidFill>
                  <a:srgbClr val="CFE0E6"/>
                </a:solidFill>
                <a:latin typeface="Calibri" pitchFamily="34" charset="0"/>
                <a:ea typeface="Calibri" pitchFamily="34" charset="-122"/>
                <a:cs typeface="Calibri" pitchFamily="34" charset="-120"/>
              </a:rPr>
              <a:t>student</a:t>
            </a:r>
            <a:endParaRPr lang="en-US" sz="1050"/>
          </a:p>
        </p:txBody>
      </p:sp>
      <p:sp>
        <p:nvSpPr>
          <p:cNvPr id="7" name="Shape 5"/>
          <p:cNvSpPr/>
          <p:nvPr/>
        </p:nvSpPr>
        <p:spPr>
          <a:xfrm>
            <a:off x="1993392" y="2948940"/>
            <a:ext cx="146304" cy="0"/>
          </a:xfrm>
          <a:prstGeom prst="line">
            <a:avLst/>
          </a:prstGeom>
          <a:noFill/>
          <a:ln w="25400">
            <a:solidFill>
              <a:srgbClr val="1C7293"/>
            </a:solidFill>
            <a:prstDash val="solid"/>
            <a:tailEnd type="triangle"/>
          </a:ln>
        </p:spPr>
      </p:sp>
      <p:sp>
        <p:nvSpPr>
          <p:cNvPr id="8" name="Shape 6"/>
          <p:cNvSpPr/>
          <p:nvPr/>
        </p:nvSpPr>
        <p:spPr>
          <a:xfrm>
            <a:off x="2148840" y="2331720"/>
            <a:ext cx="1481328" cy="1234440"/>
          </a:xfrm>
          <a:prstGeom prst="roundRect">
            <a:avLst>
              <a:gd name="adj" fmla="val 6667"/>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9" name="Text 7"/>
          <p:cNvSpPr txBox="1"/>
          <p:nvPr/>
        </p:nvSpPr>
        <p:spPr>
          <a:xfrm>
            <a:off x="2194560" y="2514600"/>
            <a:ext cx="1389888" cy="566928"/>
          </a:xfrm>
          <a:prstGeom prst="rect">
            <a:avLst/>
          </a:prstGeom>
          <a:noFill/>
          <a:ln/>
        </p:spPr>
        <p:txBody>
          <a:bodyPr wrap="square" lIns="0" tIns="0" rIns="0" bIns="0" rtlCol="0" anchor="ctr">
            <a:normAutofit/>
          </a:bodyPr>
          <a:lstStyle/>
          <a:p>
            <a:pPr marL="0" indent="0" algn="ctr">
              <a:buNone/>
            </a:pPr>
            <a:r>
              <a:rPr lang="en-US" sz="1400" b="1">
                <a:solidFill>
                  <a:srgbClr val="1B2A32"/>
                </a:solidFill>
                <a:latin typeface="Cambria" pitchFamily="34" charset="0"/>
                <a:ea typeface="Cambria" pitchFamily="34" charset="-122"/>
                <a:cs typeface="Cambria" pitchFamily="34" charset="-120"/>
              </a:rPr>
              <a:t>Grade</a:t>
            </a:r>
            <a:endParaRPr lang="en-US" sz="1400"/>
          </a:p>
        </p:txBody>
      </p:sp>
      <p:sp>
        <p:nvSpPr>
          <p:cNvPr id="10" name="Text 8"/>
          <p:cNvSpPr txBox="1"/>
          <p:nvPr/>
        </p:nvSpPr>
        <p:spPr>
          <a:xfrm>
            <a:off x="2194560" y="3108960"/>
            <a:ext cx="1389888" cy="320040"/>
          </a:xfrm>
          <a:prstGeom prst="rect">
            <a:avLst/>
          </a:prstGeom>
          <a:noFill/>
          <a:ln/>
        </p:spPr>
        <p:txBody>
          <a:bodyPr wrap="square" lIns="0" tIns="0" rIns="0" bIns="0" rtlCol="0" anchor="ctr">
            <a:normAutofit/>
          </a:bodyPr>
          <a:lstStyle/>
          <a:p>
            <a:pPr marL="0" indent="0" algn="ctr">
              <a:buNone/>
            </a:pPr>
            <a:r>
              <a:rPr lang="en-US" sz="1050">
                <a:solidFill>
                  <a:srgbClr val="1C7293"/>
                </a:solidFill>
                <a:latin typeface="Calibri" pitchFamily="34" charset="0"/>
                <a:ea typeface="Calibri" pitchFamily="34" charset="-122"/>
                <a:cs typeface="Calibri" pitchFamily="34" charset="-120"/>
              </a:rPr>
              <a:t>grading</a:t>
            </a:r>
            <a:endParaRPr lang="en-US" sz="1050"/>
          </a:p>
        </p:txBody>
      </p:sp>
      <p:sp>
        <p:nvSpPr>
          <p:cNvPr id="11" name="Shape 9"/>
          <p:cNvSpPr/>
          <p:nvPr/>
        </p:nvSpPr>
        <p:spPr>
          <a:xfrm>
            <a:off x="3639312" y="2948940"/>
            <a:ext cx="146304" cy="0"/>
          </a:xfrm>
          <a:prstGeom prst="line">
            <a:avLst/>
          </a:prstGeom>
          <a:noFill/>
          <a:ln w="25400">
            <a:solidFill>
              <a:srgbClr val="1C7293"/>
            </a:solidFill>
            <a:prstDash val="solid"/>
            <a:tailEnd type="triangle"/>
          </a:ln>
        </p:spPr>
      </p:sp>
      <p:sp>
        <p:nvSpPr>
          <p:cNvPr id="12" name="Shape 10"/>
          <p:cNvSpPr/>
          <p:nvPr/>
        </p:nvSpPr>
        <p:spPr>
          <a:xfrm>
            <a:off x="3794760" y="2331720"/>
            <a:ext cx="1481328" cy="1234440"/>
          </a:xfrm>
          <a:prstGeom prst="roundRect">
            <a:avLst>
              <a:gd name="adj" fmla="val 6667"/>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13" name="Text 11"/>
          <p:cNvSpPr txBox="1"/>
          <p:nvPr/>
        </p:nvSpPr>
        <p:spPr>
          <a:xfrm>
            <a:off x="3840480" y="2514600"/>
            <a:ext cx="1389888" cy="566928"/>
          </a:xfrm>
          <a:prstGeom prst="rect">
            <a:avLst/>
          </a:prstGeom>
          <a:noFill/>
          <a:ln/>
        </p:spPr>
        <p:txBody>
          <a:bodyPr wrap="square" lIns="0" tIns="0" rIns="0" bIns="0" rtlCol="0" anchor="ctr">
            <a:normAutofit/>
          </a:bodyPr>
          <a:lstStyle/>
          <a:p>
            <a:pPr marL="0" indent="0" algn="ctr">
              <a:buNone/>
            </a:pPr>
            <a:r>
              <a:rPr lang="en-US" sz="1400" b="1">
                <a:solidFill>
                  <a:srgbClr val="1B2A32"/>
                </a:solidFill>
                <a:latin typeface="Cambria" pitchFamily="34" charset="0"/>
                <a:ea typeface="Cambria" pitchFamily="34" charset="-122"/>
                <a:cs typeface="Cambria" pitchFamily="34" charset="-120"/>
              </a:rPr>
              <a:t>Analyze</a:t>
            </a:r>
            <a:endParaRPr lang="en-US" sz="1400"/>
          </a:p>
        </p:txBody>
      </p:sp>
      <p:sp>
        <p:nvSpPr>
          <p:cNvPr id="14" name="Text 12"/>
          <p:cNvSpPr txBox="1"/>
          <p:nvPr/>
        </p:nvSpPr>
        <p:spPr>
          <a:xfrm>
            <a:off x="3840480" y="3108960"/>
            <a:ext cx="1389888" cy="320040"/>
          </a:xfrm>
          <a:prstGeom prst="rect">
            <a:avLst/>
          </a:prstGeom>
          <a:noFill/>
          <a:ln/>
        </p:spPr>
        <p:txBody>
          <a:bodyPr wrap="square" lIns="0" tIns="0" rIns="0" bIns="0" rtlCol="0" anchor="ctr">
            <a:normAutofit/>
          </a:bodyPr>
          <a:lstStyle/>
          <a:p>
            <a:pPr marL="0" indent="0" algn="ctr">
              <a:buNone/>
            </a:pPr>
            <a:r>
              <a:rPr lang="en-US" sz="1050">
                <a:solidFill>
                  <a:srgbClr val="1C7293"/>
                </a:solidFill>
                <a:latin typeface="Calibri" pitchFamily="34" charset="0"/>
                <a:ea typeface="Calibri" pitchFamily="34" charset="-122"/>
                <a:cs typeface="Calibri" pitchFamily="34" charset="-120"/>
              </a:rPr>
              <a:t>performance</a:t>
            </a:r>
            <a:endParaRPr lang="en-US" sz="1050"/>
          </a:p>
        </p:txBody>
      </p:sp>
      <p:sp>
        <p:nvSpPr>
          <p:cNvPr id="15" name="Shape 13"/>
          <p:cNvSpPr/>
          <p:nvPr/>
        </p:nvSpPr>
        <p:spPr>
          <a:xfrm>
            <a:off x="5285232" y="2948940"/>
            <a:ext cx="146304" cy="0"/>
          </a:xfrm>
          <a:prstGeom prst="line">
            <a:avLst/>
          </a:prstGeom>
          <a:noFill/>
          <a:ln w="25400">
            <a:solidFill>
              <a:srgbClr val="1C7293"/>
            </a:solidFill>
            <a:prstDash val="solid"/>
            <a:tailEnd type="triangle"/>
          </a:ln>
        </p:spPr>
      </p:sp>
      <p:sp>
        <p:nvSpPr>
          <p:cNvPr id="16" name="Shape 14"/>
          <p:cNvSpPr/>
          <p:nvPr/>
        </p:nvSpPr>
        <p:spPr>
          <a:xfrm>
            <a:off x="5440680" y="2331720"/>
            <a:ext cx="1481328" cy="1234440"/>
          </a:xfrm>
          <a:prstGeom prst="roundRect">
            <a:avLst>
              <a:gd name="adj" fmla="val 6667"/>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17" name="Text 15"/>
          <p:cNvSpPr txBox="1"/>
          <p:nvPr/>
        </p:nvSpPr>
        <p:spPr>
          <a:xfrm>
            <a:off x="5486400" y="2514600"/>
            <a:ext cx="1389888" cy="566928"/>
          </a:xfrm>
          <a:prstGeom prst="rect">
            <a:avLst/>
          </a:prstGeom>
          <a:noFill/>
          <a:ln/>
        </p:spPr>
        <p:txBody>
          <a:bodyPr wrap="square" lIns="0" tIns="0" rIns="0" bIns="0" rtlCol="0" anchor="ctr">
            <a:normAutofit/>
          </a:bodyPr>
          <a:lstStyle/>
          <a:p>
            <a:pPr marL="0" indent="0" algn="ctr">
              <a:buNone/>
            </a:pPr>
            <a:r>
              <a:rPr lang="en-US" sz="1400" b="1">
                <a:solidFill>
                  <a:srgbClr val="1B2A32"/>
                </a:solidFill>
                <a:latin typeface="Cambria" pitchFamily="34" charset="0"/>
                <a:ea typeface="Cambria" pitchFamily="34" charset="-122"/>
                <a:cs typeface="Cambria" pitchFamily="34" charset="-120"/>
              </a:rPr>
              <a:t>Recommend</a:t>
            </a:r>
            <a:endParaRPr lang="en-US" sz="1400"/>
          </a:p>
        </p:txBody>
      </p:sp>
      <p:sp>
        <p:nvSpPr>
          <p:cNvPr id="18" name="Text 16"/>
          <p:cNvSpPr txBox="1"/>
          <p:nvPr/>
        </p:nvSpPr>
        <p:spPr>
          <a:xfrm>
            <a:off x="5486400" y="3108960"/>
            <a:ext cx="1389888" cy="320040"/>
          </a:xfrm>
          <a:prstGeom prst="rect">
            <a:avLst/>
          </a:prstGeom>
          <a:noFill/>
          <a:ln/>
        </p:spPr>
        <p:txBody>
          <a:bodyPr wrap="square" lIns="0" tIns="0" rIns="0" bIns="0" rtlCol="0" anchor="ctr">
            <a:normAutofit/>
          </a:bodyPr>
          <a:lstStyle/>
          <a:p>
            <a:pPr marL="0" indent="0" algn="ctr">
              <a:buNone/>
            </a:pPr>
            <a:r>
              <a:rPr lang="en-US" sz="1050">
                <a:solidFill>
                  <a:srgbClr val="1C7293"/>
                </a:solidFill>
                <a:latin typeface="Calibri" pitchFamily="34" charset="0"/>
                <a:ea typeface="Calibri" pitchFamily="34" charset="-122"/>
                <a:cs typeface="Calibri" pitchFamily="34" charset="-120"/>
              </a:rPr>
              <a:t>recommend</a:t>
            </a:r>
            <a:endParaRPr lang="en-US" sz="1050"/>
          </a:p>
        </p:txBody>
      </p:sp>
      <p:sp>
        <p:nvSpPr>
          <p:cNvPr id="19" name="Shape 17"/>
          <p:cNvSpPr/>
          <p:nvPr/>
        </p:nvSpPr>
        <p:spPr>
          <a:xfrm>
            <a:off x="6931152" y="2948940"/>
            <a:ext cx="146304" cy="0"/>
          </a:xfrm>
          <a:prstGeom prst="line">
            <a:avLst/>
          </a:prstGeom>
          <a:noFill/>
          <a:ln w="25400">
            <a:solidFill>
              <a:srgbClr val="1C7293"/>
            </a:solidFill>
            <a:prstDash val="solid"/>
            <a:tailEnd type="triangle"/>
          </a:ln>
        </p:spPr>
      </p:sp>
      <p:sp>
        <p:nvSpPr>
          <p:cNvPr id="20" name="Shape 18"/>
          <p:cNvSpPr/>
          <p:nvPr/>
        </p:nvSpPr>
        <p:spPr>
          <a:xfrm>
            <a:off x="7086600" y="2331720"/>
            <a:ext cx="1481328" cy="1234440"/>
          </a:xfrm>
          <a:prstGeom prst="roundRect">
            <a:avLst>
              <a:gd name="adj" fmla="val 6667"/>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21" name="Text 19"/>
          <p:cNvSpPr txBox="1"/>
          <p:nvPr/>
        </p:nvSpPr>
        <p:spPr>
          <a:xfrm>
            <a:off x="7132320" y="2514600"/>
            <a:ext cx="1389888" cy="566928"/>
          </a:xfrm>
          <a:prstGeom prst="rect">
            <a:avLst/>
          </a:prstGeom>
          <a:noFill/>
          <a:ln/>
        </p:spPr>
        <p:txBody>
          <a:bodyPr wrap="square" lIns="0" tIns="0" rIns="0" bIns="0" rtlCol="0" anchor="ctr">
            <a:normAutofit/>
          </a:bodyPr>
          <a:lstStyle/>
          <a:p>
            <a:pPr marL="0" indent="0" algn="ctr">
              <a:buNone/>
            </a:pPr>
            <a:r>
              <a:rPr lang="en-US" sz="1400" b="1">
                <a:solidFill>
                  <a:srgbClr val="1B2A32"/>
                </a:solidFill>
                <a:latin typeface="Cambria" pitchFamily="34" charset="0"/>
                <a:ea typeface="Cambria" pitchFamily="34" charset="-122"/>
                <a:cs typeface="Cambria" pitchFamily="34" charset="-120"/>
              </a:rPr>
              <a:t>Adapt</a:t>
            </a:r>
            <a:endParaRPr lang="en-US" sz="1400"/>
          </a:p>
          <a:p>
            <a:pPr marL="0" indent="0" algn="ctr">
              <a:buNone/>
            </a:pPr>
            <a:r>
              <a:rPr lang="en-US" sz="1400" b="1">
                <a:solidFill>
                  <a:srgbClr val="1B2A32"/>
                </a:solidFill>
                <a:latin typeface="Cambria" pitchFamily="34" charset="0"/>
                <a:ea typeface="Cambria" pitchFamily="34" charset="-122"/>
                <a:cs typeface="Cambria" pitchFamily="34" charset="-120"/>
              </a:rPr>
              <a:t>plan</a:t>
            </a:r>
            <a:endParaRPr lang="en-US" sz="1400"/>
          </a:p>
        </p:txBody>
      </p:sp>
      <p:sp>
        <p:nvSpPr>
          <p:cNvPr id="22" name="Text 20"/>
          <p:cNvSpPr txBox="1"/>
          <p:nvPr/>
        </p:nvSpPr>
        <p:spPr>
          <a:xfrm>
            <a:off x="7132320" y="3108960"/>
            <a:ext cx="1389888" cy="320040"/>
          </a:xfrm>
          <a:prstGeom prst="rect">
            <a:avLst/>
          </a:prstGeom>
          <a:noFill/>
          <a:ln/>
        </p:spPr>
        <p:txBody>
          <a:bodyPr wrap="square" lIns="0" tIns="0" rIns="0" bIns="0" rtlCol="0" anchor="ctr">
            <a:normAutofit/>
          </a:bodyPr>
          <a:lstStyle/>
          <a:p>
            <a:pPr marL="0" indent="0" algn="ctr">
              <a:buNone/>
            </a:pPr>
            <a:r>
              <a:rPr lang="en-US" sz="1050">
                <a:solidFill>
                  <a:srgbClr val="1C7293"/>
                </a:solidFill>
                <a:latin typeface="Calibri" pitchFamily="34" charset="0"/>
                <a:ea typeface="Calibri" pitchFamily="34" charset="-122"/>
                <a:cs typeface="Calibri" pitchFamily="34" charset="-120"/>
              </a:rPr>
              <a:t>planner</a:t>
            </a:r>
            <a:endParaRPr lang="en-US" sz="1050"/>
          </a:p>
        </p:txBody>
      </p:sp>
      <p:sp>
        <p:nvSpPr>
          <p:cNvPr id="23" name="Shape 21"/>
          <p:cNvSpPr/>
          <p:nvPr/>
        </p:nvSpPr>
        <p:spPr>
          <a:xfrm>
            <a:off x="8577072" y="2948940"/>
            <a:ext cx="146304" cy="0"/>
          </a:xfrm>
          <a:prstGeom prst="line">
            <a:avLst/>
          </a:prstGeom>
          <a:noFill/>
          <a:ln w="25400">
            <a:solidFill>
              <a:srgbClr val="1C7293"/>
            </a:solidFill>
            <a:prstDash val="solid"/>
            <a:tailEnd type="triangle"/>
          </a:ln>
        </p:spPr>
      </p:sp>
      <p:sp>
        <p:nvSpPr>
          <p:cNvPr id="24" name="Shape 22"/>
          <p:cNvSpPr/>
          <p:nvPr/>
        </p:nvSpPr>
        <p:spPr>
          <a:xfrm>
            <a:off x="8732520" y="2331720"/>
            <a:ext cx="1481328" cy="1234440"/>
          </a:xfrm>
          <a:prstGeom prst="roundRect">
            <a:avLst>
              <a:gd name="adj" fmla="val 6667"/>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25" name="Text 23"/>
          <p:cNvSpPr txBox="1"/>
          <p:nvPr/>
        </p:nvSpPr>
        <p:spPr>
          <a:xfrm>
            <a:off x="8778240" y="2514600"/>
            <a:ext cx="1389888" cy="566928"/>
          </a:xfrm>
          <a:prstGeom prst="rect">
            <a:avLst/>
          </a:prstGeom>
          <a:noFill/>
          <a:ln/>
        </p:spPr>
        <p:txBody>
          <a:bodyPr wrap="square" lIns="0" tIns="0" rIns="0" bIns="0" rtlCol="0" anchor="ctr">
            <a:normAutofit/>
          </a:bodyPr>
          <a:lstStyle/>
          <a:p>
            <a:pPr marL="0" indent="0" algn="ctr">
              <a:buNone/>
            </a:pPr>
            <a:r>
              <a:rPr lang="en-US" sz="1400" b="1">
                <a:solidFill>
                  <a:srgbClr val="1B2A32"/>
                </a:solidFill>
                <a:latin typeface="Cambria" pitchFamily="34" charset="0"/>
                <a:ea typeface="Cambria" pitchFamily="34" charset="-122"/>
                <a:cs typeface="Cambria" pitchFamily="34" charset="-120"/>
              </a:rPr>
              <a:t>Re-teach</a:t>
            </a:r>
            <a:endParaRPr lang="en-US" sz="1400"/>
          </a:p>
        </p:txBody>
      </p:sp>
      <p:sp>
        <p:nvSpPr>
          <p:cNvPr id="26" name="Text 24"/>
          <p:cNvSpPr txBox="1"/>
          <p:nvPr/>
        </p:nvSpPr>
        <p:spPr>
          <a:xfrm>
            <a:off x="8778240" y="3108960"/>
            <a:ext cx="1389888" cy="320040"/>
          </a:xfrm>
          <a:prstGeom prst="rect">
            <a:avLst/>
          </a:prstGeom>
          <a:noFill/>
          <a:ln/>
        </p:spPr>
        <p:txBody>
          <a:bodyPr wrap="square" lIns="0" tIns="0" rIns="0" bIns="0" rtlCol="0" anchor="ctr">
            <a:normAutofit/>
          </a:bodyPr>
          <a:lstStyle/>
          <a:p>
            <a:pPr marL="0" indent="0" algn="ctr">
              <a:buNone/>
            </a:pPr>
            <a:r>
              <a:rPr lang="en-US" sz="1050">
                <a:solidFill>
                  <a:srgbClr val="1C7293"/>
                </a:solidFill>
                <a:latin typeface="Calibri" pitchFamily="34" charset="0"/>
                <a:ea typeface="Calibri" pitchFamily="34" charset="-122"/>
                <a:cs typeface="Calibri" pitchFamily="34" charset="-120"/>
              </a:rPr>
              <a:t>lesson</a:t>
            </a:r>
            <a:endParaRPr lang="en-US" sz="1050"/>
          </a:p>
        </p:txBody>
      </p:sp>
      <p:sp>
        <p:nvSpPr>
          <p:cNvPr id="27" name="Shape 25"/>
          <p:cNvSpPr/>
          <p:nvPr/>
        </p:nvSpPr>
        <p:spPr>
          <a:xfrm>
            <a:off x="10222992" y="2948940"/>
            <a:ext cx="146304" cy="0"/>
          </a:xfrm>
          <a:prstGeom prst="line">
            <a:avLst/>
          </a:prstGeom>
          <a:noFill/>
          <a:ln w="25400">
            <a:solidFill>
              <a:srgbClr val="1C7293"/>
            </a:solidFill>
            <a:prstDash val="solid"/>
            <a:tailEnd type="triangle"/>
          </a:ln>
        </p:spPr>
      </p:sp>
      <p:sp>
        <p:nvSpPr>
          <p:cNvPr id="28" name="Shape 26"/>
          <p:cNvSpPr/>
          <p:nvPr/>
        </p:nvSpPr>
        <p:spPr>
          <a:xfrm>
            <a:off x="10378440" y="2331720"/>
            <a:ext cx="1481328" cy="1234440"/>
          </a:xfrm>
          <a:prstGeom prst="roundRect">
            <a:avLst>
              <a:gd name="adj" fmla="val 6667"/>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29" name="Text 27"/>
          <p:cNvSpPr txBox="1"/>
          <p:nvPr/>
        </p:nvSpPr>
        <p:spPr>
          <a:xfrm>
            <a:off x="10424160" y="2514600"/>
            <a:ext cx="1389888" cy="566928"/>
          </a:xfrm>
          <a:prstGeom prst="rect">
            <a:avLst/>
          </a:prstGeom>
          <a:noFill/>
          <a:ln/>
        </p:spPr>
        <p:txBody>
          <a:bodyPr wrap="square" lIns="0" tIns="0" rIns="0" bIns="0" rtlCol="0" anchor="ctr">
            <a:normAutofit/>
          </a:bodyPr>
          <a:lstStyle/>
          <a:p>
            <a:pPr marL="0" indent="0" algn="ctr">
              <a:buNone/>
            </a:pPr>
            <a:r>
              <a:rPr lang="en-US" sz="1400" b="1">
                <a:solidFill>
                  <a:srgbClr val="1B2A32"/>
                </a:solidFill>
                <a:latin typeface="Cambria" pitchFamily="34" charset="0"/>
                <a:ea typeface="Cambria" pitchFamily="34" charset="-122"/>
                <a:cs typeface="Cambria" pitchFamily="34" charset="-120"/>
              </a:rPr>
              <a:t>Reassess</a:t>
            </a:r>
            <a:endParaRPr lang="en-US" sz="1400"/>
          </a:p>
        </p:txBody>
      </p:sp>
      <p:sp>
        <p:nvSpPr>
          <p:cNvPr id="30" name="Text 28"/>
          <p:cNvSpPr txBox="1"/>
          <p:nvPr/>
        </p:nvSpPr>
        <p:spPr>
          <a:xfrm>
            <a:off x="10424160" y="3108960"/>
            <a:ext cx="1389888" cy="320040"/>
          </a:xfrm>
          <a:prstGeom prst="rect">
            <a:avLst/>
          </a:prstGeom>
          <a:noFill/>
          <a:ln/>
        </p:spPr>
        <p:txBody>
          <a:bodyPr wrap="square" lIns="0" tIns="0" rIns="0" bIns="0" rtlCol="0" anchor="ctr">
            <a:normAutofit/>
          </a:bodyPr>
          <a:lstStyle/>
          <a:p>
            <a:pPr marL="0" indent="0" algn="ctr">
              <a:buNone/>
            </a:pPr>
            <a:r>
              <a:rPr lang="en-US" sz="1050">
                <a:solidFill>
                  <a:srgbClr val="1C7293"/>
                </a:solidFill>
                <a:latin typeface="Calibri" pitchFamily="34" charset="0"/>
                <a:ea typeface="Calibri" pitchFamily="34" charset="-122"/>
                <a:cs typeface="Calibri" pitchFamily="34" charset="-120"/>
              </a:rPr>
              <a:t>quiz</a:t>
            </a:r>
            <a:endParaRPr lang="en-US" sz="1050"/>
          </a:p>
        </p:txBody>
      </p:sp>
      <p:sp>
        <p:nvSpPr>
          <p:cNvPr id="31" name="Shape 29"/>
          <p:cNvSpPr/>
          <p:nvPr/>
        </p:nvSpPr>
        <p:spPr>
          <a:xfrm>
            <a:off x="548640" y="4114800"/>
            <a:ext cx="11091672" cy="1554480"/>
          </a:xfrm>
          <a:prstGeom prst="roundRect">
            <a:avLst>
              <a:gd name="adj" fmla="val 5294"/>
            </a:avLst>
          </a:prstGeom>
          <a:solidFill>
            <a:srgbClr val="EAF3F0"/>
          </a:solidFill>
          <a:ln w="12700">
            <a:solidFill>
              <a:srgbClr val="2BB3A3"/>
            </a:solidFill>
            <a:prstDash val="solid"/>
          </a:ln>
          <a:effectLst>
            <a:outerShdw blurRad="88900" dist="25400" dir="5400000" algn="bl" rotWithShape="0">
              <a:srgbClr val="9AA9B0">
                <a:alpha val="28000"/>
              </a:srgbClr>
            </a:outerShdw>
          </a:effectLst>
        </p:spPr>
      </p:sp>
      <p:sp>
        <p:nvSpPr>
          <p:cNvPr id="32" name="Text 30"/>
          <p:cNvSpPr txBox="1"/>
          <p:nvPr/>
        </p:nvSpPr>
        <p:spPr>
          <a:xfrm>
            <a:off x="868680" y="4297680"/>
            <a:ext cx="5486400" cy="365760"/>
          </a:xfrm>
          <a:prstGeom prst="rect">
            <a:avLst/>
          </a:prstGeom>
          <a:noFill/>
          <a:ln/>
        </p:spPr>
        <p:txBody>
          <a:bodyPr wrap="square" lIns="0" tIns="0" rIns="0" bIns="0" rtlCol="0" anchor="ctr"/>
          <a:lstStyle/>
          <a:p>
            <a:pPr marL="0" indent="0">
              <a:buNone/>
            </a:pPr>
            <a:r>
              <a:rPr lang="en-US" sz="1600" b="1">
                <a:solidFill>
                  <a:srgbClr val="0F3A4F"/>
                </a:solidFill>
                <a:latin typeface="Cambria" pitchFamily="34" charset="0"/>
                <a:ea typeface="Cambria" pitchFamily="34" charset="-122"/>
                <a:cs typeface="Cambria" pitchFamily="34" charset="-120"/>
              </a:rPr>
              <a:t>Closed feedback loop</a:t>
            </a:r>
            <a:endParaRPr lang="en-US" sz="1600"/>
          </a:p>
        </p:txBody>
      </p:sp>
      <p:sp>
        <p:nvSpPr>
          <p:cNvPr id="33" name="Text 31"/>
          <p:cNvSpPr txBox="1"/>
          <p:nvPr/>
        </p:nvSpPr>
        <p:spPr>
          <a:xfrm>
            <a:off x="868680" y="4709160"/>
            <a:ext cx="10698480" cy="868680"/>
          </a:xfrm>
          <a:prstGeom prst="rect">
            <a:avLst/>
          </a:prstGeom>
          <a:noFill/>
          <a:ln/>
        </p:spPr>
        <p:txBody>
          <a:bodyPr wrap="square" lIns="0" tIns="0" rIns="0" bIns="0" rtlCol="0" anchor="ctr">
            <a:normAutofit/>
          </a:bodyPr>
          <a:lstStyle/>
          <a:p>
            <a:pPr marL="0" indent="0">
              <a:lnSpc>
                <a:spcPct val="105000"/>
              </a:lnSpc>
              <a:buNone/>
            </a:pPr>
            <a:r>
              <a:rPr lang="en-US" sz="1350">
                <a:solidFill>
                  <a:srgbClr val="1B2A32"/>
                </a:solidFill>
                <a:latin typeface="Calibri" pitchFamily="34" charset="0"/>
                <a:ea typeface="Calibri" pitchFamily="34" charset="-122"/>
                <a:cs typeface="Calibri" pitchFamily="34" charset="-120"/>
              </a:rPr>
              <a:t>Measure -&gt; diagnose -&gt; adapt the plan and lesson to the gaps -&gt; re-measure. If the student has mastered the material, the Recommendation agent chooses 'advance' and the pipeline short-circuits. Each agent's output is chained forward as context to the next.</a:t>
            </a:r>
            <a:endParaRPr lang="en-US" sz="13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777240"/>
          </a:xfrm>
          <a:prstGeom prst="rect">
            <a:avLst/>
          </a:prstGeom>
          <a:noFill/>
          <a:ln/>
        </p:spPr>
        <p:txBody>
          <a:bodyPr wrap="square" lIns="0" tIns="0" rIns="0" bIns="0" rtlCol="0" anchor="ctr"/>
          <a:lstStyle/>
          <a:p>
            <a:pPr marL="0" indent="0" algn="l">
              <a:buNone/>
            </a:pPr>
            <a:r>
              <a:rPr lang="en-US" sz="3200" b="1">
                <a:solidFill>
                  <a:srgbClr val="1B2A32"/>
                </a:solidFill>
                <a:latin typeface="Cambria" pitchFamily="34" charset="0"/>
                <a:ea typeface="Cambria" pitchFamily="34" charset="-122"/>
                <a:cs typeface="Cambria" pitchFamily="34" charset="-120"/>
              </a:rPr>
              <a:t>OBE Subsystem — Two Cooperating Agents</a:t>
            </a:r>
            <a:endParaRPr lang="en-US" sz="3200"/>
          </a:p>
        </p:txBody>
      </p:sp>
      <p:sp>
        <p:nvSpPr>
          <p:cNvPr id="3" name="Shape 1"/>
          <p:cNvSpPr/>
          <p:nvPr/>
        </p:nvSpPr>
        <p:spPr>
          <a:xfrm>
            <a:off x="548640" y="1463040"/>
            <a:ext cx="5074920" cy="3063240"/>
          </a:xfrm>
          <a:prstGeom prst="roundRect">
            <a:avLst>
              <a:gd name="adj" fmla="val 2687"/>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4" name="Text 2"/>
          <p:cNvSpPr txBox="1"/>
          <p:nvPr/>
        </p:nvSpPr>
        <p:spPr>
          <a:xfrm>
            <a:off x="822960" y="1645920"/>
            <a:ext cx="4572000" cy="411480"/>
          </a:xfrm>
          <a:prstGeom prst="rect">
            <a:avLst/>
          </a:prstGeom>
          <a:noFill/>
          <a:ln/>
        </p:spPr>
        <p:txBody>
          <a:bodyPr wrap="square" lIns="0" tIns="0" rIns="0" bIns="0" rtlCol="0" anchor="ctr"/>
          <a:lstStyle/>
          <a:p>
            <a:pPr marL="0" indent="0">
              <a:buNone/>
            </a:pPr>
            <a:r>
              <a:rPr lang="en-US" sz="1700" b="1">
                <a:solidFill>
                  <a:srgbClr val="0F3A4F"/>
                </a:solidFill>
                <a:latin typeface="Cambria" pitchFamily="34" charset="0"/>
                <a:ea typeface="Cambria" pitchFamily="34" charset="-122"/>
                <a:cs typeface="Cambria" pitchFamily="34" charset="-120"/>
              </a:rPr>
              <a:t>1 · OBE Mapping (Validation)</a:t>
            </a:r>
            <a:endParaRPr lang="en-US" sz="1700"/>
          </a:p>
        </p:txBody>
      </p:sp>
      <p:sp>
        <p:nvSpPr>
          <p:cNvPr id="5" name="Text 3"/>
          <p:cNvSpPr txBox="1"/>
          <p:nvPr/>
        </p:nvSpPr>
        <p:spPr>
          <a:xfrm>
            <a:off x="822960" y="2103120"/>
            <a:ext cx="4526280" cy="502920"/>
          </a:xfrm>
          <a:prstGeom prst="rect">
            <a:avLst/>
          </a:prstGeom>
          <a:noFill/>
          <a:ln/>
        </p:spPr>
        <p:txBody>
          <a:bodyPr wrap="square" lIns="0" tIns="0" rIns="0" bIns="0" rtlCol="0" anchor="ctr">
            <a:normAutofit/>
          </a:bodyPr>
          <a:lstStyle/>
          <a:p>
            <a:pPr marL="0" indent="0">
              <a:buNone/>
            </a:pPr>
            <a:r>
              <a:rPr lang="en-US" sz="1250" b="1">
                <a:solidFill>
                  <a:srgbClr val="63757E"/>
                </a:solidFill>
                <a:latin typeface="Calibri" pitchFamily="34" charset="0"/>
                <a:ea typeface="Calibri" pitchFamily="34" charset="-122"/>
                <a:cs typeface="Calibri" pitchFamily="34" charset="-120"/>
              </a:rPr>
              <a:t>Extract</a:t>
            </a:r>
            <a:r>
              <a:rPr lang="en-US" sz="1250">
                <a:solidFill>
                  <a:srgbClr val="63757E"/>
                </a:solidFill>
                <a:latin typeface="Calibri" pitchFamily="34" charset="0"/>
                <a:ea typeface="Calibri" pitchFamily="34" charset="-122"/>
                <a:cs typeface="Calibri" pitchFamily="34" charset="-120"/>
              </a:rPr>
              <a:t> the CO matrix, PO indicators, K-P-A, weekly plan &amp; assessment (reads DOCX tables).</a:t>
            </a:r>
            <a:endParaRPr lang="en-US" sz="1250"/>
          </a:p>
        </p:txBody>
      </p:sp>
      <p:sp>
        <p:nvSpPr>
          <p:cNvPr id="6" name="Text 4"/>
          <p:cNvSpPr txBox="1"/>
          <p:nvPr/>
        </p:nvSpPr>
        <p:spPr>
          <a:xfrm>
            <a:off x="822960" y="2651760"/>
            <a:ext cx="4526280" cy="640080"/>
          </a:xfrm>
          <a:prstGeom prst="rect">
            <a:avLst/>
          </a:prstGeom>
          <a:noFill/>
          <a:ln/>
        </p:spPr>
        <p:txBody>
          <a:bodyPr wrap="square" lIns="0" tIns="0" rIns="0" bIns="0" rtlCol="0" anchor="ctr">
            <a:normAutofit/>
          </a:bodyPr>
          <a:lstStyle/>
          <a:p>
            <a:pPr marL="0" indent="0">
              <a:buNone/>
            </a:pPr>
            <a:r>
              <a:rPr lang="en-US" sz="1250" b="1">
                <a:solidFill>
                  <a:srgbClr val="63757E"/>
                </a:solidFill>
                <a:latin typeface="Calibri" pitchFamily="34" charset="0"/>
                <a:ea typeface="Calibri" pitchFamily="34" charset="-122"/>
                <a:cs typeface="Calibri" pitchFamily="34" charset="-120"/>
              </a:rPr>
              <a:t>Validate</a:t>
            </a:r>
            <a:r>
              <a:rPr lang="en-US" sz="1250">
                <a:solidFill>
                  <a:srgbClr val="63757E"/>
                </a:solidFill>
                <a:latin typeface="Calibri" pitchFamily="34" charset="0"/>
                <a:ea typeface="Calibri" pitchFamily="34" charset="-122"/>
                <a:cs typeface="Calibri" pitchFamily="34" charset="-120"/>
              </a:rPr>
              <a:t> with 7 deterministic rules; </a:t>
            </a:r>
            <a:r>
              <a:rPr lang="en-US" sz="1250" b="1">
                <a:solidFill>
                  <a:srgbClr val="63757E"/>
                </a:solidFill>
                <a:latin typeface="Calibri" pitchFamily="34" charset="0"/>
                <a:ea typeface="Calibri" pitchFamily="34" charset="-122"/>
                <a:cs typeface="Calibri" pitchFamily="34" charset="-120"/>
              </a:rPr>
              <a:t>Suggest</a:t>
            </a:r>
            <a:r>
              <a:rPr lang="en-US" sz="1250">
                <a:solidFill>
                  <a:srgbClr val="63757E"/>
                </a:solidFill>
                <a:latin typeface="Calibri" pitchFamily="34" charset="0"/>
                <a:ea typeface="Calibri" pitchFamily="34" charset="-122"/>
                <a:cs typeface="Calibri" pitchFamily="34" charset="-120"/>
              </a:rPr>
              <a:t> fixes; </a:t>
            </a:r>
            <a:r>
              <a:rPr lang="en-US" sz="1250" b="1">
                <a:solidFill>
                  <a:srgbClr val="63757E"/>
                </a:solidFill>
                <a:latin typeface="Calibri" pitchFamily="34" charset="0"/>
                <a:ea typeface="Calibri" pitchFamily="34" charset="-122"/>
                <a:cs typeface="Calibri" pitchFamily="34" charset="-120"/>
              </a:rPr>
              <a:t>Summarize</a:t>
            </a:r>
            <a:r>
              <a:rPr lang="en-US" sz="1250">
                <a:solidFill>
                  <a:srgbClr val="63757E"/>
                </a:solidFill>
                <a:latin typeface="Calibri" pitchFamily="34" charset="0"/>
                <a:ea typeface="Calibri" pitchFamily="34" charset="-122"/>
                <a:cs typeface="Calibri" pitchFamily="34" charset="-120"/>
              </a:rPr>
              <a:t> the mapping methodology.</a:t>
            </a:r>
            <a:endParaRPr lang="en-US" sz="1250"/>
          </a:p>
        </p:txBody>
      </p:sp>
      <p:sp>
        <p:nvSpPr>
          <p:cNvPr id="7" name="Text 5"/>
          <p:cNvSpPr txBox="1"/>
          <p:nvPr/>
        </p:nvSpPr>
        <p:spPr>
          <a:xfrm>
            <a:off x="822960" y="3383280"/>
            <a:ext cx="4526280" cy="457200"/>
          </a:xfrm>
          <a:prstGeom prst="rect">
            <a:avLst/>
          </a:prstGeom>
          <a:noFill/>
          <a:ln/>
        </p:spPr>
        <p:txBody>
          <a:bodyPr wrap="square" lIns="0" tIns="0" rIns="0" bIns="0" rtlCol="0" anchor="ctr">
            <a:normAutofit/>
          </a:bodyPr>
          <a:lstStyle/>
          <a:p>
            <a:pPr marL="0" indent="0">
              <a:buNone/>
            </a:pPr>
            <a:r>
              <a:rPr lang="en-US" sz="1200" i="1">
                <a:solidFill>
                  <a:srgbClr val="1C7293"/>
                </a:solidFill>
                <a:latin typeface="Calibri" pitchFamily="34" charset="0"/>
                <a:ea typeface="Calibri" pitchFamily="34" charset="-122"/>
                <a:cs typeface="Calibri" pitchFamily="34" charset="-120"/>
              </a:rPr>
              <a:t>Deterministic &amp; offline · non-destructive (never edits the source).</a:t>
            </a:r>
            <a:endParaRPr lang="en-US" sz="1200"/>
          </a:p>
        </p:txBody>
      </p:sp>
      <p:sp>
        <p:nvSpPr>
          <p:cNvPr id="8" name="Shape 6"/>
          <p:cNvSpPr/>
          <p:nvPr/>
        </p:nvSpPr>
        <p:spPr>
          <a:xfrm>
            <a:off x="6309360" y="1463040"/>
            <a:ext cx="5074920" cy="3063240"/>
          </a:xfrm>
          <a:prstGeom prst="roundRect">
            <a:avLst>
              <a:gd name="adj" fmla="val 2687"/>
            </a:avLst>
          </a:prstGeom>
          <a:solidFill>
            <a:srgbClr val="FBF1DD"/>
          </a:solidFill>
          <a:ln w="12700">
            <a:solidFill>
              <a:srgbClr val="E9A23B"/>
            </a:solidFill>
            <a:prstDash val="solid"/>
          </a:ln>
          <a:effectLst>
            <a:outerShdw blurRad="88900" dist="25400" dir="5400000" algn="bl" rotWithShape="0">
              <a:srgbClr val="9AA9B0">
                <a:alpha val="28000"/>
              </a:srgbClr>
            </a:outerShdw>
          </a:effectLst>
        </p:spPr>
      </p:sp>
      <p:sp>
        <p:nvSpPr>
          <p:cNvPr id="9" name="Text 7"/>
          <p:cNvSpPr txBox="1"/>
          <p:nvPr/>
        </p:nvSpPr>
        <p:spPr>
          <a:xfrm>
            <a:off x="6583680" y="1645920"/>
            <a:ext cx="4572000" cy="411480"/>
          </a:xfrm>
          <a:prstGeom prst="rect">
            <a:avLst/>
          </a:prstGeom>
          <a:noFill/>
          <a:ln/>
        </p:spPr>
        <p:txBody>
          <a:bodyPr wrap="square" lIns="0" tIns="0" rIns="0" bIns="0" rtlCol="0" anchor="ctr"/>
          <a:lstStyle/>
          <a:p>
            <a:pPr marL="0" indent="0">
              <a:buNone/>
            </a:pPr>
            <a:r>
              <a:rPr lang="en-US" sz="1700" b="1">
                <a:solidFill>
                  <a:srgbClr val="9A6B12"/>
                </a:solidFill>
                <a:latin typeface="Cambria" pitchFamily="34" charset="0"/>
                <a:ea typeface="Cambria" pitchFamily="34" charset="-122"/>
                <a:cs typeface="Cambria" pitchFamily="34" charset="-120"/>
              </a:rPr>
              <a:t>2 · OBE Authoring (Generation)</a:t>
            </a:r>
            <a:endParaRPr lang="en-US" sz="1700"/>
          </a:p>
        </p:txBody>
      </p:sp>
      <p:sp>
        <p:nvSpPr>
          <p:cNvPr id="10" name="Text 8"/>
          <p:cNvSpPr txBox="1"/>
          <p:nvPr/>
        </p:nvSpPr>
        <p:spPr>
          <a:xfrm>
            <a:off x="6583680" y="2103120"/>
            <a:ext cx="4526280" cy="640080"/>
          </a:xfrm>
          <a:prstGeom prst="rect">
            <a:avLst/>
          </a:prstGeom>
          <a:noFill/>
          <a:ln/>
        </p:spPr>
        <p:txBody>
          <a:bodyPr wrap="square" lIns="0" tIns="0" rIns="0" bIns="0" rtlCol="0" anchor="ctr">
            <a:normAutofit/>
          </a:bodyPr>
          <a:lstStyle/>
          <a:p>
            <a:pPr marL="0" indent="0">
              <a:buNone/>
            </a:pPr>
            <a:r>
              <a:rPr lang="en-US" sz="1250" b="1">
                <a:solidFill>
                  <a:srgbClr val="6B5220"/>
                </a:solidFill>
                <a:latin typeface="Calibri" pitchFamily="34" charset="0"/>
                <a:ea typeface="Calibri" pitchFamily="34" charset="-122"/>
                <a:cs typeface="Calibri" pitchFamily="34" charset="-120"/>
              </a:rPr>
              <a:t>Author</a:t>
            </a:r>
            <a:r>
              <a:rPr lang="en-US" sz="1250">
                <a:solidFill>
                  <a:srgbClr val="6B5220"/>
                </a:solidFill>
                <a:latin typeface="Calibri" pitchFamily="34" charset="0"/>
                <a:ea typeface="Calibri" pitchFamily="34" charset="-122"/>
                <a:cs typeface="Calibri" pitchFamily="34" charset="-120"/>
              </a:rPr>
              <a:t> OBE-compliant Course Outcomes for a course/topic set, with a proper Bloom spread + suggested PO &amp; K-P-A.</a:t>
            </a:r>
            <a:endParaRPr lang="en-US" sz="1250"/>
          </a:p>
        </p:txBody>
      </p:sp>
      <p:sp>
        <p:nvSpPr>
          <p:cNvPr id="11" name="Text 9"/>
          <p:cNvSpPr txBox="1"/>
          <p:nvPr/>
        </p:nvSpPr>
        <p:spPr>
          <a:xfrm>
            <a:off x="6583680" y="2788920"/>
            <a:ext cx="4526280" cy="548640"/>
          </a:xfrm>
          <a:prstGeom prst="rect">
            <a:avLst/>
          </a:prstGeom>
          <a:noFill/>
          <a:ln/>
        </p:spPr>
        <p:txBody>
          <a:bodyPr wrap="square" lIns="0" tIns="0" rIns="0" bIns="0" rtlCol="0" anchor="ctr">
            <a:normAutofit/>
          </a:bodyPr>
          <a:lstStyle/>
          <a:p>
            <a:pPr marL="0" indent="0">
              <a:buNone/>
            </a:pPr>
            <a:r>
              <a:rPr lang="en-US" sz="1250" b="1">
                <a:solidFill>
                  <a:srgbClr val="6B5220"/>
                </a:solidFill>
                <a:latin typeface="Calibri" pitchFamily="34" charset="0"/>
                <a:ea typeface="Calibri" pitchFamily="34" charset="-122"/>
                <a:cs typeface="Calibri" pitchFamily="34" charset="-120"/>
              </a:rPr>
              <a:t>Improve</a:t>
            </a:r>
            <a:r>
              <a:rPr lang="en-US" sz="1250">
                <a:solidFill>
                  <a:srgbClr val="6B5220"/>
                </a:solidFill>
                <a:latin typeface="Calibri" pitchFamily="34" charset="0"/>
                <a:ea typeface="Calibri" pitchFamily="34" charset="-122"/>
                <a:cs typeface="Calibri" pitchFamily="34" charset="-120"/>
              </a:rPr>
              <a:t> a flagged CO — rewrites the verb to match the Bloom level and proposes the right PO.</a:t>
            </a:r>
            <a:endParaRPr lang="en-US" sz="1250"/>
          </a:p>
        </p:txBody>
      </p:sp>
      <p:sp>
        <p:nvSpPr>
          <p:cNvPr id="12" name="Text 10"/>
          <p:cNvSpPr txBox="1"/>
          <p:nvPr/>
        </p:nvSpPr>
        <p:spPr>
          <a:xfrm>
            <a:off x="6583680" y="3383280"/>
            <a:ext cx="4526280" cy="457200"/>
          </a:xfrm>
          <a:prstGeom prst="rect">
            <a:avLst/>
          </a:prstGeom>
          <a:noFill/>
          <a:ln/>
        </p:spPr>
        <p:txBody>
          <a:bodyPr wrap="square" lIns="0" tIns="0" rIns="0" bIns="0" rtlCol="0" anchor="ctr">
            <a:normAutofit/>
          </a:bodyPr>
          <a:lstStyle/>
          <a:p>
            <a:pPr marL="0" indent="0">
              <a:buNone/>
            </a:pPr>
            <a:r>
              <a:rPr lang="en-US" sz="1200" i="1">
                <a:solidFill>
                  <a:srgbClr val="9A6B12"/>
                </a:solidFill>
                <a:latin typeface="Calibri" pitchFamily="34" charset="0"/>
                <a:ea typeface="Calibri" pitchFamily="34" charset="-122"/>
                <a:cs typeface="Calibri" pitchFamily="34" charset="-120"/>
              </a:rPr>
              <a:t>Closes the loop: the validator finds problems, the author fixes them.</a:t>
            </a:r>
            <a:endParaRPr lang="en-US" sz="1200"/>
          </a:p>
        </p:txBody>
      </p:sp>
      <p:sp>
        <p:nvSpPr>
          <p:cNvPr id="13" name="Shape 11"/>
          <p:cNvSpPr/>
          <p:nvPr/>
        </p:nvSpPr>
        <p:spPr>
          <a:xfrm>
            <a:off x="548640" y="4709160"/>
            <a:ext cx="11091672" cy="1417320"/>
          </a:xfrm>
          <a:prstGeom prst="roundRect">
            <a:avLst>
              <a:gd name="adj" fmla="val 5806"/>
            </a:avLst>
          </a:prstGeom>
          <a:solidFill>
            <a:srgbClr val="0F3A4F"/>
          </a:solidFill>
          <a:ln w="12700">
            <a:solidFill>
              <a:srgbClr val="0F3A4F"/>
            </a:solidFill>
            <a:prstDash val="solid"/>
          </a:ln>
          <a:effectLst>
            <a:outerShdw blurRad="88900" dist="25400" dir="5400000" algn="bl" rotWithShape="0">
              <a:srgbClr val="9AA9B0">
                <a:alpha val="28000"/>
              </a:srgbClr>
            </a:outerShdw>
          </a:effectLst>
        </p:spPr>
      </p:sp>
      <p:sp>
        <p:nvSpPr>
          <p:cNvPr id="14" name="Text 12"/>
          <p:cNvSpPr txBox="1"/>
          <p:nvPr/>
        </p:nvSpPr>
        <p:spPr>
          <a:xfrm>
            <a:off x="868680" y="4864608"/>
            <a:ext cx="10607040" cy="365760"/>
          </a:xfrm>
          <a:prstGeom prst="rect">
            <a:avLst/>
          </a:prstGeom>
          <a:noFill/>
          <a:ln/>
        </p:spPr>
        <p:txBody>
          <a:bodyPr wrap="square" lIns="0" tIns="0" rIns="0" bIns="0" rtlCol="0" anchor="ctr"/>
          <a:lstStyle/>
          <a:p>
            <a:pPr marL="0" indent="0">
              <a:buNone/>
            </a:pPr>
            <a:r>
              <a:rPr lang="en-US" sz="1400" b="1">
                <a:solidFill>
                  <a:srgbClr val="2BB3A3"/>
                </a:solidFill>
                <a:latin typeface="Cambria" pitchFamily="34" charset="0"/>
                <a:ea typeface="Cambria" pitchFamily="34" charset="-122"/>
                <a:cs typeface="Cambria" pitchFamily="34" charset="-120"/>
              </a:rPr>
              <a:t>Real defects caught on an actual outline (CSC 2209):</a:t>
            </a:r>
            <a:endParaRPr lang="en-US" sz="1400"/>
          </a:p>
        </p:txBody>
      </p:sp>
      <p:sp>
        <p:nvSpPr>
          <p:cNvPr id="15" name="Text 13"/>
          <p:cNvSpPr txBox="1"/>
          <p:nvPr/>
        </p:nvSpPr>
        <p:spPr>
          <a:xfrm>
            <a:off x="868680" y="5257800"/>
            <a:ext cx="10698480" cy="777240"/>
          </a:xfrm>
          <a:prstGeom prst="rect">
            <a:avLst/>
          </a:prstGeom>
          <a:noFill/>
          <a:ln/>
        </p:spPr>
        <p:txBody>
          <a:bodyPr wrap="square" lIns="0" tIns="0" rIns="0" bIns="0" rtlCol="0" anchor="ctr">
            <a:normAutofit/>
          </a:bodyPr>
          <a:lstStyle/>
          <a:p>
            <a:pPr marL="0" indent="0">
              <a:lnSpc>
                <a:spcPct val="105000"/>
              </a:lnSpc>
              <a:buNone/>
            </a:pPr>
            <a:r>
              <a:rPr lang="en-US" sz="1300" b="1">
                <a:solidFill>
                  <a:srgbClr val="E6EEF1"/>
                </a:solidFill>
                <a:latin typeface="Calibri" pitchFamily="34" charset="0"/>
                <a:ea typeface="Calibri" pitchFamily="34" charset="-122"/>
                <a:cs typeface="Calibri" pitchFamily="34" charset="-120"/>
              </a:rPr>
              <a:t>PO-J-2 referenced but never defined</a:t>
            </a:r>
            <a:r>
              <a:rPr lang="en-US" sz="1300">
                <a:solidFill>
                  <a:srgbClr val="E6EEF1"/>
                </a:solidFill>
                <a:latin typeface="Calibri" pitchFamily="34" charset="0"/>
                <a:ea typeface="Calibri" pitchFamily="34" charset="-122"/>
                <a:cs typeface="Calibri" pitchFamily="34" charset="-120"/>
              </a:rPr>
              <a:t>   ·   CO4's PO differs between the matrix and the assessment table   ·   CO1 verb “Explain” (L2) tagged as Bloom L5.</a:t>
            </a:r>
            <a:endParaRPr lang="en-US" sz="13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777240"/>
          </a:xfrm>
          <a:prstGeom prst="rect">
            <a:avLst/>
          </a:prstGeom>
          <a:noFill/>
          <a:ln/>
        </p:spPr>
        <p:txBody>
          <a:bodyPr wrap="square" lIns="0" tIns="0" rIns="0" bIns="0" rtlCol="0" anchor="ctr"/>
          <a:lstStyle/>
          <a:p>
            <a:pPr marL="0" indent="0" algn="l">
              <a:buNone/>
            </a:pPr>
            <a:r>
              <a:rPr lang="en-US" sz="3200" b="1">
                <a:solidFill>
                  <a:srgbClr val="1B2A32"/>
                </a:solidFill>
                <a:latin typeface="Cambria" pitchFamily="34" charset="0"/>
                <a:ea typeface="Cambria" pitchFamily="34" charset="-122"/>
                <a:cs typeface="Cambria" pitchFamily="34" charset="-120"/>
              </a:rPr>
              <a:t>Agent Console — Observability &amp; Control</a:t>
            </a:r>
            <a:endParaRPr lang="en-US" sz="3200"/>
          </a:p>
        </p:txBody>
      </p:sp>
      <p:sp>
        <p:nvSpPr>
          <p:cNvPr id="3" name="Shape 1"/>
          <p:cNvSpPr/>
          <p:nvPr/>
        </p:nvSpPr>
        <p:spPr>
          <a:xfrm>
            <a:off x="548640" y="1508760"/>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4" name="Shape 2"/>
          <p:cNvSpPr/>
          <p:nvPr/>
        </p:nvSpPr>
        <p:spPr>
          <a:xfrm>
            <a:off x="804672" y="1783080"/>
            <a:ext cx="457200" cy="457200"/>
          </a:xfrm>
          <a:prstGeom prst="ellipse">
            <a:avLst/>
          </a:prstGeom>
          <a:solidFill>
            <a:srgbClr val="0F3A4F"/>
          </a:solidFill>
          <a:ln/>
        </p:spPr>
      </p:sp>
      <p:sp>
        <p:nvSpPr>
          <p:cNvPr id="5" name="Text 3"/>
          <p:cNvSpPr txBox="1"/>
          <p:nvPr/>
        </p:nvSpPr>
        <p:spPr>
          <a:xfrm>
            <a:off x="804672" y="1783080"/>
            <a:ext cx="457200" cy="457200"/>
          </a:xfrm>
          <a:prstGeom prst="rect">
            <a:avLst/>
          </a:prstGeom>
          <a:noFill/>
          <a:ln/>
        </p:spPr>
        <p:txBody>
          <a:bodyPr wrap="square" lIns="0" tIns="0" rIns="0" bIns="0" rtlCol="0" anchor="ctr"/>
          <a:lstStyle/>
          <a:p>
            <a:pPr marL="0" indent="0" algn="ctr">
              <a:buNone/>
            </a:pPr>
            <a:r>
              <a:rPr lang="en-US" sz="1400" b="1">
                <a:solidFill>
                  <a:srgbClr val="FFFFFF"/>
                </a:solidFill>
                <a:latin typeface="Cambria" pitchFamily="34" charset="0"/>
                <a:ea typeface="Cambria" pitchFamily="34" charset="-122"/>
                <a:cs typeface="Cambria" pitchFamily="34" charset="-120"/>
              </a:rPr>
              <a:t>1</a:t>
            </a:r>
            <a:endParaRPr lang="en-US" sz="1400"/>
          </a:p>
        </p:txBody>
      </p:sp>
      <p:sp>
        <p:nvSpPr>
          <p:cNvPr id="6" name="Text 4"/>
          <p:cNvSpPr txBox="1"/>
          <p:nvPr/>
        </p:nvSpPr>
        <p:spPr>
          <a:xfrm>
            <a:off x="1417320" y="1764792"/>
            <a:ext cx="246888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Dashboard</a:t>
            </a:r>
            <a:endParaRPr lang="en-US" sz="1450"/>
          </a:p>
        </p:txBody>
      </p:sp>
      <p:sp>
        <p:nvSpPr>
          <p:cNvPr id="7" name="Text 5"/>
          <p:cNvSpPr txBox="1"/>
          <p:nvPr/>
        </p:nvSpPr>
        <p:spPr>
          <a:xfrm>
            <a:off x="804672" y="2331720"/>
            <a:ext cx="3017520" cy="457200"/>
          </a:xfrm>
          <a:prstGeom prst="rect">
            <a:avLst/>
          </a:prstGeom>
          <a:noFill/>
          <a:ln/>
        </p:spPr>
        <p:txBody>
          <a:bodyPr wrap="square" lIns="0" tIns="0" rIns="0" bIns="0" rtlCol="0" anchor="ctr">
            <a:normAutofit/>
          </a:bodyPr>
          <a:lstStyle/>
          <a:p>
            <a:pPr marL="0" indent="0">
              <a:buNone/>
            </a:pPr>
            <a:r>
              <a:rPr lang="en-US" sz="1200">
                <a:solidFill>
                  <a:srgbClr val="63757E"/>
                </a:solidFill>
                <a:latin typeface="Calibri" pitchFamily="34" charset="0"/>
                <a:ea typeface="Calibri" pitchFamily="34" charset="-122"/>
                <a:cs typeface="Calibri" pitchFamily="34" charset="-120"/>
              </a:rPr>
              <a:t>Active agents, run stats, cost</a:t>
            </a:r>
            <a:endParaRPr lang="en-US" sz="1200"/>
          </a:p>
        </p:txBody>
      </p:sp>
      <p:sp>
        <p:nvSpPr>
          <p:cNvPr id="8" name="Shape 6"/>
          <p:cNvSpPr/>
          <p:nvPr/>
        </p:nvSpPr>
        <p:spPr>
          <a:xfrm>
            <a:off x="4288536" y="1508760"/>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9" name="Shape 7"/>
          <p:cNvSpPr/>
          <p:nvPr/>
        </p:nvSpPr>
        <p:spPr>
          <a:xfrm>
            <a:off x="4544568" y="1783080"/>
            <a:ext cx="457200" cy="457200"/>
          </a:xfrm>
          <a:prstGeom prst="ellipse">
            <a:avLst/>
          </a:prstGeom>
          <a:solidFill>
            <a:srgbClr val="1C7293"/>
          </a:solidFill>
          <a:ln/>
        </p:spPr>
      </p:sp>
      <p:sp>
        <p:nvSpPr>
          <p:cNvPr id="10" name="Text 8"/>
          <p:cNvSpPr txBox="1"/>
          <p:nvPr/>
        </p:nvSpPr>
        <p:spPr>
          <a:xfrm>
            <a:off x="4544568" y="1783080"/>
            <a:ext cx="457200" cy="457200"/>
          </a:xfrm>
          <a:prstGeom prst="rect">
            <a:avLst/>
          </a:prstGeom>
          <a:noFill/>
          <a:ln/>
        </p:spPr>
        <p:txBody>
          <a:bodyPr wrap="square" lIns="0" tIns="0" rIns="0" bIns="0" rtlCol="0" anchor="ctr"/>
          <a:lstStyle/>
          <a:p>
            <a:pPr marL="0" indent="0" algn="ctr">
              <a:buNone/>
            </a:pPr>
            <a:r>
              <a:rPr lang="en-US" sz="1400" b="1">
                <a:solidFill>
                  <a:srgbClr val="FFFFFF"/>
                </a:solidFill>
                <a:latin typeface="Cambria" pitchFamily="34" charset="0"/>
                <a:ea typeface="Cambria" pitchFamily="34" charset="-122"/>
                <a:cs typeface="Cambria" pitchFamily="34" charset="-120"/>
              </a:rPr>
              <a:t>2</a:t>
            </a:r>
            <a:endParaRPr lang="en-US" sz="1400"/>
          </a:p>
        </p:txBody>
      </p:sp>
      <p:sp>
        <p:nvSpPr>
          <p:cNvPr id="11" name="Text 9"/>
          <p:cNvSpPr txBox="1"/>
          <p:nvPr/>
        </p:nvSpPr>
        <p:spPr>
          <a:xfrm>
            <a:off x="5157216" y="1764792"/>
            <a:ext cx="246888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Execution graph</a:t>
            </a:r>
            <a:endParaRPr lang="en-US" sz="1450"/>
          </a:p>
        </p:txBody>
      </p:sp>
      <p:sp>
        <p:nvSpPr>
          <p:cNvPr id="12" name="Text 10"/>
          <p:cNvSpPr txBox="1"/>
          <p:nvPr/>
        </p:nvSpPr>
        <p:spPr>
          <a:xfrm>
            <a:off x="4544568" y="2331720"/>
            <a:ext cx="3017520" cy="457200"/>
          </a:xfrm>
          <a:prstGeom prst="rect">
            <a:avLst/>
          </a:prstGeom>
          <a:noFill/>
          <a:ln/>
        </p:spPr>
        <p:txBody>
          <a:bodyPr wrap="square" lIns="0" tIns="0" rIns="0" bIns="0" rtlCol="0" anchor="ctr">
            <a:normAutofit/>
          </a:bodyPr>
          <a:lstStyle/>
          <a:p>
            <a:pPr marL="0" indent="0">
              <a:buNone/>
            </a:pPr>
            <a:r>
              <a:rPr lang="en-US" sz="1200">
                <a:solidFill>
                  <a:srgbClr val="63757E"/>
                </a:solidFill>
                <a:latin typeface="Calibri" pitchFamily="34" charset="0"/>
                <a:ea typeface="Calibri" pitchFamily="34" charset="-122"/>
                <a:cs typeface="Calibri" pitchFamily="34" charset="-120"/>
              </a:rPr>
              <a:t>LangGraph pipeline, path taken</a:t>
            </a:r>
            <a:endParaRPr lang="en-US" sz="1200"/>
          </a:p>
        </p:txBody>
      </p:sp>
      <p:sp>
        <p:nvSpPr>
          <p:cNvPr id="13" name="Shape 11"/>
          <p:cNvSpPr/>
          <p:nvPr/>
        </p:nvSpPr>
        <p:spPr>
          <a:xfrm>
            <a:off x="8028432" y="1508760"/>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14" name="Shape 12"/>
          <p:cNvSpPr/>
          <p:nvPr/>
        </p:nvSpPr>
        <p:spPr>
          <a:xfrm>
            <a:off x="8284464" y="1783080"/>
            <a:ext cx="457200" cy="457200"/>
          </a:xfrm>
          <a:prstGeom prst="ellipse">
            <a:avLst/>
          </a:prstGeom>
          <a:solidFill>
            <a:srgbClr val="0F3A4F"/>
          </a:solidFill>
          <a:ln/>
        </p:spPr>
      </p:sp>
      <p:sp>
        <p:nvSpPr>
          <p:cNvPr id="15" name="Text 13"/>
          <p:cNvSpPr txBox="1"/>
          <p:nvPr/>
        </p:nvSpPr>
        <p:spPr>
          <a:xfrm>
            <a:off x="8284464" y="1783080"/>
            <a:ext cx="457200" cy="457200"/>
          </a:xfrm>
          <a:prstGeom prst="rect">
            <a:avLst/>
          </a:prstGeom>
          <a:noFill/>
          <a:ln/>
        </p:spPr>
        <p:txBody>
          <a:bodyPr wrap="square" lIns="0" tIns="0" rIns="0" bIns="0" rtlCol="0" anchor="ctr"/>
          <a:lstStyle/>
          <a:p>
            <a:pPr marL="0" indent="0" algn="ctr">
              <a:buNone/>
            </a:pPr>
            <a:r>
              <a:rPr lang="en-US" sz="1400" b="1">
                <a:solidFill>
                  <a:srgbClr val="FFFFFF"/>
                </a:solidFill>
                <a:latin typeface="Cambria" pitchFamily="34" charset="0"/>
                <a:ea typeface="Cambria" pitchFamily="34" charset="-122"/>
                <a:cs typeface="Cambria" pitchFamily="34" charset="-120"/>
              </a:rPr>
              <a:t>3</a:t>
            </a:r>
            <a:endParaRPr lang="en-US" sz="1400"/>
          </a:p>
        </p:txBody>
      </p:sp>
      <p:sp>
        <p:nvSpPr>
          <p:cNvPr id="16" name="Text 14"/>
          <p:cNvSpPr txBox="1"/>
          <p:nvPr/>
        </p:nvSpPr>
        <p:spPr>
          <a:xfrm>
            <a:off x="8897112" y="1764792"/>
            <a:ext cx="246888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Live trace</a:t>
            </a:r>
            <a:endParaRPr lang="en-US" sz="1450"/>
          </a:p>
        </p:txBody>
      </p:sp>
      <p:sp>
        <p:nvSpPr>
          <p:cNvPr id="17" name="Text 15"/>
          <p:cNvSpPr txBox="1"/>
          <p:nvPr/>
        </p:nvSpPr>
        <p:spPr>
          <a:xfrm>
            <a:off x="8284464" y="2331720"/>
            <a:ext cx="3017520" cy="457200"/>
          </a:xfrm>
          <a:prstGeom prst="rect">
            <a:avLst/>
          </a:prstGeom>
          <a:noFill/>
          <a:ln/>
        </p:spPr>
        <p:txBody>
          <a:bodyPr wrap="square" lIns="0" tIns="0" rIns="0" bIns="0" rtlCol="0" anchor="ctr">
            <a:normAutofit/>
          </a:bodyPr>
          <a:lstStyle/>
          <a:p>
            <a:pPr marL="0" indent="0">
              <a:buNone/>
            </a:pPr>
            <a:r>
              <a:rPr lang="en-US" sz="1200">
                <a:solidFill>
                  <a:srgbClr val="63757E"/>
                </a:solidFill>
                <a:latin typeface="Calibri" pitchFamily="34" charset="0"/>
                <a:ea typeface="Calibri" pitchFamily="34" charset="-122"/>
                <a:cs typeface="Calibri" pitchFamily="34" charset="-120"/>
              </a:rPr>
              <a:t>Auto-refreshing agent hops</a:t>
            </a:r>
            <a:endParaRPr lang="en-US" sz="1200"/>
          </a:p>
        </p:txBody>
      </p:sp>
      <p:sp>
        <p:nvSpPr>
          <p:cNvPr id="18" name="Shape 16"/>
          <p:cNvSpPr/>
          <p:nvPr/>
        </p:nvSpPr>
        <p:spPr>
          <a:xfrm>
            <a:off x="548640" y="3081528"/>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19" name="Shape 17"/>
          <p:cNvSpPr/>
          <p:nvPr/>
        </p:nvSpPr>
        <p:spPr>
          <a:xfrm>
            <a:off x="804672" y="3355848"/>
            <a:ext cx="457200" cy="457200"/>
          </a:xfrm>
          <a:prstGeom prst="ellipse">
            <a:avLst/>
          </a:prstGeom>
          <a:solidFill>
            <a:srgbClr val="1C7293"/>
          </a:solidFill>
          <a:ln/>
        </p:spPr>
      </p:sp>
      <p:sp>
        <p:nvSpPr>
          <p:cNvPr id="20" name="Text 18"/>
          <p:cNvSpPr txBox="1"/>
          <p:nvPr/>
        </p:nvSpPr>
        <p:spPr>
          <a:xfrm>
            <a:off x="804672" y="3355848"/>
            <a:ext cx="457200" cy="457200"/>
          </a:xfrm>
          <a:prstGeom prst="rect">
            <a:avLst/>
          </a:prstGeom>
          <a:noFill/>
          <a:ln/>
        </p:spPr>
        <p:txBody>
          <a:bodyPr wrap="square" lIns="0" tIns="0" rIns="0" bIns="0" rtlCol="0" anchor="ctr"/>
          <a:lstStyle/>
          <a:p>
            <a:pPr marL="0" indent="0" algn="ctr">
              <a:buNone/>
            </a:pPr>
            <a:r>
              <a:rPr lang="en-US" sz="1400" b="1">
                <a:solidFill>
                  <a:srgbClr val="FFFFFF"/>
                </a:solidFill>
                <a:latin typeface="Cambria" pitchFamily="34" charset="0"/>
                <a:ea typeface="Cambria" pitchFamily="34" charset="-122"/>
                <a:cs typeface="Cambria" pitchFamily="34" charset="-120"/>
              </a:rPr>
              <a:t>4</a:t>
            </a:r>
            <a:endParaRPr lang="en-US" sz="1400"/>
          </a:p>
        </p:txBody>
      </p:sp>
      <p:sp>
        <p:nvSpPr>
          <p:cNvPr id="21" name="Text 19"/>
          <p:cNvSpPr txBox="1"/>
          <p:nvPr/>
        </p:nvSpPr>
        <p:spPr>
          <a:xfrm>
            <a:off x="1417320" y="3337560"/>
            <a:ext cx="246888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Messages</a:t>
            </a:r>
            <a:endParaRPr lang="en-US" sz="1450"/>
          </a:p>
        </p:txBody>
      </p:sp>
      <p:sp>
        <p:nvSpPr>
          <p:cNvPr id="22" name="Text 20"/>
          <p:cNvSpPr txBox="1"/>
          <p:nvPr/>
        </p:nvSpPr>
        <p:spPr>
          <a:xfrm>
            <a:off x="804672" y="3904488"/>
            <a:ext cx="3017520" cy="457200"/>
          </a:xfrm>
          <a:prstGeom prst="rect">
            <a:avLst/>
          </a:prstGeom>
          <a:noFill/>
          <a:ln/>
        </p:spPr>
        <p:txBody>
          <a:bodyPr wrap="square" lIns="0" tIns="0" rIns="0" bIns="0" rtlCol="0" anchor="ctr">
            <a:normAutofit/>
          </a:bodyPr>
          <a:lstStyle/>
          <a:p>
            <a:pPr marL="0" indent="0">
              <a:buNone/>
            </a:pPr>
            <a:r>
              <a:rPr lang="en-US" sz="1200">
                <a:solidFill>
                  <a:srgbClr val="63757E"/>
                </a:solidFill>
                <a:latin typeface="Calibri" pitchFamily="34" charset="0"/>
                <a:ea typeface="Calibri" pitchFamily="34" charset="-122"/>
                <a:cs typeface="Calibri" pitchFamily="34" charset="-120"/>
              </a:rPr>
              <a:t>Full agent-to-agent history</a:t>
            </a:r>
            <a:endParaRPr lang="en-US" sz="1200"/>
          </a:p>
        </p:txBody>
      </p:sp>
      <p:sp>
        <p:nvSpPr>
          <p:cNvPr id="23" name="Shape 21"/>
          <p:cNvSpPr/>
          <p:nvPr/>
        </p:nvSpPr>
        <p:spPr>
          <a:xfrm>
            <a:off x="4288536" y="3081528"/>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24" name="Shape 22"/>
          <p:cNvSpPr/>
          <p:nvPr/>
        </p:nvSpPr>
        <p:spPr>
          <a:xfrm>
            <a:off x="4544568" y="3355848"/>
            <a:ext cx="457200" cy="457200"/>
          </a:xfrm>
          <a:prstGeom prst="ellipse">
            <a:avLst/>
          </a:prstGeom>
          <a:solidFill>
            <a:srgbClr val="0F3A4F"/>
          </a:solidFill>
          <a:ln/>
        </p:spPr>
      </p:sp>
      <p:sp>
        <p:nvSpPr>
          <p:cNvPr id="25" name="Text 23"/>
          <p:cNvSpPr txBox="1"/>
          <p:nvPr/>
        </p:nvSpPr>
        <p:spPr>
          <a:xfrm>
            <a:off x="4544568" y="3355848"/>
            <a:ext cx="457200" cy="457200"/>
          </a:xfrm>
          <a:prstGeom prst="rect">
            <a:avLst/>
          </a:prstGeom>
          <a:noFill/>
          <a:ln/>
        </p:spPr>
        <p:txBody>
          <a:bodyPr wrap="square" lIns="0" tIns="0" rIns="0" bIns="0" rtlCol="0" anchor="ctr"/>
          <a:lstStyle/>
          <a:p>
            <a:pPr marL="0" indent="0" algn="ctr">
              <a:buNone/>
            </a:pPr>
            <a:r>
              <a:rPr lang="en-US" sz="1400" b="1">
                <a:solidFill>
                  <a:srgbClr val="FFFFFF"/>
                </a:solidFill>
                <a:latin typeface="Cambria" pitchFamily="34" charset="0"/>
                <a:ea typeface="Cambria" pitchFamily="34" charset="-122"/>
                <a:cs typeface="Cambria" pitchFamily="34" charset="-120"/>
              </a:rPr>
              <a:t>5</a:t>
            </a:r>
            <a:endParaRPr lang="en-US" sz="1400"/>
          </a:p>
        </p:txBody>
      </p:sp>
      <p:sp>
        <p:nvSpPr>
          <p:cNvPr id="26" name="Text 24"/>
          <p:cNvSpPr txBox="1"/>
          <p:nvPr/>
        </p:nvSpPr>
        <p:spPr>
          <a:xfrm>
            <a:off x="5157216" y="3337560"/>
            <a:ext cx="246888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Tokens &amp; cost</a:t>
            </a:r>
            <a:endParaRPr lang="en-US" sz="1450"/>
          </a:p>
        </p:txBody>
      </p:sp>
      <p:sp>
        <p:nvSpPr>
          <p:cNvPr id="27" name="Text 25"/>
          <p:cNvSpPr txBox="1"/>
          <p:nvPr/>
        </p:nvSpPr>
        <p:spPr>
          <a:xfrm>
            <a:off x="4544568" y="3904488"/>
            <a:ext cx="3017520" cy="457200"/>
          </a:xfrm>
          <a:prstGeom prst="rect">
            <a:avLst/>
          </a:prstGeom>
          <a:noFill/>
          <a:ln/>
        </p:spPr>
        <p:txBody>
          <a:bodyPr wrap="square" lIns="0" tIns="0" rIns="0" bIns="0" rtlCol="0" anchor="ctr">
            <a:normAutofit/>
          </a:bodyPr>
          <a:lstStyle/>
          <a:p>
            <a:pPr marL="0" indent="0">
              <a:buNone/>
            </a:pPr>
            <a:r>
              <a:rPr lang="en-US" sz="1200">
                <a:solidFill>
                  <a:srgbClr val="63757E"/>
                </a:solidFill>
                <a:latin typeface="Calibri" pitchFamily="34" charset="0"/>
                <a:ea typeface="Calibri" pitchFamily="34" charset="-122"/>
                <a:cs typeface="Calibri" pitchFamily="34" charset="-120"/>
              </a:rPr>
              <a:t>Per-run token use &amp; estimate</a:t>
            </a:r>
            <a:endParaRPr lang="en-US" sz="1200"/>
          </a:p>
        </p:txBody>
      </p:sp>
      <p:sp>
        <p:nvSpPr>
          <p:cNvPr id="28" name="Shape 26"/>
          <p:cNvSpPr/>
          <p:nvPr/>
        </p:nvSpPr>
        <p:spPr>
          <a:xfrm>
            <a:off x="8028432" y="3081528"/>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29" name="Shape 27"/>
          <p:cNvSpPr/>
          <p:nvPr/>
        </p:nvSpPr>
        <p:spPr>
          <a:xfrm>
            <a:off x="8284464" y="3355848"/>
            <a:ext cx="457200" cy="457200"/>
          </a:xfrm>
          <a:prstGeom prst="ellipse">
            <a:avLst/>
          </a:prstGeom>
          <a:solidFill>
            <a:srgbClr val="1C7293"/>
          </a:solidFill>
          <a:ln/>
        </p:spPr>
      </p:sp>
      <p:sp>
        <p:nvSpPr>
          <p:cNvPr id="30" name="Text 28"/>
          <p:cNvSpPr txBox="1"/>
          <p:nvPr/>
        </p:nvSpPr>
        <p:spPr>
          <a:xfrm>
            <a:off x="8284464" y="3355848"/>
            <a:ext cx="457200" cy="457200"/>
          </a:xfrm>
          <a:prstGeom prst="rect">
            <a:avLst/>
          </a:prstGeom>
          <a:noFill/>
          <a:ln/>
        </p:spPr>
        <p:txBody>
          <a:bodyPr wrap="square" lIns="0" tIns="0" rIns="0" bIns="0" rtlCol="0" anchor="ctr"/>
          <a:lstStyle/>
          <a:p>
            <a:pPr marL="0" indent="0" algn="ctr">
              <a:buNone/>
            </a:pPr>
            <a:r>
              <a:rPr lang="en-US" sz="1400" b="1">
                <a:solidFill>
                  <a:srgbClr val="FFFFFF"/>
                </a:solidFill>
                <a:latin typeface="Cambria" pitchFamily="34" charset="0"/>
                <a:ea typeface="Cambria" pitchFamily="34" charset="-122"/>
                <a:cs typeface="Cambria" pitchFamily="34" charset="-120"/>
              </a:rPr>
              <a:t>6</a:t>
            </a:r>
            <a:endParaRPr lang="en-US" sz="1400"/>
          </a:p>
        </p:txBody>
      </p:sp>
      <p:sp>
        <p:nvSpPr>
          <p:cNvPr id="31" name="Text 29"/>
          <p:cNvSpPr txBox="1"/>
          <p:nvPr/>
        </p:nvSpPr>
        <p:spPr>
          <a:xfrm>
            <a:off x="8897112" y="3337560"/>
            <a:ext cx="246888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Logs &amp; errors</a:t>
            </a:r>
            <a:endParaRPr lang="en-US" sz="1450"/>
          </a:p>
        </p:txBody>
      </p:sp>
      <p:sp>
        <p:nvSpPr>
          <p:cNvPr id="32" name="Text 30"/>
          <p:cNvSpPr txBox="1"/>
          <p:nvPr/>
        </p:nvSpPr>
        <p:spPr>
          <a:xfrm>
            <a:off x="8284464" y="3904488"/>
            <a:ext cx="3017520" cy="457200"/>
          </a:xfrm>
          <a:prstGeom prst="rect">
            <a:avLst/>
          </a:prstGeom>
          <a:noFill/>
          <a:ln/>
        </p:spPr>
        <p:txBody>
          <a:bodyPr wrap="square" lIns="0" tIns="0" rIns="0" bIns="0" rtlCol="0" anchor="ctr">
            <a:normAutofit/>
          </a:bodyPr>
          <a:lstStyle/>
          <a:p>
            <a:pPr marL="0" indent="0">
              <a:buNone/>
            </a:pPr>
            <a:r>
              <a:rPr lang="en-US" sz="1200">
                <a:solidFill>
                  <a:srgbClr val="63757E"/>
                </a:solidFill>
                <a:latin typeface="Calibri" pitchFamily="34" charset="0"/>
                <a:ea typeface="Calibri" pitchFamily="34" charset="-122"/>
                <a:cs typeface="Calibri" pitchFamily="34" charset="-120"/>
              </a:rPr>
              <a:t>Failed runs + audit log</a:t>
            </a:r>
            <a:endParaRPr lang="en-US" sz="1200"/>
          </a:p>
        </p:txBody>
      </p:sp>
      <p:sp>
        <p:nvSpPr>
          <p:cNvPr id="33" name="Shape 31"/>
          <p:cNvSpPr/>
          <p:nvPr/>
        </p:nvSpPr>
        <p:spPr>
          <a:xfrm>
            <a:off x="548640" y="4654296"/>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34" name="Shape 32"/>
          <p:cNvSpPr/>
          <p:nvPr/>
        </p:nvSpPr>
        <p:spPr>
          <a:xfrm>
            <a:off x="804672" y="4928616"/>
            <a:ext cx="457200" cy="457200"/>
          </a:xfrm>
          <a:prstGeom prst="ellipse">
            <a:avLst/>
          </a:prstGeom>
          <a:solidFill>
            <a:srgbClr val="0F3A4F"/>
          </a:solidFill>
          <a:ln/>
        </p:spPr>
      </p:sp>
      <p:sp>
        <p:nvSpPr>
          <p:cNvPr id="35" name="Text 33"/>
          <p:cNvSpPr txBox="1"/>
          <p:nvPr/>
        </p:nvSpPr>
        <p:spPr>
          <a:xfrm>
            <a:off x="804672" y="4928616"/>
            <a:ext cx="457200" cy="457200"/>
          </a:xfrm>
          <a:prstGeom prst="rect">
            <a:avLst/>
          </a:prstGeom>
          <a:noFill/>
          <a:ln/>
        </p:spPr>
        <p:txBody>
          <a:bodyPr wrap="square" lIns="0" tIns="0" rIns="0" bIns="0" rtlCol="0" anchor="ctr"/>
          <a:lstStyle/>
          <a:p>
            <a:pPr marL="0" indent="0" algn="ctr">
              <a:buNone/>
            </a:pPr>
            <a:r>
              <a:rPr lang="en-US" sz="1400" b="1">
                <a:solidFill>
                  <a:srgbClr val="FFFFFF"/>
                </a:solidFill>
                <a:latin typeface="Cambria" pitchFamily="34" charset="0"/>
                <a:ea typeface="Cambria" pitchFamily="34" charset="-122"/>
                <a:cs typeface="Cambria" pitchFamily="34" charset="-120"/>
              </a:rPr>
              <a:t>7</a:t>
            </a:r>
            <a:endParaRPr lang="en-US" sz="1400"/>
          </a:p>
        </p:txBody>
      </p:sp>
      <p:sp>
        <p:nvSpPr>
          <p:cNvPr id="36" name="Text 34"/>
          <p:cNvSpPr txBox="1"/>
          <p:nvPr/>
        </p:nvSpPr>
        <p:spPr>
          <a:xfrm>
            <a:off x="1417320" y="4910328"/>
            <a:ext cx="246888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Memory viewer</a:t>
            </a:r>
            <a:endParaRPr lang="en-US" sz="1450"/>
          </a:p>
        </p:txBody>
      </p:sp>
      <p:sp>
        <p:nvSpPr>
          <p:cNvPr id="37" name="Text 35"/>
          <p:cNvSpPr txBox="1"/>
          <p:nvPr/>
        </p:nvSpPr>
        <p:spPr>
          <a:xfrm>
            <a:off x="804672" y="5477256"/>
            <a:ext cx="3017520" cy="457200"/>
          </a:xfrm>
          <a:prstGeom prst="rect">
            <a:avLst/>
          </a:prstGeom>
          <a:noFill/>
          <a:ln/>
        </p:spPr>
        <p:txBody>
          <a:bodyPr wrap="square" lIns="0" tIns="0" rIns="0" bIns="0" rtlCol="0" anchor="ctr">
            <a:normAutofit/>
          </a:bodyPr>
          <a:lstStyle/>
          <a:p>
            <a:pPr marL="0" indent="0">
              <a:buNone/>
            </a:pPr>
            <a:r>
              <a:rPr lang="en-US" sz="1200">
                <a:solidFill>
                  <a:srgbClr val="63757E"/>
                </a:solidFill>
                <a:latin typeface="Calibri" pitchFamily="34" charset="0"/>
                <a:ea typeface="Calibri" pitchFamily="34" charset="-122"/>
                <a:cs typeface="Calibri" pitchFamily="34" charset="-120"/>
              </a:rPr>
              <a:t>Student mastery &amp; preferences</a:t>
            </a:r>
            <a:endParaRPr lang="en-US" sz="1200"/>
          </a:p>
        </p:txBody>
      </p:sp>
      <p:sp>
        <p:nvSpPr>
          <p:cNvPr id="38" name="Shape 36"/>
          <p:cNvSpPr/>
          <p:nvPr/>
        </p:nvSpPr>
        <p:spPr>
          <a:xfrm>
            <a:off x="4288536" y="4654296"/>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39" name="Shape 37"/>
          <p:cNvSpPr/>
          <p:nvPr/>
        </p:nvSpPr>
        <p:spPr>
          <a:xfrm>
            <a:off x="4544568" y="4928616"/>
            <a:ext cx="457200" cy="457200"/>
          </a:xfrm>
          <a:prstGeom prst="ellipse">
            <a:avLst/>
          </a:prstGeom>
          <a:solidFill>
            <a:srgbClr val="1C7293"/>
          </a:solidFill>
          <a:ln/>
        </p:spPr>
      </p:sp>
      <p:sp>
        <p:nvSpPr>
          <p:cNvPr id="40" name="Text 38"/>
          <p:cNvSpPr txBox="1"/>
          <p:nvPr/>
        </p:nvSpPr>
        <p:spPr>
          <a:xfrm>
            <a:off x="4544568" y="4928616"/>
            <a:ext cx="457200" cy="457200"/>
          </a:xfrm>
          <a:prstGeom prst="rect">
            <a:avLst/>
          </a:prstGeom>
          <a:noFill/>
          <a:ln/>
        </p:spPr>
        <p:txBody>
          <a:bodyPr wrap="square" lIns="0" tIns="0" rIns="0" bIns="0" rtlCol="0" anchor="ctr"/>
          <a:lstStyle/>
          <a:p>
            <a:pPr marL="0" indent="0" algn="ctr">
              <a:buNone/>
            </a:pPr>
            <a:r>
              <a:rPr lang="en-US" sz="1400" b="1">
                <a:solidFill>
                  <a:srgbClr val="FFFFFF"/>
                </a:solidFill>
                <a:latin typeface="Cambria" pitchFamily="34" charset="0"/>
                <a:ea typeface="Cambria" pitchFamily="34" charset="-122"/>
                <a:cs typeface="Cambria" pitchFamily="34" charset="-120"/>
              </a:rPr>
              <a:t>8</a:t>
            </a:r>
            <a:endParaRPr lang="en-US" sz="1400"/>
          </a:p>
        </p:txBody>
      </p:sp>
      <p:sp>
        <p:nvSpPr>
          <p:cNvPr id="41" name="Text 39"/>
          <p:cNvSpPr txBox="1"/>
          <p:nvPr/>
        </p:nvSpPr>
        <p:spPr>
          <a:xfrm>
            <a:off x="5157216" y="4910328"/>
            <a:ext cx="246888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Human-in-the-loop</a:t>
            </a:r>
            <a:endParaRPr lang="en-US" sz="1450"/>
          </a:p>
        </p:txBody>
      </p:sp>
      <p:sp>
        <p:nvSpPr>
          <p:cNvPr id="42" name="Text 40"/>
          <p:cNvSpPr txBox="1"/>
          <p:nvPr/>
        </p:nvSpPr>
        <p:spPr>
          <a:xfrm>
            <a:off x="4544568" y="5477256"/>
            <a:ext cx="3017520" cy="457200"/>
          </a:xfrm>
          <a:prstGeom prst="rect">
            <a:avLst/>
          </a:prstGeom>
          <a:noFill/>
          <a:ln/>
        </p:spPr>
        <p:txBody>
          <a:bodyPr wrap="square" lIns="0" tIns="0" rIns="0" bIns="0" rtlCol="0" anchor="ctr">
            <a:normAutofit/>
          </a:bodyPr>
          <a:lstStyle/>
          <a:p>
            <a:pPr marL="0" indent="0">
              <a:buNone/>
            </a:pPr>
            <a:r>
              <a:rPr lang="en-US" sz="1200">
                <a:solidFill>
                  <a:srgbClr val="63757E"/>
                </a:solidFill>
                <a:latin typeface="Calibri" pitchFamily="34" charset="0"/>
                <a:ea typeface="Calibri" pitchFamily="34" charset="-122"/>
                <a:cs typeface="Calibri" pitchFamily="34" charset="-120"/>
              </a:rPr>
              <a:t>Approve · pause · cancel · retry</a:t>
            </a:r>
            <a:endParaRPr lang="en-US" sz="1200"/>
          </a:p>
        </p:txBody>
      </p:sp>
      <p:sp>
        <p:nvSpPr>
          <p:cNvPr id="43" name="Shape 41"/>
          <p:cNvSpPr/>
          <p:nvPr/>
        </p:nvSpPr>
        <p:spPr>
          <a:xfrm>
            <a:off x="8028432" y="4654296"/>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44" name="Shape 42"/>
          <p:cNvSpPr/>
          <p:nvPr/>
        </p:nvSpPr>
        <p:spPr>
          <a:xfrm>
            <a:off x="8284464" y="4928616"/>
            <a:ext cx="457200" cy="457200"/>
          </a:xfrm>
          <a:prstGeom prst="ellipse">
            <a:avLst/>
          </a:prstGeom>
          <a:solidFill>
            <a:srgbClr val="0F3A4F"/>
          </a:solidFill>
          <a:ln/>
        </p:spPr>
      </p:sp>
      <p:sp>
        <p:nvSpPr>
          <p:cNvPr id="45" name="Text 43"/>
          <p:cNvSpPr txBox="1"/>
          <p:nvPr/>
        </p:nvSpPr>
        <p:spPr>
          <a:xfrm>
            <a:off x="8284464" y="4928616"/>
            <a:ext cx="457200" cy="457200"/>
          </a:xfrm>
          <a:prstGeom prst="rect">
            <a:avLst/>
          </a:prstGeom>
          <a:noFill/>
          <a:ln/>
        </p:spPr>
        <p:txBody>
          <a:bodyPr wrap="square" lIns="0" tIns="0" rIns="0" bIns="0" rtlCol="0" anchor="ctr"/>
          <a:lstStyle/>
          <a:p>
            <a:pPr marL="0" indent="0" algn="ctr">
              <a:buNone/>
            </a:pPr>
            <a:r>
              <a:rPr lang="en-US" sz="1400" b="1">
                <a:solidFill>
                  <a:srgbClr val="FFFFFF"/>
                </a:solidFill>
                <a:latin typeface="Cambria" pitchFamily="34" charset="0"/>
                <a:ea typeface="Cambria" pitchFamily="34" charset="-122"/>
                <a:cs typeface="Cambria" pitchFamily="34" charset="-120"/>
              </a:rPr>
              <a:t>9</a:t>
            </a:r>
            <a:endParaRPr lang="en-US" sz="1400"/>
          </a:p>
        </p:txBody>
      </p:sp>
      <p:sp>
        <p:nvSpPr>
          <p:cNvPr id="46" name="Text 44"/>
          <p:cNvSpPr txBox="1"/>
          <p:nvPr/>
        </p:nvSpPr>
        <p:spPr>
          <a:xfrm>
            <a:off x="8897112" y="4910328"/>
            <a:ext cx="246888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Report viewer</a:t>
            </a:r>
            <a:endParaRPr lang="en-US" sz="1450"/>
          </a:p>
        </p:txBody>
      </p:sp>
      <p:sp>
        <p:nvSpPr>
          <p:cNvPr id="47" name="Text 45"/>
          <p:cNvSpPr txBox="1"/>
          <p:nvPr/>
        </p:nvSpPr>
        <p:spPr>
          <a:xfrm>
            <a:off x="8284464" y="5477256"/>
            <a:ext cx="3017520" cy="457200"/>
          </a:xfrm>
          <a:prstGeom prst="rect">
            <a:avLst/>
          </a:prstGeom>
          <a:noFill/>
          <a:ln/>
        </p:spPr>
        <p:txBody>
          <a:bodyPr wrap="square" lIns="0" tIns="0" rIns="0" bIns="0" rtlCol="0" anchor="ctr">
            <a:normAutofit/>
          </a:bodyPr>
          <a:lstStyle/>
          <a:p>
            <a:pPr marL="0" indent="0">
              <a:buNone/>
            </a:pPr>
            <a:r>
              <a:rPr lang="en-US" sz="1200">
                <a:solidFill>
                  <a:srgbClr val="63757E"/>
                </a:solidFill>
                <a:latin typeface="Calibri" pitchFamily="34" charset="0"/>
                <a:ea typeface="Calibri" pitchFamily="34" charset="-122"/>
                <a:cs typeface="Calibri" pitchFamily="34" charset="-120"/>
              </a:rPr>
              <a:t>Final per-agent output</a:t>
            </a:r>
            <a:endParaRPr lang="en-US"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777240"/>
          </a:xfrm>
          <a:prstGeom prst="rect">
            <a:avLst/>
          </a:prstGeom>
          <a:noFill/>
          <a:ln/>
        </p:spPr>
        <p:txBody>
          <a:bodyPr wrap="square" lIns="0" tIns="0" rIns="0" bIns="0" rtlCol="0" anchor="ctr"/>
          <a:lstStyle/>
          <a:p>
            <a:pPr marL="0" indent="0" algn="l">
              <a:buNone/>
            </a:pPr>
            <a:r>
              <a:rPr lang="en-US" sz="3200" b="1">
                <a:solidFill>
                  <a:srgbClr val="1B2A32"/>
                </a:solidFill>
                <a:latin typeface="Cambria" pitchFamily="34" charset="0"/>
                <a:ea typeface="Cambria" pitchFamily="34" charset="-122"/>
                <a:cs typeface="Cambria" pitchFamily="34" charset="-120"/>
              </a:rPr>
              <a:t>Technology Stack</a:t>
            </a:r>
            <a:endParaRPr lang="en-US" sz="3200"/>
          </a:p>
        </p:txBody>
      </p:sp>
      <p:sp>
        <p:nvSpPr>
          <p:cNvPr id="3" name="Shape 1"/>
          <p:cNvSpPr/>
          <p:nvPr/>
        </p:nvSpPr>
        <p:spPr>
          <a:xfrm>
            <a:off x="548640" y="1508760"/>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4" name="Shape 2"/>
          <p:cNvSpPr/>
          <p:nvPr/>
        </p:nvSpPr>
        <p:spPr>
          <a:xfrm>
            <a:off x="804672" y="1764792"/>
            <a:ext cx="201168" cy="822960"/>
          </a:xfrm>
          <a:prstGeom prst="roundRect">
            <a:avLst>
              <a:gd name="adj" fmla="val 22727"/>
            </a:avLst>
          </a:prstGeom>
          <a:solidFill>
            <a:srgbClr val="1C7293"/>
          </a:solidFill>
          <a:ln/>
        </p:spPr>
      </p:sp>
      <p:sp>
        <p:nvSpPr>
          <p:cNvPr id="5" name="Text 3"/>
          <p:cNvSpPr txBox="1"/>
          <p:nvPr/>
        </p:nvSpPr>
        <p:spPr>
          <a:xfrm>
            <a:off x="1170432" y="1728216"/>
            <a:ext cx="265176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LangGraph</a:t>
            </a:r>
            <a:endParaRPr lang="en-US" sz="1450"/>
          </a:p>
        </p:txBody>
      </p:sp>
      <p:sp>
        <p:nvSpPr>
          <p:cNvPr id="6" name="Text 4"/>
          <p:cNvSpPr txBox="1"/>
          <p:nvPr/>
        </p:nvSpPr>
        <p:spPr>
          <a:xfrm>
            <a:off x="1170432" y="2185416"/>
            <a:ext cx="2651760" cy="548640"/>
          </a:xfrm>
          <a:prstGeom prst="rect">
            <a:avLst/>
          </a:prstGeom>
          <a:noFill/>
          <a:ln/>
        </p:spPr>
        <p:txBody>
          <a:bodyPr wrap="square" lIns="0" tIns="0" rIns="0" bIns="0" rtlCol="0" anchor="ctr">
            <a:normAutofit/>
          </a:bodyPr>
          <a:lstStyle/>
          <a:p>
            <a:pPr marL="0" indent="0">
              <a:buNone/>
            </a:pPr>
            <a:r>
              <a:rPr lang="en-US" sz="1150">
                <a:solidFill>
                  <a:srgbClr val="63757E"/>
                </a:solidFill>
                <a:latin typeface="Calibri" pitchFamily="34" charset="0"/>
                <a:ea typeface="Calibri" pitchFamily="34" charset="-122"/>
                <a:cs typeface="Calibri" pitchFamily="34" charset="-120"/>
              </a:rPr>
              <a:t>Agent orchestration (state graph)</a:t>
            </a:r>
            <a:endParaRPr lang="en-US" sz="1150"/>
          </a:p>
        </p:txBody>
      </p:sp>
      <p:sp>
        <p:nvSpPr>
          <p:cNvPr id="7" name="Shape 5"/>
          <p:cNvSpPr/>
          <p:nvPr/>
        </p:nvSpPr>
        <p:spPr>
          <a:xfrm>
            <a:off x="4288536" y="1508760"/>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8" name="Shape 6"/>
          <p:cNvSpPr/>
          <p:nvPr/>
        </p:nvSpPr>
        <p:spPr>
          <a:xfrm>
            <a:off x="4544568" y="1764792"/>
            <a:ext cx="201168" cy="822960"/>
          </a:xfrm>
          <a:prstGeom prst="roundRect">
            <a:avLst>
              <a:gd name="adj" fmla="val 22727"/>
            </a:avLst>
          </a:prstGeom>
          <a:solidFill>
            <a:srgbClr val="E9A23B"/>
          </a:solidFill>
          <a:ln/>
        </p:spPr>
      </p:sp>
      <p:sp>
        <p:nvSpPr>
          <p:cNvPr id="9" name="Text 7"/>
          <p:cNvSpPr txBox="1"/>
          <p:nvPr/>
        </p:nvSpPr>
        <p:spPr>
          <a:xfrm>
            <a:off x="4910328" y="1728216"/>
            <a:ext cx="265176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FastAPI + Uvicorn</a:t>
            </a:r>
            <a:endParaRPr lang="en-US" sz="1450"/>
          </a:p>
        </p:txBody>
      </p:sp>
      <p:sp>
        <p:nvSpPr>
          <p:cNvPr id="10" name="Text 8"/>
          <p:cNvSpPr txBox="1"/>
          <p:nvPr/>
        </p:nvSpPr>
        <p:spPr>
          <a:xfrm>
            <a:off x="4910328" y="2185416"/>
            <a:ext cx="2651760" cy="548640"/>
          </a:xfrm>
          <a:prstGeom prst="rect">
            <a:avLst/>
          </a:prstGeom>
          <a:noFill/>
          <a:ln/>
        </p:spPr>
        <p:txBody>
          <a:bodyPr wrap="square" lIns="0" tIns="0" rIns="0" bIns="0" rtlCol="0" anchor="ctr">
            <a:normAutofit/>
          </a:bodyPr>
          <a:lstStyle/>
          <a:p>
            <a:pPr marL="0" indent="0">
              <a:buNone/>
            </a:pPr>
            <a:r>
              <a:rPr lang="en-US" sz="1150">
                <a:solidFill>
                  <a:srgbClr val="63757E"/>
                </a:solidFill>
                <a:latin typeface="Calibri" pitchFamily="34" charset="0"/>
                <a:ea typeface="Calibri" pitchFamily="34" charset="-122"/>
                <a:cs typeface="Calibri" pitchFamily="34" charset="-120"/>
              </a:rPr>
              <a:t>Async, typed backend API</a:t>
            </a:r>
            <a:endParaRPr lang="en-US" sz="1150"/>
          </a:p>
        </p:txBody>
      </p:sp>
      <p:sp>
        <p:nvSpPr>
          <p:cNvPr id="11" name="Shape 9"/>
          <p:cNvSpPr/>
          <p:nvPr/>
        </p:nvSpPr>
        <p:spPr>
          <a:xfrm>
            <a:off x="8028432" y="1508760"/>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12" name="Shape 10"/>
          <p:cNvSpPr/>
          <p:nvPr/>
        </p:nvSpPr>
        <p:spPr>
          <a:xfrm>
            <a:off x="8284464" y="1764792"/>
            <a:ext cx="201168" cy="822960"/>
          </a:xfrm>
          <a:prstGeom prst="roundRect">
            <a:avLst>
              <a:gd name="adj" fmla="val 22727"/>
            </a:avLst>
          </a:prstGeom>
          <a:solidFill>
            <a:srgbClr val="2BB3A3"/>
          </a:solidFill>
          <a:ln/>
        </p:spPr>
      </p:sp>
      <p:sp>
        <p:nvSpPr>
          <p:cNvPr id="13" name="Text 11"/>
          <p:cNvSpPr txBox="1"/>
          <p:nvPr/>
        </p:nvSpPr>
        <p:spPr>
          <a:xfrm>
            <a:off x="8650224" y="1728216"/>
            <a:ext cx="265176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Streamlit</a:t>
            </a:r>
            <a:endParaRPr lang="en-US" sz="1450"/>
          </a:p>
        </p:txBody>
      </p:sp>
      <p:sp>
        <p:nvSpPr>
          <p:cNvPr id="14" name="Text 12"/>
          <p:cNvSpPr txBox="1"/>
          <p:nvPr/>
        </p:nvSpPr>
        <p:spPr>
          <a:xfrm>
            <a:off x="8650224" y="2185416"/>
            <a:ext cx="2651760" cy="548640"/>
          </a:xfrm>
          <a:prstGeom prst="rect">
            <a:avLst/>
          </a:prstGeom>
          <a:noFill/>
          <a:ln/>
        </p:spPr>
        <p:txBody>
          <a:bodyPr wrap="square" lIns="0" tIns="0" rIns="0" bIns="0" rtlCol="0" anchor="ctr">
            <a:normAutofit/>
          </a:bodyPr>
          <a:lstStyle/>
          <a:p>
            <a:pPr marL="0" indent="0">
              <a:buNone/>
            </a:pPr>
            <a:r>
              <a:rPr lang="en-US" sz="1150">
                <a:solidFill>
                  <a:srgbClr val="63757E"/>
                </a:solidFill>
                <a:latin typeface="Calibri" pitchFamily="34" charset="0"/>
                <a:ea typeface="Calibri" pitchFamily="34" charset="-122"/>
                <a:cs typeface="Calibri" pitchFamily="34" charset="-120"/>
              </a:rPr>
              <a:t>Teacher / student web UI</a:t>
            </a:r>
            <a:endParaRPr lang="en-US" sz="1150"/>
          </a:p>
        </p:txBody>
      </p:sp>
      <p:sp>
        <p:nvSpPr>
          <p:cNvPr id="15" name="Shape 13"/>
          <p:cNvSpPr/>
          <p:nvPr/>
        </p:nvSpPr>
        <p:spPr>
          <a:xfrm>
            <a:off x="548640" y="3081528"/>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16" name="Shape 14"/>
          <p:cNvSpPr/>
          <p:nvPr/>
        </p:nvSpPr>
        <p:spPr>
          <a:xfrm>
            <a:off x="804672" y="3337560"/>
            <a:ext cx="201168" cy="822960"/>
          </a:xfrm>
          <a:prstGeom prst="roundRect">
            <a:avLst>
              <a:gd name="adj" fmla="val 22727"/>
            </a:avLst>
          </a:prstGeom>
          <a:solidFill>
            <a:srgbClr val="1C7293"/>
          </a:solidFill>
          <a:ln/>
        </p:spPr>
      </p:sp>
      <p:sp>
        <p:nvSpPr>
          <p:cNvPr id="17" name="Text 15"/>
          <p:cNvSpPr txBox="1"/>
          <p:nvPr/>
        </p:nvSpPr>
        <p:spPr>
          <a:xfrm>
            <a:off x="1170432" y="3300984"/>
            <a:ext cx="265176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PostgreSQL + pgvector</a:t>
            </a:r>
            <a:endParaRPr lang="en-US" sz="1450"/>
          </a:p>
        </p:txBody>
      </p:sp>
      <p:sp>
        <p:nvSpPr>
          <p:cNvPr id="18" name="Text 16"/>
          <p:cNvSpPr txBox="1"/>
          <p:nvPr/>
        </p:nvSpPr>
        <p:spPr>
          <a:xfrm>
            <a:off x="1170432" y="3758184"/>
            <a:ext cx="2651760" cy="548640"/>
          </a:xfrm>
          <a:prstGeom prst="rect">
            <a:avLst/>
          </a:prstGeom>
          <a:noFill/>
          <a:ln/>
        </p:spPr>
        <p:txBody>
          <a:bodyPr wrap="square" lIns="0" tIns="0" rIns="0" bIns="0" rtlCol="0" anchor="ctr">
            <a:normAutofit/>
          </a:bodyPr>
          <a:lstStyle/>
          <a:p>
            <a:pPr marL="0" indent="0">
              <a:buNone/>
            </a:pPr>
            <a:r>
              <a:rPr lang="en-US" sz="1150">
                <a:solidFill>
                  <a:srgbClr val="63757E"/>
                </a:solidFill>
                <a:latin typeface="Calibri" pitchFamily="34" charset="0"/>
                <a:ea typeface="Calibri" pitchFamily="34" charset="-122"/>
                <a:cs typeface="Calibri" pitchFamily="34" charset="-120"/>
              </a:rPr>
              <a:t>Relational store + vector search</a:t>
            </a:r>
            <a:endParaRPr lang="en-US" sz="1150"/>
          </a:p>
        </p:txBody>
      </p:sp>
      <p:sp>
        <p:nvSpPr>
          <p:cNvPr id="19" name="Shape 17"/>
          <p:cNvSpPr/>
          <p:nvPr/>
        </p:nvSpPr>
        <p:spPr>
          <a:xfrm>
            <a:off x="4288536" y="3081528"/>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20" name="Shape 18"/>
          <p:cNvSpPr/>
          <p:nvPr/>
        </p:nvSpPr>
        <p:spPr>
          <a:xfrm>
            <a:off x="4544568" y="3337560"/>
            <a:ext cx="201168" cy="822960"/>
          </a:xfrm>
          <a:prstGeom prst="roundRect">
            <a:avLst>
              <a:gd name="adj" fmla="val 22727"/>
            </a:avLst>
          </a:prstGeom>
          <a:solidFill>
            <a:srgbClr val="E9A23B"/>
          </a:solidFill>
          <a:ln/>
        </p:spPr>
      </p:sp>
      <p:sp>
        <p:nvSpPr>
          <p:cNvPr id="21" name="Text 19"/>
          <p:cNvSpPr txBox="1"/>
          <p:nvPr/>
        </p:nvSpPr>
        <p:spPr>
          <a:xfrm>
            <a:off x="4910328" y="3300984"/>
            <a:ext cx="265176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SQLAlchemy 2.0</a:t>
            </a:r>
            <a:endParaRPr lang="en-US" sz="1450"/>
          </a:p>
        </p:txBody>
      </p:sp>
      <p:sp>
        <p:nvSpPr>
          <p:cNvPr id="22" name="Text 20"/>
          <p:cNvSpPr txBox="1"/>
          <p:nvPr/>
        </p:nvSpPr>
        <p:spPr>
          <a:xfrm>
            <a:off x="4910328" y="3758184"/>
            <a:ext cx="2651760" cy="548640"/>
          </a:xfrm>
          <a:prstGeom prst="rect">
            <a:avLst/>
          </a:prstGeom>
          <a:noFill/>
          <a:ln/>
        </p:spPr>
        <p:txBody>
          <a:bodyPr wrap="square" lIns="0" tIns="0" rIns="0" bIns="0" rtlCol="0" anchor="ctr">
            <a:normAutofit/>
          </a:bodyPr>
          <a:lstStyle/>
          <a:p>
            <a:pPr marL="0" indent="0">
              <a:buNone/>
            </a:pPr>
            <a:r>
              <a:rPr lang="en-US" sz="1150">
                <a:solidFill>
                  <a:srgbClr val="63757E"/>
                </a:solidFill>
                <a:latin typeface="Calibri" pitchFamily="34" charset="0"/>
                <a:ea typeface="Calibri" pitchFamily="34" charset="-122"/>
                <a:cs typeface="Calibri" pitchFamily="34" charset="-120"/>
              </a:rPr>
              <a:t>ORM + nested-transaction savepoints</a:t>
            </a:r>
            <a:endParaRPr lang="en-US" sz="1150"/>
          </a:p>
        </p:txBody>
      </p:sp>
      <p:sp>
        <p:nvSpPr>
          <p:cNvPr id="23" name="Shape 21"/>
          <p:cNvSpPr/>
          <p:nvPr/>
        </p:nvSpPr>
        <p:spPr>
          <a:xfrm>
            <a:off x="8028432" y="3081528"/>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24" name="Shape 22"/>
          <p:cNvSpPr/>
          <p:nvPr/>
        </p:nvSpPr>
        <p:spPr>
          <a:xfrm>
            <a:off x="8284464" y="3337560"/>
            <a:ext cx="201168" cy="822960"/>
          </a:xfrm>
          <a:prstGeom prst="roundRect">
            <a:avLst>
              <a:gd name="adj" fmla="val 22727"/>
            </a:avLst>
          </a:prstGeom>
          <a:solidFill>
            <a:srgbClr val="2BB3A3"/>
          </a:solidFill>
          <a:ln/>
        </p:spPr>
      </p:sp>
      <p:sp>
        <p:nvSpPr>
          <p:cNvPr id="25" name="Text 23"/>
          <p:cNvSpPr txBox="1"/>
          <p:nvPr/>
        </p:nvSpPr>
        <p:spPr>
          <a:xfrm>
            <a:off x="8650224" y="3300984"/>
            <a:ext cx="265176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Pydantic</a:t>
            </a:r>
            <a:endParaRPr lang="en-US" sz="1450"/>
          </a:p>
        </p:txBody>
      </p:sp>
      <p:sp>
        <p:nvSpPr>
          <p:cNvPr id="26" name="Text 24"/>
          <p:cNvSpPr txBox="1"/>
          <p:nvPr/>
        </p:nvSpPr>
        <p:spPr>
          <a:xfrm>
            <a:off x="8650224" y="3758184"/>
            <a:ext cx="2651760" cy="548640"/>
          </a:xfrm>
          <a:prstGeom prst="rect">
            <a:avLst/>
          </a:prstGeom>
          <a:noFill/>
          <a:ln/>
        </p:spPr>
        <p:txBody>
          <a:bodyPr wrap="square" lIns="0" tIns="0" rIns="0" bIns="0" rtlCol="0" anchor="ctr">
            <a:normAutofit/>
          </a:bodyPr>
          <a:lstStyle/>
          <a:p>
            <a:pPr marL="0" indent="0">
              <a:buNone/>
            </a:pPr>
            <a:r>
              <a:rPr lang="en-US" sz="1150">
                <a:solidFill>
                  <a:srgbClr val="63757E"/>
                </a:solidFill>
                <a:latin typeface="Calibri" pitchFamily="34" charset="0"/>
                <a:ea typeface="Calibri" pitchFamily="34" charset="-122"/>
                <a:cs typeface="Calibri" pitchFamily="34" charset="-120"/>
              </a:rPr>
              <a:t>Validates every agent's output</a:t>
            </a:r>
            <a:endParaRPr lang="en-US" sz="1150"/>
          </a:p>
        </p:txBody>
      </p:sp>
      <p:sp>
        <p:nvSpPr>
          <p:cNvPr id="27" name="Shape 25"/>
          <p:cNvSpPr/>
          <p:nvPr/>
        </p:nvSpPr>
        <p:spPr>
          <a:xfrm>
            <a:off x="548640" y="4654296"/>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28" name="Shape 26"/>
          <p:cNvSpPr/>
          <p:nvPr/>
        </p:nvSpPr>
        <p:spPr>
          <a:xfrm>
            <a:off x="804672" y="4910328"/>
            <a:ext cx="201168" cy="822960"/>
          </a:xfrm>
          <a:prstGeom prst="roundRect">
            <a:avLst>
              <a:gd name="adj" fmla="val 22727"/>
            </a:avLst>
          </a:prstGeom>
          <a:solidFill>
            <a:srgbClr val="1C7293"/>
          </a:solidFill>
          <a:ln/>
        </p:spPr>
      </p:sp>
      <p:sp>
        <p:nvSpPr>
          <p:cNvPr id="29" name="Text 27"/>
          <p:cNvSpPr txBox="1"/>
          <p:nvPr/>
        </p:nvSpPr>
        <p:spPr>
          <a:xfrm>
            <a:off x="1170432" y="4873752"/>
            <a:ext cx="265176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OpenRouter / mock LLM</a:t>
            </a:r>
            <a:endParaRPr lang="en-US" sz="1450"/>
          </a:p>
        </p:txBody>
      </p:sp>
      <p:sp>
        <p:nvSpPr>
          <p:cNvPr id="30" name="Text 28"/>
          <p:cNvSpPr txBox="1"/>
          <p:nvPr/>
        </p:nvSpPr>
        <p:spPr>
          <a:xfrm>
            <a:off x="1170432" y="5330952"/>
            <a:ext cx="2651760" cy="548640"/>
          </a:xfrm>
          <a:prstGeom prst="rect">
            <a:avLst/>
          </a:prstGeom>
          <a:noFill/>
          <a:ln/>
        </p:spPr>
        <p:txBody>
          <a:bodyPr wrap="square" lIns="0" tIns="0" rIns="0" bIns="0" rtlCol="0" anchor="ctr">
            <a:normAutofit/>
          </a:bodyPr>
          <a:lstStyle/>
          <a:p>
            <a:pPr marL="0" indent="0">
              <a:buNone/>
            </a:pPr>
            <a:r>
              <a:rPr lang="en-US" sz="1150">
                <a:solidFill>
                  <a:srgbClr val="63757E"/>
                </a:solidFill>
                <a:latin typeface="Calibri" pitchFamily="34" charset="0"/>
                <a:ea typeface="Calibri" pitchFamily="34" charset="-122"/>
                <a:cs typeface="Calibri" pitchFamily="34" charset="-120"/>
              </a:rPr>
              <a:t>Real models, deterministic offline</a:t>
            </a:r>
            <a:endParaRPr lang="en-US" sz="1150"/>
          </a:p>
        </p:txBody>
      </p:sp>
      <p:sp>
        <p:nvSpPr>
          <p:cNvPr id="31" name="Shape 29"/>
          <p:cNvSpPr/>
          <p:nvPr/>
        </p:nvSpPr>
        <p:spPr>
          <a:xfrm>
            <a:off x="4288536" y="4654296"/>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32" name="Shape 30"/>
          <p:cNvSpPr/>
          <p:nvPr/>
        </p:nvSpPr>
        <p:spPr>
          <a:xfrm>
            <a:off x="4544568" y="4910328"/>
            <a:ext cx="201168" cy="822960"/>
          </a:xfrm>
          <a:prstGeom prst="roundRect">
            <a:avLst>
              <a:gd name="adj" fmla="val 22727"/>
            </a:avLst>
          </a:prstGeom>
          <a:solidFill>
            <a:srgbClr val="E9A23B"/>
          </a:solidFill>
          <a:ln/>
        </p:spPr>
      </p:sp>
      <p:sp>
        <p:nvSpPr>
          <p:cNvPr id="33" name="Text 31"/>
          <p:cNvSpPr txBox="1"/>
          <p:nvPr/>
        </p:nvSpPr>
        <p:spPr>
          <a:xfrm>
            <a:off x="4910328" y="4873752"/>
            <a:ext cx="265176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pypdf · python-docx</a:t>
            </a:r>
            <a:endParaRPr lang="en-US" sz="1450"/>
          </a:p>
        </p:txBody>
      </p:sp>
      <p:sp>
        <p:nvSpPr>
          <p:cNvPr id="34" name="Text 32"/>
          <p:cNvSpPr txBox="1"/>
          <p:nvPr/>
        </p:nvSpPr>
        <p:spPr>
          <a:xfrm>
            <a:off x="4910328" y="5330952"/>
            <a:ext cx="2651760" cy="548640"/>
          </a:xfrm>
          <a:prstGeom prst="rect">
            <a:avLst/>
          </a:prstGeom>
          <a:noFill/>
          <a:ln/>
        </p:spPr>
        <p:txBody>
          <a:bodyPr wrap="square" lIns="0" tIns="0" rIns="0" bIns="0" rtlCol="0" anchor="ctr">
            <a:normAutofit/>
          </a:bodyPr>
          <a:lstStyle/>
          <a:p>
            <a:pPr marL="0" indent="0">
              <a:buNone/>
            </a:pPr>
            <a:r>
              <a:rPr lang="en-US" sz="1150">
                <a:solidFill>
                  <a:srgbClr val="63757E"/>
                </a:solidFill>
                <a:latin typeface="Calibri" pitchFamily="34" charset="0"/>
                <a:ea typeface="Calibri" pitchFamily="34" charset="-122"/>
                <a:cs typeface="Calibri" pitchFamily="34" charset="-120"/>
              </a:rPr>
              <a:t>Document &amp; DOCX-table parsing</a:t>
            </a:r>
            <a:endParaRPr lang="en-US" sz="1150"/>
          </a:p>
        </p:txBody>
      </p:sp>
      <p:sp>
        <p:nvSpPr>
          <p:cNvPr id="35" name="Shape 33"/>
          <p:cNvSpPr/>
          <p:nvPr/>
        </p:nvSpPr>
        <p:spPr>
          <a:xfrm>
            <a:off x="8028432" y="4654296"/>
            <a:ext cx="3474720" cy="1371600"/>
          </a:xfrm>
          <a:prstGeom prst="roundRect">
            <a:avLst>
              <a:gd name="adj" fmla="val 6000"/>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36" name="Shape 34"/>
          <p:cNvSpPr/>
          <p:nvPr/>
        </p:nvSpPr>
        <p:spPr>
          <a:xfrm>
            <a:off x="8284464" y="4910328"/>
            <a:ext cx="201168" cy="822960"/>
          </a:xfrm>
          <a:prstGeom prst="roundRect">
            <a:avLst>
              <a:gd name="adj" fmla="val 22727"/>
            </a:avLst>
          </a:prstGeom>
          <a:solidFill>
            <a:srgbClr val="2BB3A3"/>
          </a:solidFill>
          <a:ln/>
        </p:spPr>
      </p:sp>
      <p:sp>
        <p:nvSpPr>
          <p:cNvPr id="37" name="Text 35"/>
          <p:cNvSpPr txBox="1"/>
          <p:nvPr/>
        </p:nvSpPr>
        <p:spPr>
          <a:xfrm>
            <a:off x="8650224" y="4873752"/>
            <a:ext cx="2651760" cy="457200"/>
          </a:xfrm>
          <a:prstGeom prst="rect">
            <a:avLst/>
          </a:prstGeom>
          <a:noFill/>
          <a:ln/>
        </p:spPr>
        <p:txBody>
          <a:bodyPr wrap="square" lIns="0" tIns="0" rIns="0" bIns="0" rtlCol="0" anchor="ctr">
            <a:normAutofit/>
          </a:bodyPr>
          <a:lstStyle/>
          <a:p>
            <a:pPr marL="0" indent="0">
              <a:buNone/>
            </a:pPr>
            <a:r>
              <a:rPr lang="en-US" sz="1450" b="1">
                <a:solidFill>
                  <a:srgbClr val="1B2A32"/>
                </a:solidFill>
                <a:latin typeface="Cambria" pitchFamily="34" charset="0"/>
                <a:ea typeface="Cambria" pitchFamily="34" charset="-122"/>
                <a:cs typeface="Cambria" pitchFamily="34" charset="-120"/>
              </a:rPr>
              <a:t>PyJWT · bcrypt</a:t>
            </a:r>
            <a:endParaRPr lang="en-US" sz="1450"/>
          </a:p>
        </p:txBody>
      </p:sp>
      <p:sp>
        <p:nvSpPr>
          <p:cNvPr id="38" name="Text 36"/>
          <p:cNvSpPr txBox="1"/>
          <p:nvPr/>
        </p:nvSpPr>
        <p:spPr>
          <a:xfrm>
            <a:off x="8650224" y="5330952"/>
            <a:ext cx="2651760" cy="548640"/>
          </a:xfrm>
          <a:prstGeom prst="rect">
            <a:avLst/>
          </a:prstGeom>
          <a:noFill/>
          <a:ln/>
        </p:spPr>
        <p:txBody>
          <a:bodyPr wrap="square" lIns="0" tIns="0" rIns="0" bIns="0" rtlCol="0" anchor="ctr">
            <a:normAutofit/>
          </a:bodyPr>
          <a:lstStyle/>
          <a:p>
            <a:pPr marL="0" indent="0">
              <a:buNone/>
            </a:pPr>
            <a:r>
              <a:rPr lang="en-US" sz="1150">
                <a:solidFill>
                  <a:srgbClr val="63757E"/>
                </a:solidFill>
                <a:latin typeface="Calibri" pitchFamily="34" charset="0"/>
                <a:ea typeface="Calibri" pitchFamily="34" charset="-122"/>
                <a:cs typeface="Calibri" pitchFamily="34" charset="-120"/>
              </a:rPr>
              <a:t>Auth: tokens + hashed passwords</a:t>
            </a:r>
            <a:endParaRPr lang="en-US" sz="11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a:extLst>
            <a:ext uri="{FF2B5EF4-FFF2-40B4-BE49-F238E27FC236}">
              <a16:creationId xmlns:a16="http://schemas.microsoft.com/office/drawing/2014/main" id="{7C1C2E99-DC36-ED0A-CD54-7716E2E985F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96FF038-B3A5-50DA-44D6-3D6082B7C99C}"/>
              </a:ext>
            </a:extLst>
          </p:cNvPr>
          <p:cNvSpPr txBox="1"/>
          <p:nvPr/>
        </p:nvSpPr>
        <p:spPr>
          <a:xfrm>
            <a:off x="548640" y="384048"/>
            <a:ext cx="11091672" cy="777240"/>
          </a:xfrm>
          <a:prstGeom prst="rect">
            <a:avLst/>
          </a:prstGeom>
          <a:noFill/>
          <a:ln/>
        </p:spPr>
        <p:txBody>
          <a:bodyPr wrap="square" lIns="0" tIns="0" rIns="0" bIns="0" rtlCol="0" anchor="ctr"/>
          <a:lstStyle/>
          <a:p>
            <a:r>
              <a:rPr lang="en-US" sz="3200" b="1">
                <a:solidFill>
                  <a:srgbClr val="1B2A32"/>
                </a:solidFill>
                <a:latin typeface="Cambria"/>
                <a:ea typeface="Cambria"/>
                <a:cs typeface="Cambria" pitchFamily="34" charset="-120"/>
              </a:rPr>
              <a:t>The Application (Registration &amp; Login)</a:t>
            </a:r>
            <a:endParaRPr lang="en-US" sz="3200"/>
          </a:p>
        </p:txBody>
      </p:sp>
      <p:pic>
        <p:nvPicPr>
          <p:cNvPr id="5" name="Picture 4">
            <a:extLst>
              <a:ext uri="{FF2B5EF4-FFF2-40B4-BE49-F238E27FC236}">
                <a16:creationId xmlns:a16="http://schemas.microsoft.com/office/drawing/2014/main" id="{B334EA0E-7663-02DD-FD42-AC2EA84AFF42}"/>
              </a:ext>
            </a:extLst>
          </p:cNvPr>
          <p:cNvPicPr>
            <a:picLocks noChangeAspect="1"/>
          </p:cNvPicPr>
          <p:nvPr/>
        </p:nvPicPr>
        <p:blipFill>
          <a:blip r:embed="rId3"/>
          <a:stretch>
            <a:fillRect/>
          </a:stretch>
        </p:blipFill>
        <p:spPr>
          <a:xfrm>
            <a:off x="0" y="1151324"/>
            <a:ext cx="12192000" cy="4573714"/>
          </a:xfrm>
          <a:prstGeom prst="rect">
            <a:avLst/>
          </a:prstGeom>
        </p:spPr>
      </p:pic>
    </p:spTree>
    <p:extLst>
      <p:ext uri="{BB962C8B-B14F-4D97-AF65-F5344CB8AC3E}">
        <p14:creationId xmlns:p14="http://schemas.microsoft.com/office/powerpoint/2010/main" val="184833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a:extLst>
            <a:ext uri="{FF2B5EF4-FFF2-40B4-BE49-F238E27FC236}">
              <a16:creationId xmlns:a16="http://schemas.microsoft.com/office/drawing/2014/main" id="{63538993-611E-CCCD-DB6D-8B68DED9554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6B474F4-CA4B-FD8E-0DFC-6734C9AD82D9}"/>
              </a:ext>
            </a:extLst>
          </p:cNvPr>
          <p:cNvSpPr txBox="1"/>
          <p:nvPr/>
        </p:nvSpPr>
        <p:spPr>
          <a:xfrm>
            <a:off x="548640" y="384048"/>
            <a:ext cx="11091672" cy="777240"/>
          </a:xfrm>
          <a:prstGeom prst="rect">
            <a:avLst/>
          </a:prstGeom>
          <a:noFill/>
          <a:ln/>
        </p:spPr>
        <p:txBody>
          <a:bodyPr wrap="square" lIns="0" tIns="0" rIns="0" bIns="0" rtlCol="0" anchor="ctr"/>
          <a:lstStyle/>
          <a:p>
            <a:r>
              <a:rPr lang="en-US" sz="3200" b="1" dirty="0">
                <a:solidFill>
                  <a:srgbClr val="1B2A32"/>
                </a:solidFill>
                <a:latin typeface="Cambria"/>
                <a:ea typeface="Cambria"/>
                <a:cs typeface="Cambria" pitchFamily="34" charset="-120"/>
              </a:rPr>
              <a:t>The Application (Upload &amp; </a:t>
            </a:r>
            <a:r>
              <a:rPr lang="en-US" sz="3200" b="1">
                <a:solidFill>
                  <a:srgbClr val="1B2A32"/>
                </a:solidFill>
                <a:latin typeface="Cambria"/>
                <a:ea typeface="Cambria"/>
                <a:cs typeface="Cambria" pitchFamily="34" charset="-120"/>
              </a:rPr>
              <a:t>Analyze Documents)</a:t>
            </a:r>
            <a:endParaRPr lang="en-US" sz="3200"/>
          </a:p>
        </p:txBody>
      </p:sp>
      <p:sp>
        <p:nvSpPr>
          <p:cNvPr id="11" name="Text 9">
            <a:extLst>
              <a:ext uri="{FF2B5EF4-FFF2-40B4-BE49-F238E27FC236}">
                <a16:creationId xmlns:a16="http://schemas.microsoft.com/office/drawing/2014/main" id="{74BF3752-074D-4BDA-29FA-96AE8A63D6A9}"/>
              </a:ext>
            </a:extLst>
          </p:cNvPr>
          <p:cNvSpPr txBox="1"/>
          <p:nvPr/>
        </p:nvSpPr>
        <p:spPr>
          <a:xfrm>
            <a:off x="8348215" y="4520111"/>
            <a:ext cx="3840480" cy="347472"/>
          </a:xfrm>
          <a:prstGeom prst="rect">
            <a:avLst/>
          </a:prstGeom>
          <a:noFill/>
          <a:ln/>
        </p:spPr>
        <p:txBody>
          <a:bodyPr wrap="square" lIns="0" tIns="0" rIns="0" bIns="0" rtlCol="0" anchor="ctr"/>
          <a:lstStyle/>
          <a:p>
            <a:pPr marL="0" indent="0">
              <a:buNone/>
            </a:pPr>
            <a:r>
              <a:rPr lang="en-US" sz="1100" b="1">
                <a:solidFill>
                  <a:srgbClr val="63757E"/>
                </a:solidFill>
                <a:latin typeface="Calibri" pitchFamily="34" charset="0"/>
                <a:ea typeface="Calibri" pitchFamily="34" charset="-122"/>
                <a:cs typeface="Calibri" pitchFamily="34" charset="-120"/>
              </a:rPr>
              <a:t>Registration &amp; login</a:t>
            </a:r>
            <a:endParaRPr lang="en-US" sz="1100"/>
          </a:p>
        </p:txBody>
      </p:sp>
      <p:sp>
        <p:nvSpPr>
          <p:cNvPr id="21" name="Text 19">
            <a:extLst>
              <a:ext uri="{FF2B5EF4-FFF2-40B4-BE49-F238E27FC236}">
                <a16:creationId xmlns:a16="http://schemas.microsoft.com/office/drawing/2014/main" id="{7BF673A6-41B5-4F28-6153-6F8B67420A83}"/>
              </a:ext>
            </a:extLst>
          </p:cNvPr>
          <p:cNvSpPr txBox="1"/>
          <p:nvPr/>
        </p:nvSpPr>
        <p:spPr>
          <a:xfrm>
            <a:off x="8261365" y="4841436"/>
            <a:ext cx="3840480" cy="347472"/>
          </a:xfrm>
          <a:prstGeom prst="rect">
            <a:avLst/>
          </a:prstGeom>
          <a:noFill/>
          <a:ln/>
        </p:spPr>
        <p:txBody>
          <a:bodyPr wrap="square" lIns="0" tIns="0" rIns="0" bIns="0" rtlCol="0" anchor="ctr"/>
          <a:lstStyle/>
          <a:p>
            <a:pPr marL="0" indent="0">
              <a:buNone/>
            </a:pPr>
            <a:r>
              <a:rPr lang="en-US" sz="1100" b="1">
                <a:solidFill>
                  <a:srgbClr val="63757E"/>
                </a:solidFill>
                <a:latin typeface="Calibri" pitchFamily="34" charset="0"/>
                <a:ea typeface="Calibri" pitchFamily="34" charset="-122"/>
                <a:cs typeface="Calibri" pitchFamily="34" charset="-120"/>
              </a:rPr>
              <a:t>Upload &amp; analyze curriculum</a:t>
            </a:r>
            <a:endParaRPr lang="en-US" sz="1100"/>
          </a:p>
        </p:txBody>
      </p:sp>
      <p:sp>
        <p:nvSpPr>
          <p:cNvPr id="41" name="Text 39">
            <a:extLst>
              <a:ext uri="{FF2B5EF4-FFF2-40B4-BE49-F238E27FC236}">
                <a16:creationId xmlns:a16="http://schemas.microsoft.com/office/drawing/2014/main" id="{E23FE140-287A-A57E-160E-390A675B4BE9}"/>
              </a:ext>
            </a:extLst>
          </p:cNvPr>
          <p:cNvSpPr txBox="1"/>
          <p:nvPr/>
        </p:nvSpPr>
        <p:spPr>
          <a:xfrm>
            <a:off x="8793847" y="5355373"/>
            <a:ext cx="3840480" cy="347472"/>
          </a:xfrm>
          <a:prstGeom prst="rect">
            <a:avLst/>
          </a:prstGeom>
          <a:noFill/>
          <a:ln/>
        </p:spPr>
        <p:txBody>
          <a:bodyPr wrap="square" lIns="0" tIns="0" rIns="0" bIns="0" rtlCol="0" anchor="ctr"/>
          <a:lstStyle/>
          <a:p>
            <a:pPr marL="0" indent="0">
              <a:buNone/>
            </a:pPr>
            <a:r>
              <a:rPr lang="en-US" sz="1100" b="1">
                <a:solidFill>
                  <a:srgbClr val="63757E"/>
                </a:solidFill>
                <a:latin typeface="Calibri" pitchFamily="34" charset="0"/>
                <a:ea typeface="Calibri" pitchFamily="34" charset="-122"/>
                <a:cs typeface="Calibri" pitchFamily="34" charset="-120"/>
              </a:rPr>
              <a:t>Agent Console</a:t>
            </a:r>
            <a:endParaRPr lang="en-US" sz="1100"/>
          </a:p>
        </p:txBody>
      </p:sp>
      <p:pic>
        <p:nvPicPr>
          <p:cNvPr id="3" name="Picture 2">
            <a:extLst>
              <a:ext uri="{FF2B5EF4-FFF2-40B4-BE49-F238E27FC236}">
                <a16:creationId xmlns:a16="http://schemas.microsoft.com/office/drawing/2014/main" id="{EEAFF72C-1704-2DBF-B739-F805D3E183C4}"/>
              </a:ext>
            </a:extLst>
          </p:cNvPr>
          <p:cNvPicPr>
            <a:picLocks noChangeAspect="1"/>
          </p:cNvPicPr>
          <p:nvPr/>
        </p:nvPicPr>
        <p:blipFill>
          <a:blip r:embed="rId3"/>
          <a:stretch>
            <a:fillRect/>
          </a:stretch>
        </p:blipFill>
        <p:spPr>
          <a:xfrm>
            <a:off x="220337" y="1440929"/>
            <a:ext cx="12192000" cy="4673877"/>
          </a:xfrm>
          <a:prstGeom prst="rect">
            <a:avLst/>
          </a:prstGeom>
        </p:spPr>
      </p:pic>
    </p:spTree>
    <p:extLst>
      <p:ext uri="{BB962C8B-B14F-4D97-AF65-F5344CB8AC3E}">
        <p14:creationId xmlns:p14="http://schemas.microsoft.com/office/powerpoint/2010/main" val="1216056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777240"/>
          </a:xfrm>
          <a:prstGeom prst="rect">
            <a:avLst/>
          </a:prstGeom>
          <a:noFill/>
          <a:ln/>
        </p:spPr>
        <p:txBody>
          <a:bodyPr wrap="square" lIns="0" tIns="0" rIns="0" bIns="0" rtlCol="0" anchor="ctr"/>
          <a:lstStyle/>
          <a:p>
            <a:r>
              <a:rPr lang="en-US" sz="3200" b="1">
                <a:solidFill>
                  <a:srgbClr val="1B2A32"/>
                </a:solidFill>
                <a:latin typeface="Cambria"/>
                <a:ea typeface="Cambria"/>
                <a:cs typeface="Cambria" pitchFamily="34" charset="-120"/>
              </a:rPr>
              <a:t>The Application (OBE MAPPING)</a:t>
            </a:r>
            <a:endParaRPr lang="en-US" sz="3200"/>
          </a:p>
        </p:txBody>
      </p:sp>
      <p:pic>
        <p:nvPicPr>
          <p:cNvPr id="43" name="Picture 42">
            <a:extLst>
              <a:ext uri="{FF2B5EF4-FFF2-40B4-BE49-F238E27FC236}">
                <a16:creationId xmlns:a16="http://schemas.microsoft.com/office/drawing/2014/main" id="{397077B8-2403-B29C-8598-6353755A203C}"/>
              </a:ext>
            </a:extLst>
          </p:cNvPr>
          <p:cNvPicPr>
            <a:picLocks noChangeAspect="1"/>
          </p:cNvPicPr>
          <p:nvPr/>
        </p:nvPicPr>
        <p:blipFill>
          <a:blip r:embed="rId3"/>
          <a:stretch>
            <a:fillRect/>
          </a:stretch>
        </p:blipFill>
        <p:spPr>
          <a:xfrm>
            <a:off x="1007049" y="1340385"/>
            <a:ext cx="10141177" cy="53156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a:extLst>
            <a:ext uri="{FF2B5EF4-FFF2-40B4-BE49-F238E27FC236}">
              <a16:creationId xmlns:a16="http://schemas.microsoft.com/office/drawing/2014/main" id="{5C427BD7-5485-AFF2-036A-C1E138F8FEE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905BEF7-81EC-8949-C0DA-157711737A01}"/>
              </a:ext>
            </a:extLst>
          </p:cNvPr>
          <p:cNvSpPr txBox="1"/>
          <p:nvPr/>
        </p:nvSpPr>
        <p:spPr>
          <a:xfrm>
            <a:off x="548640" y="384048"/>
            <a:ext cx="11091672" cy="777240"/>
          </a:xfrm>
          <a:prstGeom prst="rect">
            <a:avLst/>
          </a:prstGeom>
          <a:noFill/>
          <a:ln/>
        </p:spPr>
        <p:txBody>
          <a:bodyPr wrap="square" lIns="0" tIns="0" rIns="0" bIns="0" rtlCol="0" anchor="ctr"/>
          <a:lstStyle/>
          <a:p>
            <a:r>
              <a:rPr lang="en-US" sz="3200" b="1">
                <a:solidFill>
                  <a:srgbClr val="1B2A32"/>
                </a:solidFill>
                <a:latin typeface="Cambria"/>
                <a:ea typeface="Cambria"/>
                <a:cs typeface="Cambria" pitchFamily="34" charset="-120"/>
              </a:rPr>
              <a:t>The Application (Study Plan Generation)</a:t>
            </a:r>
            <a:endParaRPr lang="en-US" sz="3200"/>
          </a:p>
        </p:txBody>
      </p:sp>
      <p:pic>
        <p:nvPicPr>
          <p:cNvPr id="3" name="Picture 2">
            <a:extLst>
              <a:ext uri="{FF2B5EF4-FFF2-40B4-BE49-F238E27FC236}">
                <a16:creationId xmlns:a16="http://schemas.microsoft.com/office/drawing/2014/main" id="{3D2454A2-AAD9-99A2-B4D6-888FC07ACD18}"/>
              </a:ext>
            </a:extLst>
          </p:cNvPr>
          <p:cNvPicPr>
            <a:picLocks noChangeAspect="1"/>
          </p:cNvPicPr>
          <p:nvPr/>
        </p:nvPicPr>
        <p:blipFill>
          <a:blip r:embed="rId3"/>
          <a:stretch>
            <a:fillRect/>
          </a:stretch>
        </p:blipFill>
        <p:spPr>
          <a:xfrm>
            <a:off x="550843" y="1062587"/>
            <a:ext cx="10998506" cy="5549912"/>
          </a:xfrm>
          <a:prstGeom prst="rect">
            <a:avLst/>
          </a:prstGeom>
        </p:spPr>
      </p:pic>
    </p:spTree>
    <p:extLst>
      <p:ext uri="{BB962C8B-B14F-4D97-AF65-F5344CB8AC3E}">
        <p14:creationId xmlns:p14="http://schemas.microsoft.com/office/powerpoint/2010/main" val="3672139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a:extLst>
            <a:ext uri="{FF2B5EF4-FFF2-40B4-BE49-F238E27FC236}">
              <a16:creationId xmlns:a16="http://schemas.microsoft.com/office/drawing/2014/main" id="{67926AA1-6C59-5C1B-29E8-B86193D3F92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A0BC6F1-FBD7-A636-A7C9-802751A9AB56}"/>
              </a:ext>
            </a:extLst>
          </p:cNvPr>
          <p:cNvSpPr txBox="1"/>
          <p:nvPr/>
        </p:nvSpPr>
        <p:spPr>
          <a:xfrm>
            <a:off x="548640" y="384048"/>
            <a:ext cx="11091672" cy="777240"/>
          </a:xfrm>
          <a:prstGeom prst="rect">
            <a:avLst/>
          </a:prstGeom>
          <a:noFill/>
          <a:ln/>
        </p:spPr>
        <p:txBody>
          <a:bodyPr wrap="square" lIns="0" tIns="0" rIns="0" bIns="0" rtlCol="0" anchor="ctr"/>
          <a:lstStyle/>
          <a:p>
            <a:r>
              <a:rPr lang="en-US" sz="3200" b="1">
                <a:solidFill>
                  <a:srgbClr val="1B2A32"/>
                </a:solidFill>
                <a:latin typeface="Cambria"/>
                <a:ea typeface="Cambria"/>
                <a:cs typeface="Cambria" pitchFamily="34" charset="-120"/>
              </a:rPr>
              <a:t>The Application (Lesson Generation)</a:t>
            </a:r>
            <a:endParaRPr lang="en-US" sz="3200"/>
          </a:p>
        </p:txBody>
      </p:sp>
      <p:pic>
        <p:nvPicPr>
          <p:cNvPr id="4" name="Picture 3">
            <a:extLst>
              <a:ext uri="{FF2B5EF4-FFF2-40B4-BE49-F238E27FC236}">
                <a16:creationId xmlns:a16="http://schemas.microsoft.com/office/drawing/2014/main" id="{B626A444-4C96-A8A0-47B9-5C58060A3215}"/>
              </a:ext>
            </a:extLst>
          </p:cNvPr>
          <p:cNvPicPr>
            <a:picLocks noChangeAspect="1"/>
          </p:cNvPicPr>
          <p:nvPr/>
        </p:nvPicPr>
        <p:blipFill>
          <a:blip r:embed="rId3"/>
          <a:stretch>
            <a:fillRect/>
          </a:stretch>
        </p:blipFill>
        <p:spPr>
          <a:xfrm>
            <a:off x="299217" y="1156771"/>
            <a:ext cx="11593566" cy="5646146"/>
          </a:xfrm>
          <a:prstGeom prst="rect">
            <a:avLst/>
          </a:prstGeom>
        </p:spPr>
      </p:pic>
    </p:spTree>
    <p:extLst>
      <p:ext uri="{BB962C8B-B14F-4D97-AF65-F5344CB8AC3E}">
        <p14:creationId xmlns:p14="http://schemas.microsoft.com/office/powerpoint/2010/main" val="579885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a:extLst>
            <a:ext uri="{FF2B5EF4-FFF2-40B4-BE49-F238E27FC236}">
              <a16:creationId xmlns:a16="http://schemas.microsoft.com/office/drawing/2014/main" id="{631B2FDB-3919-6CCB-1A9E-47D6A09BF1B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A4910EF-4058-E15A-5461-EC78F57FA904}"/>
              </a:ext>
            </a:extLst>
          </p:cNvPr>
          <p:cNvSpPr txBox="1"/>
          <p:nvPr/>
        </p:nvSpPr>
        <p:spPr>
          <a:xfrm>
            <a:off x="548640" y="255518"/>
            <a:ext cx="11091672" cy="777240"/>
          </a:xfrm>
          <a:prstGeom prst="rect">
            <a:avLst/>
          </a:prstGeom>
          <a:noFill/>
          <a:ln/>
        </p:spPr>
        <p:txBody>
          <a:bodyPr wrap="square" lIns="0" tIns="0" rIns="0" bIns="0" rtlCol="0" anchor="ctr"/>
          <a:lstStyle/>
          <a:p>
            <a:r>
              <a:rPr lang="en-US" sz="3200" b="1">
                <a:solidFill>
                  <a:srgbClr val="1B2A32"/>
                </a:solidFill>
                <a:latin typeface="Cambria"/>
                <a:ea typeface="Cambria"/>
                <a:cs typeface="Cambria" pitchFamily="34" charset="-120"/>
              </a:rPr>
              <a:t>The Application (Quiz Generation)</a:t>
            </a:r>
            <a:endParaRPr lang="en-US" sz="3200"/>
          </a:p>
        </p:txBody>
      </p:sp>
      <p:pic>
        <p:nvPicPr>
          <p:cNvPr id="3" name="Picture 2">
            <a:extLst>
              <a:ext uri="{FF2B5EF4-FFF2-40B4-BE49-F238E27FC236}">
                <a16:creationId xmlns:a16="http://schemas.microsoft.com/office/drawing/2014/main" id="{36885120-0A51-FDF1-A212-2A3B8714C28C}"/>
              </a:ext>
            </a:extLst>
          </p:cNvPr>
          <p:cNvPicPr>
            <a:picLocks noChangeAspect="1"/>
          </p:cNvPicPr>
          <p:nvPr/>
        </p:nvPicPr>
        <p:blipFill>
          <a:blip r:embed="rId3"/>
          <a:stretch>
            <a:fillRect/>
          </a:stretch>
        </p:blipFill>
        <p:spPr>
          <a:xfrm>
            <a:off x="440943" y="908892"/>
            <a:ext cx="11438642" cy="5829760"/>
          </a:xfrm>
          <a:prstGeom prst="rect">
            <a:avLst/>
          </a:prstGeom>
        </p:spPr>
      </p:pic>
    </p:spTree>
    <p:extLst>
      <p:ext uri="{BB962C8B-B14F-4D97-AF65-F5344CB8AC3E}">
        <p14:creationId xmlns:p14="http://schemas.microsoft.com/office/powerpoint/2010/main" val="4233654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0F3A4F"/>
        </a:solidFill>
        <a:effectLst/>
      </p:bgPr>
    </p:bg>
    <p:spTree>
      <p:nvGrpSpPr>
        <p:cNvPr id="1" name=""/>
        <p:cNvGrpSpPr/>
        <p:nvPr/>
      </p:nvGrpSpPr>
      <p:grpSpPr>
        <a:xfrm>
          <a:off x="0" y="0"/>
          <a:ext cx="0" cy="0"/>
          <a:chOff x="0" y="0"/>
          <a:chExt cx="0" cy="0"/>
        </a:xfrm>
      </p:grpSpPr>
      <p:sp>
        <p:nvSpPr>
          <p:cNvPr id="2" name="Shape 0"/>
          <p:cNvSpPr/>
          <p:nvPr/>
        </p:nvSpPr>
        <p:spPr>
          <a:xfrm>
            <a:off x="10698480" y="-914400"/>
            <a:ext cx="2926080" cy="2926080"/>
          </a:xfrm>
          <a:prstGeom prst="ellipse">
            <a:avLst/>
          </a:prstGeom>
          <a:solidFill>
            <a:srgbClr val="1C7293">
              <a:alpha val="22000"/>
            </a:srgbClr>
          </a:solidFill>
          <a:ln/>
        </p:spPr>
      </p:sp>
      <p:sp>
        <p:nvSpPr>
          <p:cNvPr id="3" name="Shape 1"/>
          <p:cNvSpPr/>
          <p:nvPr/>
        </p:nvSpPr>
        <p:spPr>
          <a:xfrm>
            <a:off x="11521440" y="4846320"/>
            <a:ext cx="2377440" cy="2377440"/>
          </a:xfrm>
          <a:prstGeom prst="ellipse">
            <a:avLst/>
          </a:prstGeom>
          <a:solidFill>
            <a:srgbClr val="E9A23B">
              <a:alpha val="18000"/>
            </a:srgbClr>
          </a:solidFill>
          <a:ln/>
        </p:spPr>
      </p:sp>
      <p:sp>
        <p:nvSpPr>
          <p:cNvPr id="4" name="Text 2"/>
          <p:cNvSpPr txBox="1"/>
          <p:nvPr/>
        </p:nvSpPr>
        <p:spPr>
          <a:xfrm>
            <a:off x="548640" y="384048"/>
            <a:ext cx="11091672" cy="777240"/>
          </a:xfrm>
          <a:prstGeom prst="rect">
            <a:avLst/>
          </a:prstGeom>
          <a:noFill/>
          <a:ln/>
        </p:spPr>
        <p:txBody>
          <a:bodyPr wrap="square" lIns="0" tIns="0" rIns="0" bIns="0" rtlCol="0" anchor="ctr"/>
          <a:lstStyle/>
          <a:p>
            <a:pPr marL="0" indent="0" algn="l">
              <a:buNone/>
            </a:pPr>
            <a:r>
              <a:rPr lang="en-US" sz="3200" b="1">
                <a:solidFill>
                  <a:srgbClr val="FFFFFF"/>
                </a:solidFill>
                <a:latin typeface="Cambria" pitchFamily="34" charset="0"/>
                <a:ea typeface="Cambria" pitchFamily="34" charset="-122"/>
                <a:cs typeface="Cambria" pitchFamily="34" charset="-120"/>
              </a:rPr>
              <a:t>Reliability, Security &amp; Testing</a:t>
            </a:r>
            <a:endParaRPr lang="en-US" sz="3200"/>
          </a:p>
        </p:txBody>
      </p:sp>
      <p:sp>
        <p:nvSpPr>
          <p:cNvPr id="5" name="Text 3"/>
          <p:cNvSpPr txBox="1"/>
          <p:nvPr/>
        </p:nvSpPr>
        <p:spPr>
          <a:xfrm>
            <a:off x="548640" y="1417320"/>
            <a:ext cx="2468880" cy="914400"/>
          </a:xfrm>
          <a:prstGeom prst="rect">
            <a:avLst/>
          </a:prstGeom>
          <a:noFill/>
          <a:ln/>
        </p:spPr>
        <p:txBody>
          <a:bodyPr wrap="square" lIns="0" tIns="0" rIns="0" bIns="0" rtlCol="0" anchor="ctr"/>
          <a:lstStyle/>
          <a:p>
            <a:pPr marL="0" indent="0" algn="l">
              <a:buNone/>
            </a:pPr>
            <a:r>
              <a:rPr lang="en-US" sz="5400" b="1">
                <a:solidFill>
                  <a:srgbClr val="2BB3A3"/>
                </a:solidFill>
                <a:latin typeface="Cambria" pitchFamily="34" charset="0"/>
                <a:ea typeface="Cambria" pitchFamily="34" charset="-122"/>
                <a:cs typeface="Cambria" pitchFamily="34" charset="-120"/>
              </a:rPr>
              <a:t>42</a:t>
            </a:r>
            <a:endParaRPr lang="en-US" sz="5400"/>
          </a:p>
        </p:txBody>
      </p:sp>
      <p:sp>
        <p:nvSpPr>
          <p:cNvPr id="6" name="Text 4"/>
          <p:cNvSpPr txBox="1"/>
          <p:nvPr/>
        </p:nvSpPr>
        <p:spPr>
          <a:xfrm>
            <a:off x="548640" y="2377440"/>
            <a:ext cx="2606040" cy="548640"/>
          </a:xfrm>
          <a:prstGeom prst="rect">
            <a:avLst/>
          </a:prstGeom>
          <a:noFill/>
          <a:ln/>
        </p:spPr>
        <p:txBody>
          <a:bodyPr wrap="square" lIns="0" tIns="0" rIns="0" bIns="0" rtlCol="0" anchor="ctr">
            <a:normAutofit/>
          </a:bodyPr>
          <a:lstStyle/>
          <a:p>
            <a:pPr marL="0" indent="0">
              <a:buNone/>
            </a:pPr>
            <a:r>
              <a:rPr lang="en-US" sz="1300">
                <a:solidFill>
                  <a:srgbClr val="CFE0E6"/>
                </a:solidFill>
                <a:latin typeface="Calibri" pitchFamily="34" charset="0"/>
                <a:ea typeface="Calibri" pitchFamily="34" charset="-122"/>
                <a:cs typeface="Calibri" pitchFamily="34" charset="-120"/>
              </a:rPr>
              <a:t>automated tests passing</a:t>
            </a:r>
            <a:endParaRPr lang="en-US" sz="1300"/>
          </a:p>
        </p:txBody>
      </p:sp>
      <p:sp>
        <p:nvSpPr>
          <p:cNvPr id="7" name="Text 5"/>
          <p:cNvSpPr txBox="1"/>
          <p:nvPr/>
        </p:nvSpPr>
        <p:spPr>
          <a:xfrm>
            <a:off x="3346704" y="1417320"/>
            <a:ext cx="2468880" cy="914400"/>
          </a:xfrm>
          <a:prstGeom prst="rect">
            <a:avLst/>
          </a:prstGeom>
          <a:noFill/>
          <a:ln/>
        </p:spPr>
        <p:txBody>
          <a:bodyPr wrap="square" lIns="0" tIns="0" rIns="0" bIns="0" rtlCol="0" anchor="ctr"/>
          <a:lstStyle/>
          <a:p>
            <a:pPr marL="0" indent="0" algn="l">
              <a:buNone/>
            </a:pPr>
            <a:r>
              <a:rPr lang="en-US" sz="5400" b="1">
                <a:solidFill>
                  <a:srgbClr val="E9A23B"/>
                </a:solidFill>
                <a:latin typeface="Cambria" pitchFamily="34" charset="0"/>
                <a:ea typeface="Cambria" pitchFamily="34" charset="-122"/>
                <a:cs typeface="Cambria" pitchFamily="34" charset="-120"/>
              </a:rPr>
              <a:t>9</a:t>
            </a:r>
            <a:endParaRPr lang="en-US" sz="5400"/>
          </a:p>
        </p:txBody>
      </p:sp>
      <p:sp>
        <p:nvSpPr>
          <p:cNvPr id="8" name="Text 6"/>
          <p:cNvSpPr txBox="1"/>
          <p:nvPr/>
        </p:nvSpPr>
        <p:spPr>
          <a:xfrm>
            <a:off x="3346704" y="2377440"/>
            <a:ext cx="2606040" cy="548640"/>
          </a:xfrm>
          <a:prstGeom prst="rect">
            <a:avLst/>
          </a:prstGeom>
          <a:noFill/>
          <a:ln/>
        </p:spPr>
        <p:txBody>
          <a:bodyPr wrap="square" lIns="0" tIns="0" rIns="0" bIns="0" rtlCol="0" anchor="ctr">
            <a:normAutofit/>
          </a:bodyPr>
          <a:lstStyle/>
          <a:p>
            <a:pPr marL="0" indent="0">
              <a:buNone/>
            </a:pPr>
            <a:r>
              <a:rPr lang="en-US" sz="1300">
                <a:solidFill>
                  <a:srgbClr val="CFE0E6"/>
                </a:solidFill>
                <a:latin typeface="Calibri" pitchFamily="34" charset="0"/>
                <a:ea typeface="Calibri" pitchFamily="34" charset="-122"/>
                <a:cs typeface="Calibri" pitchFamily="34" charset="-120"/>
              </a:rPr>
              <a:t>cooperating agents</a:t>
            </a:r>
            <a:endParaRPr lang="en-US" sz="1300"/>
          </a:p>
        </p:txBody>
      </p:sp>
      <p:sp>
        <p:nvSpPr>
          <p:cNvPr id="9" name="Text 7"/>
          <p:cNvSpPr txBox="1"/>
          <p:nvPr/>
        </p:nvSpPr>
        <p:spPr>
          <a:xfrm>
            <a:off x="6144768" y="1417320"/>
            <a:ext cx="2468880" cy="914400"/>
          </a:xfrm>
          <a:prstGeom prst="rect">
            <a:avLst/>
          </a:prstGeom>
          <a:noFill/>
          <a:ln/>
        </p:spPr>
        <p:txBody>
          <a:bodyPr wrap="square" lIns="0" tIns="0" rIns="0" bIns="0" rtlCol="0" anchor="ctr"/>
          <a:lstStyle/>
          <a:p>
            <a:pPr marL="0" indent="0" algn="l">
              <a:buNone/>
            </a:pPr>
            <a:r>
              <a:rPr lang="en-US" sz="5400" b="1">
                <a:solidFill>
                  <a:srgbClr val="2BB3A3"/>
                </a:solidFill>
                <a:latin typeface="Cambria" pitchFamily="34" charset="0"/>
                <a:ea typeface="Cambria" pitchFamily="34" charset="-122"/>
                <a:cs typeface="Cambria" pitchFamily="34" charset="-120"/>
              </a:rPr>
              <a:t>7</a:t>
            </a:r>
            <a:endParaRPr lang="en-US" sz="5400"/>
          </a:p>
        </p:txBody>
      </p:sp>
      <p:sp>
        <p:nvSpPr>
          <p:cNvPr id="10" name="Text 8"/>
          <p:cNvSpPr txBox="1"/>
          <p:nvPr/>
        </p:nvSpPr>
        <p:spPr>
          <a:xfrm>
            <a:off x="6144768" y="2377440"/>
            <a:ext cx="2606040" cy="548640"/>
          </a:xfrm>
          <a:prstGeom prst="rect">
            <a:avLst/>
          </a:prstGeom>
          <a:noFill/>
          <a:ln/>
        </p:spPr>
        <p:txBody>
          <a:bodyPr wrap="square" lIns="0" tIns="0" rIns="0" bIns="0" rtlCol="0" anchor="ctr">
            <a:normAutofit/>
          </a:bodyPr>
          <a:lstStyle/>
          <a:p>
            <a:pPr marL="0" indent="0">
              <a:buNone/>
            </a:pPr>
            <a:r>
              <a:rPr lang="en-US" sz="1300">
                <a:solidFill>
                  <a:srgbClr val="CFE0E6"/>
                </a:solidFill>
                <a:latin typeface="Calibri" pitchFamily="34" charset="0"/>
                <a:ea typeface="Calibri" pitchFamily="34" charset="-122"/>
                <a:cs typeface="Calibri" pitchFamily="34" charset="-120"/>
              </a:rPr>
              <a:t>deterministic OBE rules</a:t>
            </a:r>
            <a:endParaRPr lang="en-US" sz="1300"/>
          </a:p>
        </p:txBody>
      </p:sp>
      <p:sp>
        <p:nvSpPr>
          <p:cNvPr id="11" name="Text 9"/>
          <p:cNvSpPr txBox="1"/>
          <p:nvPr/>
        </p:nvSpPr>
        <p:spPr>
          <a:xfrm>
            <a:off x="8942832" y="1417320"/>
            <a:ext cx="2468880" cy="914400"/>
          </a:xfrm>
          <a:prstGeom prst="rect">
            <a:avLst/>
          </a:prstGeom>
          <a:noFill/>
          <a:ln/>
        </p:spPr>
        <p:txBody>
          <a:bodyPr wrap="square" lIns="0" tIns="0" rIns="0" bIns="0" rtlCol="0" anchor="ctr"/>
          <a:lstStyle/>
          <a:p>
            <a:pPr marL="0" indent="0" algn="l">
              <a:buNone/>
            </a:pPr>
            <a:r>
              <a:rPr lang="en-US" sz="5400" b="1">
                <a:solidFill>
                  <a:srgbClr val="E9A23B"/>
                </a:solidFill>
                <a:latin typeface="Cambria" pitchFamily="34" charset="0"/>
                <a:ea typeface="Cambria" pitchFamily="34" charset="-122"/>
                <a:cs typeface="Cambria" pitchFamily="34" charset="-120"/>
              </a:rPr>
              <a:t>0</a:t>
            </a:r>
            <a:endParaRPr lang="en-US" sz="5400"/>
          </a:p>
        </p:txBody>
      </p:sp>
      <p:sp>
        <p:nvSpPr>
          <p:cNvPr id="12" name="Text 10"/>
          <p:cNvSpPr txBox="1"/>
          <p:nvPr/>
        </p:nvSpPr>
        <p:spPr>
          <a:xfrm>
            <a:off x="8942832" y="2377440"/>
            <a:ext cx="2606040" cy="548640"/>
          </a:xfrm>
          <a:prstGeom prst="rect">
            <a:avLst/>
          </a:prstGeom>
          <a:noFill/>
          <a:ln/>
        </p:spPr>
        <p:txBody>
          <a:bodyPr wrap="square" lIns="0" tIns="0" rIns="0" bIns="0" rtlCol="0" anchor="ctr">
            <a:normAutofit/>
          </a:bodyPr>
          <a:lstStyle/>
          <a:p>
            <a:pPr marL="0" indent="0">
              <a:buNone/>
            </a:pPr>
            <a:r>
              <a:rPr lang="en-US" sz="1300">
                <a:solidFill>
                  <a:srgbClr val="CFE0E6"/>
                </a:solidFill>
                <a:latin typeface="Calibri" pitchFamily="34" charset="0"/>
                <a:ea typeface="Calibri" pitchFamily="34" charset="-122"/>
                <a:cs typeface="Calibri" pitchFamily="34" charset="-120"/>
              </a:rPr>
              <a:t>cost in offline mock mode</a:t>
            </a:r>
            <a:endParaRPr lang="en-US" sz="1300"/>
          </a:p>
        </p:txBody>
      </p:sp>
      <p:sp>
        <p:nvSpPr>
          <p:cNvPr id="13" name="Shape 11"/>
          <p:cNvSpPr/>
          <p:nvPr/>
        </p:nvSpPr>
        <p:spPr>
          <a:xfrm>
            <a:off x="548640" y="3337560"/>
            <a:ext cx="5074920" cy="1280160"/>
          </a:xfrm>
          <a:prstGeom prst="roundRect">
            <a:avLst>
              <a:gd name="adj" fmla="val 5714"/>
            </a:avLst>
          </a:prstGeom>
          <a:solidFill>
            <a:srgbClr val="14485E"/>
          </a:solidFill>
          <a:ln/>
        </p:spPr>
      </p:sp>
      <p:sp>
        <p:nvSpPr>
          <p:cNvPr id="14" name="Text 12"/>
          <p:cNvSpPr txBox="1"/>
          <p:nvPr/>
        </p:nvSpPr>
        <p:spPr>
          <a:xfrm>
            <a:off x="822960" y="3502152"/>
            <a:ext cx="4572000" cy="365760"/>
          </a:xfrm>
          <a:prstGeom prst="rect">
            <a:avLst/>
          </a:prstGeom>
          <a:noFill/>
          <a:ln/>
        </p:spPr>
        <p:txBody>
          <a:bodyPr wrap="square" lIns="0" tIns="0" rIns="0" bIns="0" rtlCol="0" anchor="ctr">
            <a:normAutofit/>
          </a:bodyPr>
          <a:lstStyle/>
          <a:p>
            <a:pPr marL="0" indent="0">
              <a:buNone/>
            </a:pPr>
            <a:r>
              <a:rPr lang="en-US" sz="1500" b="1">
                <a:solidFill>
                  <a:srgbClr val="2BB3A3"/>
                </a:solidFill>
                <a:latin typeface="Cambria" pitchFamily="34" charset="0"/>
                <a:ea typeface="Cambria" pitchFamily="34" charset="-122"/>
                <a:cs typeface="Cambria" pitchFamily="34" charset="-120"/>
              </a:rPr>
              <a:t>Bounded retries + savepoints</a:t>
            </a:r>
            <a:endParaRPr lang="en-US" sz="1500"/>
          </a:p>
        </p:txBody>
      </p:sp>
      <p:sp>
        <p:nvSpPr>
          <p:cNvPr id="15" name="Text 13"/>
          <p:cNvSpPr txBox="1"/>
          <p:nvPr/>
        </p:nvSpPr>
        <p:spPr>
          <a:xfrm>
            <a:off x="822960" y="3904488"/>
            <a:ext cx="4572000" cy="640080"/>
          </a:xfrm>
          <a:prstGeom prst="rect">
            <a:avLst/>
          </a:prstGeom>
          <a:noFill/>
          <a:ln/>
        </p:spPr>
        <p:txBody>
          <a:bodyPr wrap="square" lIns="0" tIns="0" rIns="0" bIns="0" rtlCol="0" anchor="ctr">
            <a:normAutofit/>
          </a:bodyPr>
          <a:lstStyle/>
          <a:p>
            <a:pPr marL="0" indent="0">
              <a:lnSpc>
                <a:spcPct val="103000"/>
              </a:lnSpc>
              <a:buNone/>
            </a:pPr>
            <a:r>
              <a:rPr lang="en-US" sz="1250">
                <a:solidFill>
                  <a:srgbClr val="D7E4E8"/>
                </a:solidFill>
                <a:latin typeface="Calibri" pitchFamily="34" charset="0"/>
                <a:ea typeface="Calibri" pitchFamily="34" charset="-122"/>
                <a:cs typeface="Calibri" pitchFamily="34" charset="-120"/>
              </a:rPr>
              <a:t>A failed agent attempt rolls back only its own writes, never earlier agents' work.</a:t>
            </a:r>
            <a:endParaRPr lang="en-US" sz="1250"/>
          </a:p>
        </p:txBody>
      </p:sp>
      <p:sp>
        <p:nvSpPr>
          <p:cNvPr id="16" name="Shape 14"/>
          <p:cNvSpPr/>
          <p:nvPr/>
        </p:nvSpPr>
        <p:spPr>
          <a:xfrm>
            <a:off x="6172200" y="3337560"/>
            <a:ext cx="5074920" cy="1280160"/>
          </a:xfrm>
          <a:prstGeom prst="roundRect">
            <a:avLst>
              <a:gd name="adj" fmla="val 5714"/>
            </a:avLst>
          </a:prstGeom>
          <a:solidFill>
            <a:srgbClr val="14485E"/>
          </a:solidFill>
          <a:ln/>
        </p:spPr>
      </p:sp>
      <p:sp>
        <p:nvSpPr>
          <p:cNvPr id="17" name="Text 15"/>
          <p:cNvSpPr txBox="1"/>
          <p:nvPr/>
        </p:nvSpPr>
        <p:spPr>
          <a:xfrm>
            <a:off x="6446520" y="3502152"/>
            <a:ext cx="4572000" cy="365760"/>
          </a:xfrm>
          <a:prstGeom prst="rect">
            <a:avLst/>
          </a:prstGeom>
          <a:noFill/>
          <a:ln/>
        </p:spPr>
        <p:txBody>
          <a:bodyPr wrap="square" lIns="0" tIns="0" rIns="0" bIns="0" rtlCol="0" anchor="ctr">
            <a:normAutofit/>
          </a:bodyPr>
          <a:lstStyle/>
          <a:p>
            <a:pPr marL="0" indent="0">
              <a:buNone/>
            </a:pPr>
            <a:r>
              <a:rPr lang="en-US" sz="1500" b="1">
                <a:solidFill>
                  <a:srgbClr val="2BB3A3"/>
                </a:solidFill>
                <a:latin typeface="Cambria" pitchFamily="34" charset="0"/>
                <a:ea typeface="Cambria" pitchFamily="34" charset="-122"/>
                <a:cs typeface="Cambria" pitchFamily="34" charset="-120"/>
              </a:rPr>
              <a:t>Full observability</a:t>
            </a:r>
            <a:endParaRPr lang="en-US" sz="1500"/>
          </a:p>
        </p:txBody>
      </p:sp>
      <p:sp>
        <p:nvSpPr>
          <p:cNvPr id="18" name="Text 16"/>
          <p:cNvSpPr txBox="1"/>
          <p:nvPr/>
        </p:nvSpPr>
        <p:spPr>
          <a:xfrm>
            <a:off x="6446520" y="3904488"/>
            <a:ext cx="4572000" cy="640080"/>
          </a:xfrm>
          <a:prstGeom prst="rect">
            <a:avLst/>
          </a:prstGeom>
          <a:noFill/>
          <a:ln/>
        </p:spPr>
        <p:txBody>
          <a:bodyPr wrap="square" lIns="0" tIns="0" rIns="0" bIns="0" rtlCol="0" anchor="ctr">
            <a:normAutofit/>
          </a:bodyPr>
          <a:lstStyle/>
          <a:p>
            <a:pPr marL="0" indent="0">
              <a:lnSpc>
                <a:spcPct val="103000"/>
              </a:lnSpc>
              <a:buNone/>
            </a:pPr>
            <a:r>
              <a:rPr lang="en-US" sz="1250">
                <a:solidFill>
                  <a:srgbClr val="D7E4E8"/>
                </a:solidFill>
                <a:latin typeface="Calibri" pitchFamily="34" charset="0"/>
                <a:ea typeface="Calibri" pitchFamily="34" charset="-122"/>
                <a:cs typeface="Calibri" pitchFamily="34" charset="-120"/>
              </a:rPr>
              <a:t>Every task, message hop and audit event is persisted and queryable.</a:t>
            </a:r>
            <a:endParaRPr lang="en-US" sz="1250"/>
          </a:p>
        </p:txBody>
      </p:sp>
      <p:sp>
        <p:nvSpPr>
          <p:cNvPr id="19" name="Shape 17"/>
          <p:cNvSpPr/>
          <p:nvPr/>
        </p:nvSpPr>
        <p:spPr>
          <a:xfrm>
            <a:off x="548640" y="4754880"/>
            <a:ext cx="5074920" cy="1280160"/>
          </a:xfrm>
          <a:prstGeom prst="roundRect">
            <a:avLst>
              <a:gd name="adj" fmla="val 5714"/>
            </a:avLst>
          </a:prstGeom>
          <a:solidFill>
            <a:srgbClr val="14485E"/>
          </a:solidFill>
          <a:ln/>
        </p:spPr>
      </p:sp>
      <p:sp>
        <p:nvSpPr>
          <p:cNvPr id="20" name="Text 18"/>
          <p:cNvSpPr txBox="1"/>
          <p:nvPr/>
        </p:nvSpPr>
        <p:spPr>
          <a:xfrm>
            <a:off x="822960" y="4919472"/>
            <a:ext cx="4572000" cy="365760"/>
          </a:xfrm>
          <a:prstGeom prst="rect">
            <a:avLst/>
          </a:prstGeom>
          <a:noFill/>
          <a:ln/>
        </p:spPr>
        <p:txBody>
          <a:bodyPr wrap="square" lIns="0" tIns="0" rIns="0" bIns="0" rtlCol="0" anchor="ctr">
            <a:normAutofit/>
          </a:bodyPr>
          <a:lstStyle/>
          <a:p>
            <a:pPr marL="0" indent="0">
              <a:buNone/>
            </a:pPr>
            <a:r>
              <a:rPr lang="en-US" sz="1500" b="1">
                <a:solidFill>
                  <a:srgbClr val="2BB3A3"/>
                </a:solidFill>
                <a:latin typeface="Cambria" pitchFamily="34" charset="0"/>
                <a:ea typeface="Cambria" pitchFamily="34" charset="-122"/>
                <a:cs typeface="Cambria" pitchFamily="34" charset="-120"/>
              </a:rPr>
              <a:t>Security</a:t>
            </a:r>
            <a:endParaRPr lang="en-US" sz="1500"/>
          </a:p>
        </p:txBody>
      </p:sp>
      <p:sp>
        <p:nvSpPr>
          <p:cNvPr id="21" name="Text 19"/>
          <p:cNvSpPr txBox="1"/>
          <p:nvPr/>
        </p:nvSpPr>
        <p:spPr>
          <a:xfrm>
            <a:off x="822960" y="5321808"/>
            <a:ext cx="4572000" cy="640080"/>
          </a:xfrm>
          <a:prstGeom prst="rect">
            <a:avLst/>
          </a:prstGeom>
          <a:noFill/>
          <a:ln/>
        </p:spPr>
        <p:txBody>
          <a:bodyPr wrap="square" lIns="0" tIns="0" rIns="0" bIns="0" rtlCol="0" anchor="ctr">
            <a:normAutofit/>
          </a:bodyPr>
          <a:lstStyle/>
          <a:p>
            <a:pPr marL="0" indent="0">
              <a:lnSpc>
                <a:spcPct val="103000"/>
              </a:lnSpc>
              <a:buNone/>
            </a:pPr>
            <a:r>
              <a:rPr lang="en-US" sz="1250">
                <a:solidFill>
                  <a:srgbClr val="D7E4E8"/>
                </a:solidFill>
                <a:latin typeface="Calibri" pitchFamily="34" charset="0"/>
                <a:ea typeface="Calibri" pitchFamily="34" charset="-122"/>
                <a:cs typeface="Calibri" pitchFamily="34" charset="-120"/>
              </a:rPr>
              <a:t>JWT auth, role-based access (teacher/student), bcrypt-hashed passwords, secrets in .env.</a:t>
            </a:r>
            <a:endParaRPr lang="en-US" sz="1250"/>
          </a:p>
        </p:txBody>
      </p:sp>
      <p:sp>
        <p:nvSpPr>
          <p:cNvPr id="22" name="Shape 20"/>
          <p:cNvSpPr/>
          <p:nvPr/>
        </p:nvSpPr>
        <p:spPr>
          <a:xfrm>
            <a:off x="6172200" y="4754880"/>
            <a:ext cx="5074920" cy="1280160"/>
          </a:xfrm>
          <a:prstGeom prst="roundRect">
            <a:avLst>
              <a:gd name="adj" fmla="val 5714"/>
            </a:avLst>
          </a:prstGeom>
          <a:solidFill>
            <a:srgbClr val="14485E"/>
          </a:solidFill>
          <a:ln/>
        </p:spPr>
      </p:sp>
      <p:sp>
        <p:nvSpPr>
          <p:cNvPr id="23" name="Text 21"/>
          <p:cNvSpPr txBox="1"/>
          <p:nvPr/>
        </p:nvSpPr>
        <p:spPr>
          <a:xfrm>
            <a:off x="6446520" y="4919472"/>
            <a:ext cx="4572000" cy="365760"/>
          </a:xfrm>
          <a:prstGeom prst="rect">
            <a:avLst/>
          </a:prstGeom>
          <a:noFill/>
          <a:ln/>
        </p:spPr>
        <p:txBody>
          <a:bodyPr wrap="square" lIns="0" tIns="0" rIns="0" bIns="0" rtlCol="0" anchor="ctr">
            <a:normAutofit/>
          </a:bodyPr>
          <a:lstStyle/>
          <a:p>
            <a:pPr marL="0" indent="0">
              <a:buNone/>
            </a:pPr>
            <a:r>
              <a:rPr lang="en-US" sz="1500" b="1">
                <a:solidFill>
                  <a:srgbClr val="2BB3A3"/>
                </a:solidFill>
                <a:latin typeface="Cambria" pitchFamily="34" charset="0"/>
                <a:ea typeface="Cambria" pitchFamily="34" charset="-122"/>
                <a:cs typeface="Cambria" pitchFamily="34" charset="-120"/>
              </a:rPr>
              <a:t>Offline-capable</a:t>
            </a:r>
            <a:endParaRPr lang="en-US" sz="1500"/>
          </a:p>
        </p:txBody>
      </p:sp>
      <p:sp>
        <p:nvSpPr>
          <p:cNvPr id="24" name="Text 22"/>
          <p:cNvSpPr txBox="1"/>
          <p:nvPr/>
        </p:nvSpPr>
        <p:spPr>
          <a:xfrm>
            <a:off x="6446520" y="5321808"/>
            <a:ext cx="4572000" cy="640080"/>
          </a:xfrm>
          <a:prstGeom prst="rect">
            <a:avLst/>
          </a:prstGeom>
          <a:noFill/>
          <a:ln/>
        </p:spPr>
        <p:txBody>
          <a:bodyPr wrap="square" lIns="0" tIns="0" rIns="0" bIns="0" rtlCol="0" anchor="ctr">
            <a:normAutofit/>
          </a:bodyPr>
          <a:lstStyle/>
          <a:p>
            <a:pPr>
              <a:lnSpc>
                <a:spcPct val="103000"/>
              </a:lnSpc>
            </a:pPr>
            <a:r>
              <a:rPr lang="en-US" sz="1250">
                <a:solidFill>
                  <a:srgbClr val="D7E4E8"/>
                </a:solidFill>
                <a:latin typeface="Calibri"/>
                <a:ea typeface="Calibri"/>
                <a:cs typeface="Calibri"/>
              </a:rPr>
              <a:t>Deterministic mock LLM &amp; OBE rules  the whole system runs and is tested with no API key.</a:t>
            </a:r>
            <a:endParaRPr lang="en-US" sz="1250">
              <a:latin typeface="Calibri"/>
              <a:ea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5F8FA"/>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777240"/>
          </a:xfrm>
          <a:prstGeom prst="rect">
            <a:avLst/>
          </a:prstGeom>
          <a:noFill/>
          <a:ln/>
        </p:spPr>
        <p:txBody>
          <a:bodyPr wrap="square" lIns="0" tIns="0" rIns="0" bIns="0" rtlCol="0" anchor="ctr"/>
          <a:lstStyle/>
          <a:p>
            <a:pPr marL="0" indent="0" algn="l">
              <a:buNone/>
            </a:pPr>
            <a:r>
              <a:rPr lang="en-US" sz="3200" b="1">
                <a:solidFill>
                  <a:srgbClr val="1B2A32"/>
                </a:solidFill>
                <a:latin typeface="Cambria" pitchFamily="34" charset="0"/>
                <a:ea typeface="Cambria" pitchFamily="34" charset="-122"/>
                <a:cs typeface="Cambria" pitchFamily="34" charset="-120"/>
              </a:rPr>
              <a:t>Challenges &amp; Future Work</a:t>
            </a:r>
            <a:endParaRPr lang="en-US" sz="3200"/>
          </a:p>
        </p:txBody>
      </p:sp>
      <p:sp>
        <p:nvSpPr>
          <p:cNvPr id="3" name="Shape 1"/>
          <p:cNvSpPr/>
          <p:nvPr/>
        </p:nvSpPr>
        <p:spPr>
          <a:xfrm>
            <a:off x="548640" y="1508760"/>
            <a:ext cx="5349240" cy="4206240"/>
          </a:xfrm>
          <a:prstGeom prst="roundRect">
            <a:avLst>
              <a:gd name="adj" fmla="val 1957"/>
            </a:avLst>
          </a:prstGeom>
          <a:solidFill>
            <a:srgbClr val="FFFFFF"/>
          </a:solidFill>
          <a:ln w="12700">
            <a:solidFill>
              <a:srgbClr val="DDE6EA"/>
            </a:solidFill>
            <a:prstDash val="solid"/>
          </a:ln>
          <a:effectLst>
            <a:outerShdw blurRad="88900" dist="25400" dir="5400000" algn="bl" rotWithShape="0">
              <a:srgbClr val="9AA9B0">
                <a:alpha val="28000"/>
              </a:srgbClr>
            </a:outerShdw>
          </a:effectLst>
        </p:spPr>
      </p:sp>
      <p:sp>
        <p:nvSpPr>
          <p:cNvPr id="4" name="Text 2"/>
          <p:cNvSpPr txBox="1"/>
          <p:nvPr/>
        </p:nvSpPr>
        <p:spPr>
          <a:xfrm>
            <a:off x="822960" y="1691640"/>
            <a:ext cx="4572000" cy="411480"/>
          </a:xfrm>
          <a:prstGeom prst="rect">
            <a:avLst/>
          </a:prstGeom>
          <a:noFill/>
          <a:ln/>
        </p:spPr>
        <p:txBody>
          <a:bodyPr wrap="square" lIns="0" tIns="0" rIns="0" bIns="0" rtlCol="0" anchor="ctr"/>
          <a:lstStyle/>
          <a:p>
            <a:pPr marL="0" indent="0">
              <a:buNone/>
            </a:pPr>
            <a:r>
              <a:rPr lang="en-US" sz="1800" b="1">
                <a:solidFill>
                  <a:srgbClr val="0F3A4F"/>
                </a:solidFill>
                <a:latin typeface="Cambria" pitchFamily="34" charset="0"/>
                <a:ea typeface="Cambria" pitchFamily="34" charset="-122"/>
                <a:cs typeface="Cambria" pitchFamily="34" charset="-120"/>
              </a:rPr>
              <a:t>Challenges</a:t>
            </a:r>
            <a:endParaRPr lang="en-US" sz="1800"/>
          </a:p>
        </p:txBody>
      </p:sp>
      <p:sp>
        <p:nvSpPr>
          <p:cNvPr id="5" name="Text 3"/>
          <p:cNvSpPr txBox="1"/>
          <p:nvPr/>
        </p:nvSpPr>
        <p:spPr>
          <a:xfrm>
            <a:off x="822960" y="2194560"/>
            <a:ext cx="4846320" cy="3291840"/>
          </a:xfrm>
          <a:prstGeom prst="rect">
            <a:avLst/>
          </a:prstGeom>
          <a:noFill/>
          <a:ln/>
        </p:spPr>
        <p:txBody>
          <a:bodyPr wrap="square" lIns="0" tIns="0" rIns="0" bIns="0" rtlCol="0" anchor="ctr">
            <a:normAutofit/>
          </a:bodyPr>
          <a:lstStyle/>
          <a:p>
            <a:pPr marL="342900" indent="-342900">
              <a:spcAft>
                <a:spcPts val="1000"/>
              </a:spcAft>
              <a:buSzPct val="100000"/>
              <a:buChar char="•"/>
            </a:pPr>
            <a:r>
              <a:rPr lang="en-US" sz="1350">
                <a:solidFill>
                  <a:srgbClr val="1B2A32"/>
                </a:solidFill>
                <a:latin typeface="Calibri" pitchFamily="34" charset="0"/>
                <a:ea typeface="Calibri" pitchFamily="34" charset="-122"/>
                <a:cs typeface="Calibri" pitchFamily="34" charset="-120"/>
              </a:rPr>
              <a:t>Reliable orchestration of many agents without corrupting state on failure.</a:t>
            </a:r>
            <a:endParaRPr lang="en-US" sz="1350"/>
          </a:p>
          <a:p>
            <a:pPr marL="342900" indent="-342900">
              <a:spcAft>
                <a:spcPts val="1000"/>
              </a:spcAft>
              <a:buSzPct val="100000"/>
              <a:buChar char="•"/>
            </a:pPr>
            <a:r>
              <a:rPr lang="en-US" sz="1350">
                <a:solidFill>
                  <a:srgbClr val="1B2A32"/>
                </a:solidFill>
                <a:latin typeface="Calibri" pitchFamily="34" charset="0"/>
                <a:ea typeface="Calibri" pitchFamily="34" charset="-122"/>
                <a:cs typeface="Calibri" pitchFamily="34" charset="-120"/>
              </a:rPr>
              <a:t>Extracting data from messy real-world outlines (DOCX tables, page-split matrices).</a:t>
            </a:r>
            <a:endParaRPr lang="en-US" sz="1350"/>
          </a:p>
          <a:p>
            <a:pPr marL="342900" indent="-342900">
              <a:spcAft>
                <a:spcPts val="1000"/>
              </a:spcAft>
              <a:buSzPct val="100000"/>
              <a:buChar char="•"/>
            </a:pPr>
            <a:r>
              <a:rPr lang="en-US" sz="1350">
                <a:solidFill>
                  <a:srgbClr val="1B2A32"/>
                </a:solidFill>
                <a:latin typeface="Calibri" pitchFamily="34" charset="0"/>
                <a:ea typeface="Calibri" pitchFamily="34" charset="-122"/>
                <a:cs typeface="Calibri" pitchFamily="34" charset="-120"/>
              </a:rPr>
              <a:t>Free LLM tiers rotate and rate-limit; forced-JSON support varies by model.</a:t>
            </a:r>
            <a:endParaRPr lang="en-US" sz="1350"/>
          </a:p>
          <a:p>
            <a:pPr marL="342900" indent="-342900">
              <a:spcAft>
                <a:spcPts val="1000"/>
              </a:spcAft>
              <a:buSzPct val="100000"/>
              <a:buChar char="•"/>
            </a:pPr>
            <a:r>
              <a:rPr lang="en-US" sz="1350">
                <a:solidFill>
                  <a:srgbClr val="1B2A32"/>
                </a:solidFill>
                <a:latin typeface="Calibri" pitchFamily="34" charset="0"/>
                <a:ea typeface="Calibri" pitchFamily="34" charset="-122"/>
                <a:cs typeface="Calibri" pitchFamily="34" charset="-120"/>
              </a:rPr>
              <a:t>Streamlit resets session on hard refresh (auth persistence).</a:t>
            </a:r>
            <a:endParaRPr lang="en-US" sz="1350"/>
          </a:p>
        </p:txBody>
      </p:sp>
      <p:sp>
        <p:nvSpPr>
          <p:cNvPr id="6" name="Shape 4"/>
          <p:cNvSpPr/>
          <p:nvPr/>
        </p:nvSpPr>
        <p:spPr>
          <a:xfrm>
            <a:off x="6309360" y="1508760"/>
            <a:ext cx="5349240" cy="4206240"/>
          </a:xfrm>
          <a:prstGeom prst="roundRect">
            <a:avLst>
              <a:gd name="adj" fmla="val 1957"/>
            </a:avLst>
          </a:prstGeom>
          <a:solidFill>
            <a:srgbClr val="EAF3F0"/>
          </a:solidFill>
          <a:ln w="12700">
            <a:solidFill>
              <a:srgbClr val="2BB3A3"/>
            </a:solidFill>
            <a:prstDash val="solid"/>
          </a:ln>
          <a:effectLst>
            <a:outerShdw blurRad="88900" dist="25400" dir="5400000" algn="bl" rotWithShape="0">
              <a:srgbClr val="9AA9B0">
                <a:alpha val="28000"/>
              </a:srgbClr>
            </a:outerShdw>
          </a:effectLst>
        </p:spPr>
      </p:sp>
      <p:sp>
        <p:nvSpPr>
          <p:cNvPr id="7" name="Text 5"/>
          <p:cNvSpPr txBox="1"/>
          <p:nvPr/>
        </p:nvSpPr>
        <p:spPr>
          <a:xfrm>
            <a:off x="6583680" y="1691640"/>
            <a:ext cx="4572000" cy="411480"/>
          </a:xfrm>
          <a:prstGeom prst="rect">
            <a:avLst/>
          </a:prstGeom>
          <a:noFill/>
          <a:ln/>
        </p:spPr>
        <p:txBody>
          <a:bodyPr wrap="square" lIns="0" tIns="0" rIns="0" bIns="0" rtlCol="0" anchor="ctr"/>
          <a:lstStyle/>
          <a:p>
            <a:pPr marL="0" indent="0">
              <a:buNone/>
            </a:pPr>
            <a:r>
              <a:rPr lang="en-US" sz="1800" b="1">
                <a:solidFill>
                  <a:srgbClr val="0F3A4F"/>
                </a:solidFill>
                <a:latin typeface="Cambria" pitchFamily="34" charset="0"/>
                <a:ea typeface="Cambria" pitchFamily="34" charset="-122"/>
                <a:cs typeface="Cambria" pitchFamily="34" charset="-120"/>
              </a:rPr>
              <a:t>Future Work</a:t>
            </a:r>
            <a:endParaRPr lang="en-US" sz="1800"/>
          </a:p>
        </p:txBody>
      </p:sp>
      <p:sp>
        <p:nvSpPr>
          <p:cNvPr id="8" name="Text 6"/>
          <p:cNvSpPr txBox="1"/>
          <p:nvPr/>
        </p:nvSpPr>
        <p:spPr>
          <a:xfrm>
            <a:off x="6583680" y="2194560"/>
            <a:ext cx="4846320" cy="3291840"/>
          </a:xfrm>
          <a:prstGeom prst="rect">
            <a:avLst/>
          </a:prstGeom>
          <a:noFill/>
          <a:ln/>
        </p:spPr>
        <p:txBody>
          <a:bodyPr wrap="square" lIns="0" tIns="0" rIns="0" bIns="0" rtlCol="0" anchor="ctr">
            <a:normAutofit/>
          </a:bodyPr>
          <a:lstStyle/>
          <a:p>
            <a:pPr marL="342900" indent="-342900">
              <a:spcAft>
                <a:spcPts val="1000"/>
              </a:spcAft>
              <a:buSzPct val="100000"/>
              <a:buChar char="•"/>
            </a:pPr>
            <a:r>
              <a:rPr lang="en-US" sz="1350">
                <a:solidFill>
                  <a:srgbClr val="1B2A32"/>
                </a:solidFill>
                <a:latin typeface="Calibri" pitchFamily="34" charset="0"/>
                <a:ea typeface="Calibri" pitchFamily="34" charset="-122"/>
                <a:cs typeface="Calibri" pitchFamily="34" charset="-120"/>
              </a:rPr>
              <a:t>LLM polish for the OBE Authoring agent's rewrites.</a:t>
            </a:r>
            <a:endParaRPr lang="en-US" sz="1350"/>
          </a:p>
          <a:p>
            <a:pPr marL="342900" indent="-342900">
              <a:spcAft>
                <a:spcPts val="1000"/>
              </a:spcAft>
              <a:buSzPct val="100000"/>
              <a:buChar char="•"/>
            </a:pPr>
            <a:r>
              <a:rPr lang="en-US" sz="1350">
                <a:solidFill>
                  <a:srgbClr val="1B2A32"/>
                </a:solidFill>
                <a:latin typeface="Calibri" pitchFamily="34" charset="0"/>
                <a:ea typeface="Calibri" pitchFamily="34" charset="-122"/>
                <a:cs typeface="Calibri" pitchFamily="34" charset="-120"/>
              </a:rPr>
              <a:t>A PO-Attainment agent for accreditation reporting.</a:t>
            </a:r>
            <a:endParaRPr lang="en-US" sz="1350"/>
          </a:p>
          <a:p>
            <a:pPr marL="342900" indent="-342900">
              <a:spcAft>
                <a:spcPts val="1000"/>
              </a:spcAft>
              <a:buSzPct val="100000"/>
              <a:buChar char="•"/>
            </a:pPr>
            <a:r>
              <a:rPr lang="en-US" sz="1350">
                <a:solidFill>
                  <a:srgbClr val="1B2A32"/>
                </a:solidFill>
                <a:latin typeface="Calibri" pitchFamily="34" charset="0"/>
                <a:ea typeface="Calibri" pitchFamily="34" charset="-122"/>
                <a:cs typeface="Calibri" pitchFamily="34" charset="-120"/>
              </a:rPr>
              <a:t>OCR for scanned PDF outlines.</a:t>
            </a:r>
            <a:endParaRPr lang="en-US" sz="1350"/>
          </a:p>
          <a:p>
            <a:pPr marL="342900" indent="-342900">
              <a:spcAft>
                <a:spcPts val="1000"/>
              </a:spcAft>
              <a:buSzPct val="100000"/>
              <a:buChar char="•"/>
            </a:pPr>
            <a:r>
              <a:rPr lang="en-US" sz="1350">
                <a:solidFill>
                  <a:srgbClr val="1B2A32"/>
                </a:solidFill>
                <a:latin typeface="Calibri" pitchFamily="34" charset="0"/>
                <a:ea typeface="Calibri" pitchFamily="34" charset="-122"/>
                <a:cs typeface="Calibri" pitchFamily="34" charset="-120"/>
              </a:rPr>
              <a:t>True mid-graph pause/resume via a LangGraph checkpointer.</a:t>
            </a:r>
            <a:endParaRPr lang="en-US" sz="1350"/>
          </a:p>
          <a:p>
            <a:pPr marL="342900" indent="-342900">
              <a:spcAft>
                <a:spcPts val="1000"/>
              </a:spcAft>
              <a:buSzPct val="100000"/>
              <a:buChar char="•"/>
            </a:pPr>
            <a:r>
              <a:rPr lang="en-US" sz="1350">
                <a:solidFill>
                  <a:srgbClr val="1B2A32"/>
                </a:solidFill>
                <a:latin typeface="Calibri" pitchFamily="34" charset="0"/>
                <a:ea typeface="Calibri" pitchFamily="34" charset="-122"/>
                <a:cs typeface="Calibri" pitchFamily="34" charset="-120"/>
              </a:rPr>
              <a:t>Write validated fixes back into the Word template.</a:t>
            </a:r>
            <a:endParaRPr lang="en-US" sz="13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0F3A4F"/>
        </a:solidFill>
        <a:effectLst/>
      </p:bgPr>
    </p:bg>
    <p:spTree>
      <p:nvGrpSpPr>
        <p:cNvPr id="1" name=""/>
        <p:cNvGrpSpPr/>
        <p:nvPr/>
      </p:nvGrpSpPr>
      <p:grpSpPr>
        <a:xfrm>
          <a:off x="0" y="0"/>
          <a:ext cx="0" cy="0"/>
          <a:chOff x="0" y="0"/>
          <a:chExt cx="0" cy="0"/>
        </a:xfrm>
      </p:grpSpPr>
      <p:sp>
        <p:nvSpPr>
          <p:cNvPr id="2" name="Shape 0"/>
          <p:cNvSpPr/>
          <p:nvPr/>
        </p:nvSpPr>
        <p:spPr>
          <a:xfrm>
            <a:off x="10698480" y="-914400"/>
            <a:ext cx="2926080" cy="2926080"/>
          </a:xfrm>
          <a:prstGeom prst="ellipse">
            <a:avLst/>
          </a:prstGeom>
          <a:solidFill>
            <a:srgbClr val="1C7293">
              <a:alpha val="22000"/>
            </a:srgbClr>
          </a:solidFill>
          <a:ln/>
        </p:spPr>
      </p:sp>
      <p:sp>
        <p:nvSpPr>
          <p:cNvPr id="3" name="Shape 1"/>
          <p:cNvSpPr/>
          <p:nvPr/>
        </p:nvSpPr>
        <p:spPr>
          <a:xfrm>
            <a:off x="11521440" y="4846320"/>
            <a:ext cx="2377440" cy="2377440"/>
          </a:xfrm>
          <a:prstGeom prst="ellipse">
            <a:avLst/>
          </a:prstGeom>
          <a:solidFill>
            <a:srgbClr val="E9A23B">
              <a:alpha val="18000"/>
            </a:srgbClr>
          </a:solidFill>
          <a:ln/>
        </p:spPr>
      </p:sp>
      <p:sp>
        <p:nvSpPr>
          <p:cNvPr id="4" name="Text 2"/>
          <p:cNvSpPr txBox="1"/>
          <p:nvPr/>
        </p:nvSpPr>
        <p:spPr>
          <a:xfrm>
            <a:off x="548640" y="1920240"/>
            <a:ext cx="7315200" cy="274320"/>
          </a:xfrm>
          <a:prstGeom prst="rect">
            <a:avLst/>
          </a:prstGeom>
          <a:noFill/>
          <a:ln/>
        </p:spPr>
        <p:txBody>
          <a:bodyPr wrap="square" lIns="0" tIns="0" rIns="0" bIns="0" rtlCol="0" anchor="ctr"/>
          <a:lstStyle/>
          <a:p>
            <a:pPr marL="0" indent="0" algn="l">
              <a:buNone/>
            </a:pPr>
            <a:r>
              <a:rPr lang="en-US" sz="1200" b="1" kern="0" spc="300">
                <a:solidFill>
                  <a:srgbClr val="E9A23B"/>
                </a:solidFill>
                <a:latin typeface="Calibri" pitchFamily="34" charset="0"/>
                <a:ea typeface="Calibri" pitchFamily="34" charset="-122"/>
                <a:cs typeface="Calibri" pitchFamily="34" charset="-120"/>
              </a:rPr>
              <a:t>THANK YOU</a:t>
            </a:r>
            <a:endParaRPr lang="en-US" sz="1200"/>
          </a:p>
        </p:txBody>
      </p:sp>
      <p:sp>
        <p:nvSpPr>
          <p:cNvPr id="5" name="Text 3"/>
          <p:cNvSpPr txBox="1"/>
          <p:nvPr/>
        </p:nvSpPr>
        <p:spPr>
          <a:xfrm>
            <a:off x="548640" y="2286000"/>
            <a:ext cx="10058400" cy="1097280"/>
          </a:xfrm>
          <a:prstGeom prst="rect">
            <a:avLst/>
          </a:prstGeom>
          <a:noFill/>
          <a:ln/>
        </p:spPr>
        <p:txBody>
          <a:bodyPr wrap="square" lIns="0" tIns="0" rIns="0" bIns="0" rtlCol="0" anchor="ctr"/>
          <a:lstStyle/>
          <a:p>
            <a:pPr marL="0" indent="0">
              <a:buNone/>
            </a:pPr>
            <a:r>
              <a:rPr lang="en-US" sz="5400" b="1">
                <a:solidFill>
                  <a:srgbClr val="FFFFFF"/>
                </a:solidFill>
                <a:latin typeface="Cambria" pitchFamily="34" charset="0"/>
                <a:ea typeface="Cambria" pitchFamily="34" charset="-122"/>
                <a:cs typeface="Cambria" pitchFamily="34" charset="-120"/>
              </a:rPr>
              <a:t>Questions?</a:t>
            </a:r>
            <a:endParaRPr lang="en-US" sz="5400"/>
          </a:p>
        </p:txBody>
      </p:sp>
      <p:sp>
        <p:nvSpPr>
          <p:cNvPr id="6" name="Text 4"/>
          <p:cNvSpPr txBox="1"/>
          <p:nvPr/>
        </p:nvSpPr>
        <p:spPr>
          <a:xfrm>
            <a:off x="548640" y="3566160"/>
            <a:ext cx="10241280" cy="1188720"/>
          </a:xfrm>
          <a:prstGeom prst="rect">
            <a:avLst/>
          </a:prstGeom>
          <a:noFill/>
          <a:ln/>
        </p:spPr>
        <p:txBody>
          <a:bodyPr wrap="square" lIns="0" tIns="0" rIns="0" bIns="0" rtlCol="0" anchor="ctr">
            <a:normAutofit/>
          </a:bodyPr>
          <a:lstStyle/>
          <a:p>
            <a:pPr marL="0" indent="0">
              <a:lnSpc>
                <a:spcPct val="110000"/>
              </a:lnSpc>
              <a:buNone/>
            </a:pPr>
            <a:r>
              <a:rPr lang="en-US" sz="1500">
                <a:solidFill>
                  <a:srgbClr val="CFE0E6"/>
                </a:solidFill>
                <a:latin typeface="Calibri" pitchFamily="34" charset="0"/>
                <a:ea typeface="Calibri" pitchFamily="34" charset="-122"/>
                <a:cs typeface="Calibri" pitchFamily="34" charset="-120"/>
              </a:rPr>
              <a:t>AdaptED — a Supervisor agent routes each request through a LangGraph pipeline of specialized agents that share a memory and a message bus; RAG grounds content in the uploaded material; and two OBE agents validate and author outcome-based course outlines.</a:t>
            </a:r>
            <a:endParaRPr lang="en-US" sz="1500"/>
          </a:p>
        </p:txBody>
      </p:sp>
      <p:sp>
        <p:nvSpPr>
          <p:cNvPr id="7" name="Text 5"/>
          <p:cNvSpPr txBox="1"/>
          <p:nvPr/>
        </p:nvSpPr>
        <p:spPr>
          <a:xfrm>
            <a:off x="548640" y="5943600"/>
            <a:ext cx="10972800" cy="365760"/>
          </a:xfrm>
          <a:prstGeom prst="rect">
            <a:avLst/>
          </a:prstGeom>
          <a:noFill/>
          <a:ln/>
        </p:spPr>
        <p:txBody>
          <a:bodyPr wrap="square" lIns="0" tIns="0" rIns="0" bIns="0" rtlCol="0" anchor="ctr"/>
          <a:lstStyle/>
          <a:p>
            <a:pPr marL="0" indent="0">
              <a:buNone/>
            </a:pPr>
            <a:r>
              <a:rPr lang="en-US" sz="1200">
                <a:solidFill>
                  <a:srgbClr val="9FB6BE"/>
                </a:solidFill>
                <a:latin typeface="Calibri"/>
                <a:ea typeface="Calibri"/>
                <a:cs typeface="Calibri"/>
              </a:rPr>
              <a:t>Team: </a:t>
            </a:r>
            <a:r>
              <a:rPr lang="en-US" sz="1200" b="1">
                <a:solidFill>
                  <a:srgbClr val="9FB6BE"/>
                </a:solidFill>
                <a:latin typeface="Calibri"/>
                <a:ea typeface="Calibri"/>
                <a:cs typeface="Calibri"/>
              </a:rPr>
              <a:t>13</a:t>
            </a:r>
            <a:r>
              <a:rPr lang="en-US" sz="1200">
                <a:solidFill>
                  <a:srgbClr val="9FB6BE"/>
                </a:solidFill>
                <a:latin typeface="Calibri"/>
                <a:ea typeface="Calibri"/>
                <a:cs typeface="Calibri"/>
              </a:rPr>
              <a:t>·     Repository: github.com/0NJS0/</a:t>
            </a:r>
            <a:r>
              <a:rPr lang="en-US" sz="1200" err="1">
                <a:solidFill>
                  <a:srgbClr val="9FB6BE"/>
                </a:solidFill>
                <a:latin typeface="Calibri"/>
                <a:ea typeface="Calibri"/>
                <a:cs typeface="Calibri"/>
              </a:rPr>
              <a:t>AdaptEd</a:t>
            </a:r>
            <a:endParaRPr lang="en-US" sz="1200" err="1">
              <a:latin typeface="Calibri"/>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20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AdaptED — Multi-Agent Adaptive Education Assistant</dc:title>
  <dc:subject>PptxGenJS Presentation</dc:subject>
  <dc:creator>AdaptED Team</dc:creator>
  <cp:revision>75</cp:revision>
  <dcterms:created xsi:type="dcterms:W3CDTF">2026-08-30T03:55:40Z</dcterms:created>
  <dcterms:modified xsi:type="dcterms:W3CDTF">2026-08-30T18:16:37Z</dcterms:modified>
</cp:coreProperties>
</file>